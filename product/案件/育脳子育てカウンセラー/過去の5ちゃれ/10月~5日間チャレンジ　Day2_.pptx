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y="5143500" cx="9144000"/>
  <p:notesSz cx="6858000" cy="9144000"/>
  <p:embeddedFontLst>
    <p:embeddedFont>
      <p:font typeface="M PLUS Rounded 1c Light"/>
      <p:regular r:id="rId87"/>
      <p:bold r:id="rId88"/>
    </p:embeddedFont>
    <p:embeddedFont>
      <p:font typeface="Kosugi Maru"/>
      <p:regular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90" roundtripDataSignature="AMtx7mjkc3Uwru06qvQh16z7TrO4vaRL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font" Target="fonts/MPLUSRounded1cLight-bold.fntdata"/><Relationship Id="rId43" Type="http://schemas.openxmlformats.org/officeDocument/2006/relationships/slide" Target="slides/slide37.xml"/><Relationship Id="rId87" Type="http://schemas.openxmlformats.org/officeDocument/2006/relationships/font" Target="fonts/MPLUSRounded1cLight-regular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KosugiMaru-regular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0" Type="http://customschemas.google.com/relationships/presentationmetadata" Target="meta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会社員x主婦という普通の家庭でも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子どもがお医者さんになった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”楽育メソッド”を初公開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自宅でできる濃密コミュニケーションで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6歳までに未来を決める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賢い子を楽しく育てる専門家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育脳子育てカウンセラー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５日間チャレンジプログラムにご参加いただきまして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/>
              <a:t>誠にありがとうございます。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このイベントでナビゲーターを務めます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秋山と申します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</a:rPr>
              <a:t>どうぞよろしくお願い致します。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このお仕事は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賢い子を育てるサポートをしつつ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ママの子育てをどんどんラクにすることで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何年経っても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お客様とハッピーな関係を保って感謝され続ける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今注目＆おすすめの働き方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５日間のチャレンジでお伝えしていきますので、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ぜひ最後までご参加くださいね！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こんなふうに感じていただけたら嬉しいです</a:t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/>
              <a:t>ここを明らかにする前に、、、</a:t>
            </a:r>
            <a:endParaRPr sz="1000"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、、、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こんな風に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ちょっと嬉しそうにお話をされていました。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こんな光景をよく目にするようになりました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最終的に・・・お子様は塾に通わなくなり、ちょっぴり怒りっぽい感じに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ママとお子様の関係もなんだか会話が少なくて、ギスギスする感じになっていました。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50">
                <a:solidFill>
                  <a:schemeClr val="dk1"/>
                </a:solidFill>
              </a:rPr>
              <a:t>あなたが育児サービスを提供する、お仕事をしているとして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50">
                <a:solidFill>
                  <a:schemeClr val="dk1"/>
                </a:solidFill>
              </a:rPr>
              <a:t>「こんな風になるリスクありますけど、　お子様の未来のためです、頑張りましょう！」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50">
                <a:solidFill>
                  <a:schemeClr val="dk1"/>
                </a:solidFill>
              </a:rPr>
              <a:t>そんな感じで子育てママに薦められますか？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8" name="Google Shape;258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そんなご家庭を周りで、たくさん見てきたからこそ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何よりも親子のコミュニケーションを大切にしています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	濃密なコミュニケーション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	愛情と信頼でつながる関係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	”育脳するならコミュニケーションを育てる”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そのようにお考えください。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  <p:sp>
        <p:nvSpPr>
          <p:cNvPr id="278" name="Google Shape;278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難しいこともお伝えしますが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本日お伝えしたいことはこの一つです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95" name="Google Shape;295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・なぜ早期教育だとうまくいかないのでしょうか？　　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・なぜ育脳は賢い子が育つのでしょうか？ そもそも”賢い子”って何でしょう？  育脳をするとどうなれるんでしょう？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・何をすると育脳になるんでしょう？　ここを理解するためには、育脳に欠かせない「非認知能力」を知る必要があります。お楽しみに。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・なぜコミュニケーションが育脳の鍵となるのでしょうか？　5,000組をノークレームでサポートできた秘密がここにあるんです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この一連の流れを通して育脳を深く学んで行きましょう！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5" name="Google Shape;305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では、なぜそれが必要なのでしょうか？お子様、ご家庭の状況は様々です。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これが絶対！という決まったやり方はないんです。だから、考え方の根っこを抑えることが大切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優れた料理人ほど基礎がしっかりしていますよね！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	だしの基礎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	捌き方、味付け、取り合わせの基礎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		四季折々の食材や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その時の食材の鮮度に対して、臨機応変に対応できるのは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応用できる根っこ（基礎）があるから、様々なケースにも対応できるんです。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なので、考え方の”根っこ”をしっかりと抑えましょう！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5" name="Google Shape;315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チャレンジのお約束です！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学ぶだけでは人は変わらないんです。アウトプットこそが人を変えていきます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アウトプットすることで自分の考えをまとめる訓練になったり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他の人のアウトプットから学べることも、ありますよね！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今日私が課題１の録画をしたものをオープンチャットに投稿しましたが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他の人の課題提出を見ると、自分の学びや気づきになったりしていますよね？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逆にあなたのアプトプットが他の参加者の学びにもなるんです！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このライブの力、環境の力を最大限に利用しましょう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5" name="Google Shape;325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チャットで番号を送ってください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（少し待つ）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①これはこれで賢い、と言えると思いますが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私が自分の子ども達に願ったのは　②になります。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子供達は同じように育てて、長男が医者になった、と言うのは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たまたま本人がそれになりたくてそうした結果です。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長女、次男もそれぞれになりたい道を見つけて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その道に向けて全力で進んでいます。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社会的なハイステータスが、その子にとっての幸せとは限りません。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自分がより幸せを感じる道を、自分で選び取って邁進する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それが私が考える、”賢い子どものイメージ”です。</a:t>
            </a:r>
            <a:endParaRPr sz="1300"/>
          </a:p>
        </p:txBody>
      </p:sp>
      <p:sp>
        <p:nvSpPr>
          <p:cNvPr id="344" name="Google Shape;344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では、、、　</a:t>
            </a: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早期教育だとなぜうまく行かないのでしょうか？</a:t>
            </a:r>
            <a:endParaRPr sz="100">
              <a:solidFill>
                <a:schemeClr val="dk1"/>
              </a:solidFill>
            </a:endParaRPr>
          </a:p>
        </p:txBody>
      </p:sp>
      <p:sp>
        <p:nvSpPr>
          <p:cNvPr id="359" name="Google Shape;359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、、、と、こんな風にちょっと焦ってしまうママも、たくさんいらっしゃるんですよね。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どんなところに行っているんですか？　と聞くと・・・いわゆる早期教育の塾だったりします。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早期教育に分類されるものとしては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・お受験向け学習塾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・詰め込み式英才教育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などです。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7" name="Google Shape;367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75" name="Google Shape;375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早期教育の塾に通うお子様が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みんな世の中で大活躍するか？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というと・・・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私が知る限りでは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ほとんどが大活躍には繋がらないんですよね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84" name="Google Shape;384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では、早期教育の特徴を見ていきましょう！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試験や年齢以上の難解な問題を解くことに特化している、詰め込み式だったり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特定のウルトラクイズ的な問題が、解けるようになったり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その問題に近い問題が出た場合に、良い点が取れるようになったりします。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92" name="Google Shape;392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早期教育で懸念されることとしては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まだ"心"が幼い乳幼児期の競争環境があります。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塾内で好成績を取った場合、、、</a:t>
            </a:r>
            <a:endParaRPr sz="21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02" name="Google Shape;402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今度は、塾内で残念な成績になった場合、、、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、、、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皆さんが幼稚園や小学生の時、習い事をして成績良くて賢くて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その後フツウになってしまった子とか、周りにいませんでしたか？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20" name="Google Shape;420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でも、社会に出るとこんな能力の方が必要ですよね！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皆さんも大人になって、社会に出て働く前から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”塾で習うことが全てじゃない”　と気づいていますよね？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早期教育ではこれらの能力は育たないんです。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7" name="Google Shape;437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本当にそうでしょうか？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子どもはママが喜ぶことをしようとします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なぜなら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子どもはママが大好きだからです。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7" name="Google Shape;447;p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塾がつまらなくてもママが喜ぶから、楽しそうに通う”フリ”をすることもあるんです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なので、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お子様が本当に望んでそのお教室や塾に通っているのか、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よく考える必要があります。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「なんか分からないけど、ママが通わせたいから行っている」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　というお子様もいらっしゃるようです。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5" name="Google Shape;455;p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そして、</a:t>
            </a: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最終的には・・・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・塾の内容についていけなくてやめたり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・塾の学習レベル、塾の人間関係の枠で収まって、広い環境で通用しなくなったり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・塾や学習がつまらないことをママに、正直に言えなくてふさぎ込んでしまったり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こうなってくると、親子の関係も悪くなり、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「賢い子が育つ環境になっていない」ということになります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4" name="Google Shape;464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Zoomのチャットに回答を送ってくださいね。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複数あっても良いです。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コメントをつけてもOKですよー</a:t>
            </a:r>
            <a:endParaRPr sz="1300"/>
          </a:p>
        </p:txBody>
      </p:sp>
      <p:sp>
        <p:nvSpPr>
          <p:cNvPr id="473" name="Google Shape;473;p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1" name="Google Shape;521;p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脳のシナプス生成は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3歳までに80％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6歳までに90％完成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ここまでが前回のおさらいです。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32" name="Google Shape;532;p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今日はここからになります。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、、、、</a:t>
            </a:r>
            <a:endParaRPr/>
          </a:p>
        </p:txBody>
      </p:sp>
      <p:sp>
        <p:nvSpPr>
          <p:cNvPr id="543" name="Google Shape;543;p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559" name="Google Shape;559;p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Day1でも言葉だけ登場しましたが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非認知能力って何？？と思われている方もいますよね？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何かの超能力？？でしょうか？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＝＝＝＝＝＝＝＝＝＝＝＝＝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では「非認知能力」について、ちょっと皆さんに聞いてみたいと思います。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「知ってる」という方④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「言葉は知ってて中身は知らない」という方⑤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「聞いたこともなかった」という方は⑥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ってチャットに送ってください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  <p:sp>
        <p:nvSpPr>
          <p:cNvPr id="567" name="Google Shape;567;p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非認知能力には、</a:t>
            </a:r>
            <a:r>
              <a:rPr lang="ja" sz="1300">
                <a:solidFill>
                  <a:schemeClr val="dk1"/>
                </a:solidFill>
              </a:rPr>
              <a:t>知的な能力だけでなく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人間としての性格や感情、社会的なスキルなど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学業の成功や生活の適応に影響を与える、さまざまな能力があります。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子どもが学びや生活で、困難な状況に適応する力を育むためには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こちらの非認知能力が重要になってきます。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  <p:sp>
        <p:nvSpPr>
          <p:cNvPr id="576" name="Google Shape;576;p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いくつか口頭でご紹介しますね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挑戦する力：クイズやパズル、工作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共感力：絵本の読み聞かせ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自己肯定感UP：料理やお菓子作りを一緒にやる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　美味しくできたら「自分すごい！」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　失敗しても「変な味〜、面白い味〜」で楽しめばOK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安心感・信頼関係の構築：スキンシップやマッサージ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責任・決断力：お手伝いの役目を作る、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服、おもちゃは自分で選ばせる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家庭内の簡単なルールを設定などがあります。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まだまだありますが、本日は時間の関係でここまでとなりますが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講座では全部お伝えして行きます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</p:txBody>
      </p:sp>
      <p:sp>
        <p:nvSpPr>
          <p:cNvPr id="587" name="Google Shape;587;p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きっとそう思われましたよね。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でも、冷静に考えると、普段の生活で出来る内容だと安心しませんか？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やる内容そのものは簡単なんです。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96" name="Google Shape;596;p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絵本を読むとどんな能力が向上するか、パズルをやると何が良くなるのか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これを理解することが大切です。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例えばですがお料理していて、「何か味が足りないなー」、と感じたら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塩を足したり、白だしを足したりしますよね？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これって足りないものがイメージできて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何をやればそれを補えるか知っているからできることですよね？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05" name="Google Shape;605;p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足りないものが想像できて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補う方法がわかれば行動しやすいですよね！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この絵のように、好奇心と挑戦心はすごいんだけど、好き勝手になりすぎる・・・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だったら自制心を伸ばすことを意識しようかな、といった感じですね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13" name="Google Shape;613;p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子どもの困った行動なんて、無限に出てきます。本当にエンドレスです！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その一つ一つの表面上の出来事に、注目して対処していると、対処方法も無限に必要です。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そうではなくて、この能力が伸びれば、バランスが取れるかな、と言う考え方が大切ですね！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広がった葉っぱの一つ一つではなく、その大元にある、”根っこ”を意識しましょう！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0" name="Google Shape;630;p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　きっとそんな声もありますよね。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毎日毎日絵本とか、パズル毎日付き合うとか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なかなかに根気が必要ですし、そんな時間もない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と言うことで、</a:t>
            </a:r>
            <a:r>
              <a:rPr lang="ja" sz="1300">
                <a:solidFill>
                  <a:schemeClr val="dk1"/>
                </a:solidFill>
              </a:rPr>
              <a:t>ご安心ください。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次のDay3でそれらを解消する　”楽育”のメソッドをお伝えしていきます。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  <p:sp>
        <p:nvSpPr>
          <p:cNvPr id="639" name="Google Shape;639;p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7" name="Google Shape;647;p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①については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非認知能力、だけでなくてもいいですよ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ゴムを引っ張って、手を離すと戻る、と言う現象を学んでいる、とかそんな言い方でも大丈夫です。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②の声かけは、セリフでもいいですし、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一緒に何か遊ぶような行動でもOKです。</a:t>
            </a:r>
            <a:endParaRPr sz="1300"/>
          </a:p>
        </p:txBody>
      </p:sp>
      <p:sp>
        <p:nvSpPr>
          <p:cNvPr id="658" name="Google Shape;658;p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0" name="Google Shape;670;p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もし、これって非認知能力のこれをやってたのかな、とか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子どもが能力を鍛えていると思うと、声かけや行動がいつもとちょっと変わるな、なんて思っていたら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”育脳”の目で子どもやその成長を、考えている証拠です！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もしそうなっていたら、本日の学びがちゃんと身についているということです。素晴らしい〜👏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82" name="Google Shape;682;p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90" name="Google Shape;690;p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ようやく出てきましたね。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私が5,000組をノークレームで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サポートできたのはこの部分が大きいので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特に注意して聞いてくださいね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99" name="Google Shape;699;p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7" name="Google Shape;707;p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15" name="Google Shape;715;p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　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安心環境があるから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存分に挑戦出来たり、興味を追求する気持ちが生まれたり、集中して取り組める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となるわけです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5" name="Google Shape;725;p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子どもはみていないようで、実は親のことをとてもよくみています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だってママが大好きですから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で、ママがイライラしていると　「本当はこれをやりたいけど、やめておこう」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こんな気持ちで抑えている時があるんですよね。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お子様が顔色を伺っている瞬間、ありませんか？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5" name="Google Shape;735;p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ママだって人間です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でもそれを軽減させたり、ニコニコ時間を増やすことはできるので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なるべくその時間を増やしていきましょう！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46" name="Google Shape;746;p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54" name="Google Shape;754;p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（サイクルの説明）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このループを回すことで、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・子どもの能力が高まります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・手がかからなくなって、ママが楽に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・親子のコミュニケーションも良くなります。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</p:txBody>
      </p:sp>
      <p:sp>
        <p:nvSpPr>
          <p:cNvPr id="763" name="Google Shape;763;p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Day1でお伝えした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私の想いにも繋がる部分ですね^^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  <p:sp>
        <p:nvSpPr>
          <p:cNvPr id="772" name="Google Shape;772;p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では、、、、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と言うことで、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>
                <a:solidFill>
                  <a:schemeClr val="dk1"/>
                </a:solidFill>
              </a:rPr>
              <a:t>すでにいくつか話している内容をまとめると・・・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82" name="Google Shape;782;p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p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逆にイライラしちゃうと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こんな感じになりやすいです。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（サイクルの説明）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790" name="Google Shape;790;p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では、皆さんはどちらを希望しますか？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ハッピーサイクルという方は①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イライラサイクルがいいという方は②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を、チャットでお答えください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（回答のあと）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はい、ありがとうございます。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</p:txBody>
      </p:sp>
      <p:sp>
        <p:nvSpPr>
          <p:cNvPr id="799" name="Google Shape;799;p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、、、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「親子のコミュニケーションなんて簡単じゃん」　そう思われるかもしれませんね。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確かに簡単に高めることはできます。　でも簡単に損なわれることもあります。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しかも多くの場合、その”損なわれること”について、無自覚だったり、認識できなかったりするので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講座では、その部分に特に注意してお伝えしています。</a:t>
            </a:r>
            <a:endParaRPr sz="130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8" name="Google Shape;818;p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皆さんで一緒に、ハッピーサイクルを目指していきたいですね！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300"/>
              <a:t>(私の方は以上になります。)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8" name="Google Shape;828;p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7" name="Google Shape;837;p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p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5" name="Google Shape;845;p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6" name="Google Shape;856;p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6" name="Google Shape;866;p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8" name="Google Shape;878;p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【Day2リアルタイム参加特典】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育脳に役立つ-子どもが喜ぶお勧め絵本１０選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000">
                <a:solidFill>
                  <a:schemeClr val="dk1"/>
                </a:solidFill>
              </a:rPr>
              <a:t>https://academy1.jp/l/u/iqn_tk2_e10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86" name="Google Shape;886;p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6" name="Google Shape;896;p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j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2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" name="Google Shape;13;p82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" name="Google Shape;14;p8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/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" name="Google Shape;17;p83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p83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" name="Google Shape;19;p83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" name="Google Shape;20;p8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4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8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4" name="Google Shape;24;p84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84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8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5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85"/>
          <p:cNvSpPr txBox="1"/>
          <p:nvPr>
            <p:ph idx="1" type="body"/>
          </p:nvPr>
        </p:nvSpPr>
        <p:spPr>
          <a:xfrm>
            <a:off x="623888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5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85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p8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6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8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" name="Google Shape;36;p8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7" name="Google Shape;37;p86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p86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" name="Google Shape;39;p8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7"/>
          <p:cNvSpPr txBox="1"/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87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43" name="Google Shape;43;p87"/>
          <p:cNvSpPr txBox="1"/>
          <p:nvPr>
            <p:ph idx="2" type="body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" name="Google Shape;44;p8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45" name="Google Shape;45;p87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6" name="Google Shape;46;p87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p87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" name="Google Shape;48;p8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8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p88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" name="Google Shape;52;p88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8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89"/>
          <p:cNvSpPr txBox="1"/>
          <p:nvPr>
            <p:ph idx="1" type="body"/>
          </p:nvPr>
        </p:nvSpPr>
        <p:spPr>
          <a:xfrm>
            <a:off x="3887391" y="740570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indent="-3365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indent="-3365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/>
        </p:txBody>
      </p:sp>
      <p:sp>
        <p:nvSpPr>
          <p:cNvPr id="57" name="Google Shape;57;p8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89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89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8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90"/>
          <p:cNvSpPr/>
          <p:nvPr>
            <p:ph idx="2" type="pic"/>
          </p:nvPr>
        </p:nvSpPr>
        <p:spPr>
          <a:xfrm>
            <a:off x="3887391" y="740570"/>
            <a:ext cx="46290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9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0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90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9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1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91"/>
          <p:cNvSpPr txBox="1"/>
          <p:nvPr>
            <p:ph idx="1" type="body"/>
          </p:nvPr>
        </p:nvSpPr>
        <p:spPr>
          <a:xfrm rot="5400000">
            <a:off x="2940301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1" name="Google Shape;71;p91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91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9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2"/>
          <p:cNvSpPr txBox="1"/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92"/>
          <p:cNvSpPr txBox="1"/>
          <p:nvPr>
            <p:ph idx="1" type="body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7" name="Google Shape;77;p92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92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9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365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83" name="Google Shape;83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p9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9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9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p10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3" name="Google Shape;113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7" name="Google Shape;117;p10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" name="Google Shape;118;p10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2" name="Google Shape;122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5" name="Google Shape;125;p10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1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1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1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2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Relationship Id="rId4" Type="http://schemas.openxmlformats.org/officeDocument/2006/relationships/image" Target="../media/image17.jpg"/><Relationship Id="rId5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5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9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8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2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2.jpg"/><Relationship Id="rId4" Type="http://schemas.openxmlformats.org/officeDocument/2006/relationships/image" Target="../media/image24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4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5" name="Google Shape;135;p1"/>
          <p:cNvSpPr txBox="1"/>
          <p:nvPr/>
        </p:nvSpPr>
        <p:spPr>
          <a:xfrm>
            <a:off x="215425" y="3896950"/>
            <a:ext cx="5298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５日間チャレンジ</a:t>
            </a:r>
            <a:endParaRPr b="1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36" name="Google Shape;136;p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5236800" y="3670900"/>
            <a:ext cx="3086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i="0" lang="ja" sz="5500" u="sng" cap="none" strike="noStrike">
                <a:solidFill>
                  <a:srgbClr val="EF84C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ＤＡＹ２</a:t>
            </a:r>
            <a:endParaRPr b="1" i="0" sz="5500" u="sng" cap="none" strike="noStrike">
              <a:solidFill>
                <a:srgbClr val="EF84C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75" y="713675"/>
            <a:ext cx="4484925" cy="24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2800" y="713675"/>
            <a:ext cx="4382500" cy="23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6" name="Google Shape;146;p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0" y="61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チャレンジ中のお約束</a:t>
            </a:r>
            <a:endParaRPr b="0" i="0" sz="32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695800" y="898650"/>
            <a:ext cx="7974300" cy="4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１）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画面オンは無理のない範囲でご参加ください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２）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チャット欄、リアクションボタンを使ってアウトプットすると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学びがより深まります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4546A"/>
                </a:solidFill>
                <a:latin typeface="Kosugi Maru"/>
                <a:ea typeface="Kosugi Maru"/>
                <a:cs typeface="Kosugi Maru"/>
                <a:sym typeface="Kosugi Maru"/>
              </a:rPr>
              <a:t>３）</a:t>
            </a:r>
            <a:endParaRPr b="0" i="0" sz="2000" u="none" cap="none" strike="noStrike">
              <a:solidFill>
                <a:srgbClr val="44546A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セミナー中の録音、録画、スクリーンショットの撮影は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ご遠慮ください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5" name="Google Shape;155;p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0" y="61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⭐お知らせ⭐</a:t>
            </a:r>
            <a:endParaRPr b="0" i="0" sz="32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695800" y="898650"/>
            <a:ext cx="79743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リアルタイム参加特典について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・本日のチャレンジの中でリアルタイム参加特典あります。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・途中退出された方、リアルタイム参加特典時にいらっしゃらな　　い方は、申し訳ありませんがお渡しすることができません。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・お渡し時に「受け取れません」とチャットでお知らせいただい　　た方のみ、後ほど事務局で対応させていただきます。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64" name="Google Shape;164;p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0" y="61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このチャレンジの目的</a:t>
            </a:r>
            <a:endParaRPr b="0" i="0" sz="320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695800" y="898650"/>
            <a:ext cx="7974300" cy="4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目的１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育脳について正しい知識を身につける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目的２</a:t>
            </a:r>
            <a:endParaRPr b="0" i="0" sz="2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世の中のママ達をサポートすることで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成り立つカウンセラーのお仕事の可能性を学ぶ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rgbClr val="44546A"/>
                </a:solidFill>
                <a:latin typeface="Kosugi Maru"/>
                <a:ea typeface="Kosugi Maru"/>
                <a:cs typeface="Kosugi Maru"/>
                <a:sym typeface="Kosugi Maru"/>
              </a:rPr>
              <a:t>目的３</a:t>
            </a:r>
            <a:endParaRPr b="0" i="0" sz="2000" u="none" cap="none" strike="noStrike">
              <a:solidFill>
                <a:srgbClr val="44546A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子育てママやお教室のお仕事からどのようにステップを進めたら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”育脳子育てカウンセラー”になれるかを学ぶ</a:t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3" name="Google Shape;173;p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0" y="442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さらに・・・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195100" y="1148588"/>
            <a:ext cx="83373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・「確かにそういうサポートは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世の中に必要だよね」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・「育脳ってお子様だけでなく、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ママにとっても大事なのね」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・「これならお仕事として成立するよね」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・「自分にもできるかも！」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・「やってみたい」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176" name="Google Shape;1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690546" y="96800"/>
            <a:ext cx="2158400" cy="26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５日間の全体像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83" name="Google Shape;183;p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6"/>
          <p:cNvSpPr txBox="1"/>
          <p:nvPr/>
        </p:nvSpPr>
        <p:spPr>
          <a:xfrm>
            <a:off x="1056825" y="1333925"/>
            <a:ext cx="7667100" cy="3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Day１　全体概要</a:t>
            </a:r>
            <a:endParaRPr b="0" i="0" sz="26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Day２　"育脳"と早期教育の違い</a:t>
            </a:r>
            <a:endParaRPr b="0" i="0" sz="26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Day３　育脳に大切な３つの取り組み</a:t>
            </a:r>
            <a:endParaRPr b="0" i="0" sz="26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Day４　育脳サービスをお仕事にする、とは？</a:t>
            </a:r>
            <a:endParaRPr b="0" i="0" sz="26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0" i="0" lang="ja" sz="26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Day５　"育脳子育てカウンセラー"になるための</a:t>
            </a:r>
            <a:endParaRPr b="0" i="0" sz="26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        ステップ&amp;５日間のまとめ</a:t>
            </a:r>
            <a:endParaRPr b="0" i="0" sz="26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t/>
            </a:r>
            <a:endParaRPr b="0" i="0" sz="26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1" name="Google Shape;191;p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706875" y="1962200"/>
            <a:ext cx="79743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Ｄａｙ１の振り返り</a:t>
            </a:r>
            <a:endParaRPr b="0" i="0" sz="4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今日のまとめ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99" name="Google Shape;199;p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8"/>
          <p:cNvSpPr txBox="1"/>
          <p:nvPr/>
        </p:nvSpPr>
        <p:spPr>
          <a:xfrm>
            <a:off x="1014050" y="1092025"/>
            <a:ext cx="7667100" cy="3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育脳子育てカウンセラーというお仕事</a:t>
            </a:r>
            <a:endParaRPr b="0" i="0" sz="265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・"育脳"とは6歳までの幼少期に適切な刺激を与えて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脳の発達を促す子育て方法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・育脳子育てカウンセラーは育脳を軸にして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子育てサポートをするカウンセラーのお仕事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0" i="0" lang="ja" sz="215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賢いお子様を育てる＆ママの子育てをラクにする</a:t>
            </a:r>
            <a:endParaRPr b="0" i="0" sz="21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→サービス継続多数＆口コミでお客様が広がりやすい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t/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そんなハッピー関係で支えられるお仕事です。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01" name="Google Shape;201;p8"/>
          <p:cNvSpPr txBox="1"/>
          <p:nvPr/>
        </p:nvSpPr>
        <p:spPr>
          <a:xfrm rot="-711717">
            <a:off x="-242771" y="184411"/>
            <a:ext cx="1856443" cy="6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おさらい</a:t>
            </a:r>
            <a:endParaRPr b="0" i="0" sz="2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今日のまとめ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08" name="Google Shape;208;p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9"/>
          <p:cNvSpPr txBox="1"/>
          <p:nvPr/>
        </p:nvSpPr>
        <p:spPr>
          <a:xfrm>
            <a:off x="1014050" y="1092025"/>
            <a:ext cx="7667100" cy="4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50" u="sng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b="0" i="0" sz="2650" u="sng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t/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魅力１　今、注目の”育脳”をお仕事にできる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魅力２　子育て経験が武器になる ⭐⭐⭐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魅力３　女性として喜びにも近い”やりがい”を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とても強く感じられる⭐⭐⭐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魅力４　</a:t>
            </a: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サービスを継続するお客様や新規のお客様の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口コミ紹介が多い</a:t>
            </a:r>
            <a:endParaRPr b="0" i="0" sz="2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ja" sz="21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魅力５　オンラインで自由な働き方もできる　⭐⭐⭐</a:t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t/>
            </a:r>
            <a:endParaRPr b="0" i="0" sz="215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10" name="Google Shape;210;p9"/>
          <p:cNvSpPr txBox="1"/>
          <p:nvPr/>
        </p:nvSpPr>
        <p:spPr>
          <a:xfrm rot="-711717">
            <a:off x="-242771" y="184411"/>
            <a:ext cx="1856443" cy="6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おさらい</a:t>
            </a:r>
            <a:endParaRPr b="0" i="0" sz="2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17" name="Google Shape;217;p1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88750" y="1495050"/>
            <a:ext cx="8208600" cy="2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ja" sz="4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結局</a:t>
            </a:r>
            <a:endParaRPr b="0" i="0" sz="4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"育脳って何するの"</a:t>
            </a:r>
            <a:endParaRPr b="0" i="0" sz="4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と思われていませんか？</a:t>
            </a:r>
            <a:endParaRPr b="0" i="0" sz="2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291650" y="2201300"/>
            <a:ext cx="1573475" cy="25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26" name="Google Shape;226;p1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1387650" y="1439150"/>
            <a:ext cx="63687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それでは</a:t>
            </a:r>
            <a:endParaRPr b="0" i="0" sz="4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まみ先生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よろしくお願い致します</a:t>
            </a:r>
            <a:endParaRPr b="0" i="0" sz="4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34" name="Google Shape;234;p1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1095950" y="1453950"/>
            <a:ext cx="7137000" cy="22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本題に入る前に・・・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私のご近所であった話です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42" name="Google Shape;242;p1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315775" y="792225"/>
            <a:ext cx="636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小さい子をお育てのママが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44" name="Google Shape;2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175" y="2153875"/>
            <a:ext cx="2157675" cy="19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3"/>
          <p:cNvSpPr/>
          <p:nvPr/>
        </p:nvSpPr>
        <p:spPr>
          <a:xfrm>
            <a:off x="3222150" y="1843839"/>
            <a:ext cx="4178400" cy="1183500"/>
          </a:xfrm>
          <a:prstGeom prst="wedgeRoundRectCallout">
            <a:avLst>
              <a:gd fmla="val -60553" name="adj1"/>
              <a:gd fmla="val -285" name="adj2"/>
              <a:gd fmla="val 0" name="adj3"/>
            </a:avLst>
          </a:prstGeom>
          <a:solidFill>
            <a:srgbClr val="FFE5F6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9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「小学校のお受験があるので</a:t>
            </a:r>
            <a:endParaRPr b="0" i="0" sz="19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塾に通わせているんですよ！」</a:t>
            </a:r>
            <a:endParaRPr b="0" i="0" sz="1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3222150" y="3408250"/>
            <a:ext cx="4178400" cy="1054200"/>
          </a:xfrm>
          <a:prstGeom prst="wedgeRoundRectCallout">
            <a:avLst>
              <a:gd fmla="val -61491" name="adj1"/>
              <a:gd fmla="val -36272" name="adj2"/>
              <a:gd fmla="val 0" name="adj3"/>
            </a:avLst>
          </a:prstGeom>
          <a:solidFill>
            <a:srgbClr val="FFE5F6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「子どもがひらがなを書けるように</a:t>
            </a:r>
            <a:endParaRPr b="0" i="0" sz="19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なってきたんです」</a:t>
            </a:r>
            <a:endParaRPr b="0" i="0" sz="23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53" name="Google Shape;253;p1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818550" y="2130725"/>
            <a:ext cx="75069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ですが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２ヶ月も経たないうちに・・・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8624" y="2482450"/>
            <a:ext cx="2367125" cy="218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62" name="Google Shape;262;p1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1315775" y="792225"/>
            <a:ext cx="63687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なんだかお子様がつまらなそう</a:t>
            </a:r>
            <a:endParaRPr b="0" i="0" sz="3900" u="none" cap="none" strike="noStrike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3111400" y="1876388"/>
            <a:ext cx="2559300" cy="798600"/>
          </a:xfrm>
          <a:prstGeom prst="wedgeRoundRectCallout">
            <a:avLst>
              <a:gd fmla="val -60553" name="adj1"/>
              <a:gd fmla="val -285" name="adj2"/>
              <a:gd fmla="val 0" name="adj3"/>
            </a:avLst>
          </a:prstGeom>
          <a:solidFill>
            <a:srgbClr val="C9DAF8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僕、行きたくない</a:t>
            </a:r>
            <a:endParaRPr b="0" i="0" sz="1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2788800" y="3137550"/>
            <a:ext cx="3507000" cy="1054200"/>
          </a:xfrm>
          <a:prstGeom prst="wedgeRoundRectCallout">
            <a:avLst>
              <a:gd fmla="val 56384" name="adj1"/>
              <a:gd fmla="val -35105" name="adj2"/>
              <a:gd fmla="val 0" name="adj3"/>
            </a:avLst>
          </a:prstGeom>
          <a:solidFill>
            <a:srgbClr val="C9DAF8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「大事なことなんだから</a:t>
            </a:r>
            <a:endParaRPr b="0" i="0" sz="19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ママのいうことを聞いて！」</a:t>
            </a:r>
            <a:endParaRPr b="0" i="0" sz="23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66" name="Google Shape;2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94" y="1843850"/>
            <a:ext cx="1442979" cy="19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73" name="Google Shape;273;p1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818550" y="1912650"/>
            <a:ext cx="75069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子どもの未来を育てる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というのはそういうことではない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81" name="Google Shape;281;p1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818550" y="673650"/>
            <a:ext cx="7506900" cy="3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ja" sz="3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そんなご家庭を周りで</a:t>
            </a:r>
            <a:endParaRPr b="0" i="0" sz="3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ja" sz="3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たくさん見てきたからこそ</a:t>
            </a:r>
            <a:endParaRPr b="0" i="0" sz="3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まみ式"育脳"は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ja" sz="43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	親子のコミュニケーション</a:t>
            </a:r>
            <a:endParaRPr b="1" i="0" sz="43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を大切にしています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3950" y="2859800"/>
            <a:ext cx="1658200" cy="14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90" name="Google Shape;290;p1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789750" y="1682300"/>
            <a:ext cx="75645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育脳の鍵は</a:t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ja" sz="41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親子のコミュニケーション</a:t>
            </a:r>
            <a:endParaRPr b="1" i="0" sz="41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98" name="Google Shape;298;p1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本日のテーマ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00" name="Google Shape;300;p1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9"/>
          <p:cNvSpPr txBox="1"/>
          <p:nvPr/>
        </p:nvSpPr>
        <p:spPr>
          <a:xfrm>
            <a:off x="672825" y="2332650"/>
            <a:ext cx="77583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5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育脳と早期教育の違い</a:t>
            </a:r>
            <a:endParaRPr b="0" i="0" sz="8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08" name="Google Shape;308;p2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本日のテーマ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10" name="Google Shape;310;p2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20"/>
          <p:cNvSpPr txBox="1"/>
          <p:nvPr/>
        </p:nvSpPr>
        <p:spPr>
          <a:xfrm>
            <a:off x="692850" y="1341300"/>
            <a:ext cx="8052300" cy="3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・なぜ早期教育だとうまくいかないのか？</a:t>
            </a:r>
            <a:endParaRPr b="0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・なぜ育脳は賢い子が育つのか？</a:t>
            </a:r>
            <a:endParaRPr b="0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・何をすると育脳になるのか？</a:t>
            </a:r>
            <a:endParaRPr b="0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・なぜコミュニケーションが育脳の鍵となるのか？</a:t>
            </a:r>
            <a:endParaRPr b="0" i="0" sz="2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	</a:t>
            </a:r>
            <a:endParaRPr b="0" i="0" sz="6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18" name="Google Shape;318;p2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本日のテーマを学ぶと・・・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20" name="Google Shape;320;p2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1"/>
          <p:cNvSpPr txBox="1"/>
          <p:nvPr/>
        </p:nvSpPr>
        <p:spPr>
          <a:xfrm>
            <a:off x="692875" y="2122200"/>
            <a:ext cx="7758300" cy="1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ja" sz="3900" u="none" cap="none" strike="noStrike">
                <a:solidFill>
                  <a:srgbClr val="E06666"/>
                </a:solidFill>
                <a:latin typeface="Kosugi Maru"/>
                <a:ea typeface="Kosugi Maru"/>
                <a:cs typeface="Kosugi Maru"/>
                <a:sym typeface="Kosugi Maru"/>
              </a:rPr>
              <a:t>育脳の本質を</a:t>
            </a:r>
            <a:endParaRPr b="1" i="0" sz="3900" u="none" cap="none" strike="noStrike">
              <a:solidFill>
                <a:srgbClr val="E0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ja" sz="3900" u="none" cap="none" strike="noStrike">
                <a:solidFill>
                  <a:srgbClr val="E06666"/>
                </a:solidFill>
                <a:latin typeface="Kosugi Maru"/>
                <a:ea typeface="Kosugi Maru"/>
                <a:cs typeface="Kosugi Maru"/>
                <a:sym typeface="Kosugi Maru"/>
              </a:rPr>
              <a:t>考えることができる</a:t>
            </a:r>
            <a:endParaRPr b="1" i="0" sz="3900" u="none" cap="none" strike="noStrike">
              <a:solidFill>
                <a:srgbClr val="E0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28" name="Google Shape;328;p2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チャレンジのお約束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30" name="Google Shape;330;p2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22"/>
          <p:cNvSpPr txBox="1"/>
          <p:nvPr/>
        </p:nvSpPr>
        <p:spPr>
          <a:xfrm>
            <a:off x="2167050" y="2146650"/>
            <a:ext cx="6269700" cy="1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ja" sz="3900" u="none" cap="none" strike="noStrike">
                <a:solidFill>
                  <a:srgbClr val="E06666"/>
                </a:solidFill>
                <a:latin typeface="Kosugi Maru"/>
                <a:ea typeface="Kosugi Maru"/>
                <a:cs typeface="Kosugi Maru"/>
                <a:sym typeface="Kosugi Maru"/>
              </a:rPr>
              <a:t>❌　学ぶだけ</a:t>
            </a:r>
            <a:endParaRPr b="1" i="0" sz="3900" u="none" cap="none" strike="noStrike">
              <a:solidFill>
                <a:srgbClr val="E0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ja" sz="3900" u="none" cap="none" strike="noStrike">
                <a:solidFill>
                  <a:srgbClr val="E06666"/>
                </a:solidFill>
                <a:latin typeface="Kosugi Maru"/>
                <a:ea typeface="Kosugi Maru"/>
                <a:cs typeface="Kosugi Maru"/>
                <a:sym typeface="Kosugi Maru"/>
              </a:rPr>
              <a:t>⭕️　アウトプット</a:t>
            </a:r>
            <a:endParaRPr b="1" i="0" sz="3900" u="none" cap="none" strike="noStrike">
              <a:solidFill>
                <a:srgbClr val="E0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38" name="Google Shape;338;p2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1387675" y="922350"/>
            <a:ext cx="63687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さて、ここで質問です</a:t>
            </a:r>
            <a:endParaRPr b="0" i="0" sz="44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1302000" y="2168163"/>
            <a:ext cx="6540000" cy="21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あなたが考える</a:t>
            </a:r>
            <a:endParaRPr b="0" i="0" sz="36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ja" sz="4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”賢い子ども”</a:t>
            </a:r>
            <a:r>
              <a:rPr b="0" i="0" lang="ja" sz="36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って、</a:t>
            </a:r>
            <a:endParaRPr b="0" i="0" sz="36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どちらのイメージ？</a:t>
            </a:r>
            <a:endParaRPr b="0" i="0" sz="36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47" name="Google Shape;347;p2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348" name="Google Shape;3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550" y="1830275"/>
            <a:ext cx="1896925" cy="27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4"/>
          <p:cNvSpPr txBox="1"/>
          <p:nvPr/>
        </p:nvSpPr>
        <p:spPr>
          <a:xfrm>
            <a:off x="219150" y="1214650"/>
            <a:ext cx="40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①テストで良い点をとる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4981200" y="857800"/>
            <a:ext cx="40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2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物事の分別がつく</a:t>
            </a:r>
            <a:endParaRPr b="0" i="0" sz="2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5285100" y="1411900"/>
            <a:ext cx="3605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社会の中でバランスよく</a:t>
            </a:r>
            <a:endParaRPr b="0" i="0" sz="2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生きていける</a:t>
            </a:r>
            <a:endParaRPr b="0" i="0" sz="2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52" name="Google Shape;3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2129" y="3290713"/>
            <a:ext cx="3465470" cy="139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4767" y="1880925"/>
            <a:ext cx="1336759" cy="13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4"/>
          <p:cNvSpPr txBox="1"/>
          <p:nvPr/>
        </p:nvSpPr>
        <p:spPr>
          <a:xfrm>
            <a:off x="1302025" y="-12"/>
            <a:ext cx="654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賢い子どものイメージは？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55" name="Google Shape;355;p24"/>
          <p:cNvCxnSpPr/>
          <p:nvPr/>
        </p:nvCxnSpPr>
        <p:spPr>
          <a:xfrm>
            <a:off x="828475" y="60665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62" name="Google Shape;362;p2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63" name="Google Shape;363;p25"/>
          <p:cNvSpPr txBox="1"/>
          <p:nvPr/>
        </p:nvSpPr>
        <p:spPr>
          <a:xfrm>
            <a:off x="572575" y="1801050"/>
            <a:ext cx="8208600" cy="15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ja" sz="4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早期教育だと</a:t>
            </a:r>
            <a:endParaRPr b="0" i="0" sz="4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ja" sz="4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なぜうまく行かないのか？</a:t>
            </a:r>
            <a:endParaRPr b="0" i="0" sz="4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70" name="Google Shape;370;p2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71" name="Google Shape;371;p26"/>
          <p:cNvSpPr txBox="1"/>
          <p:nvPr/>
        </p:nvSpPr>
        <p:spPr>
          <a:xfrm>
            <a:off x="560275" y="894975"/>
            <a:ext cx="8208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「うちの子、◯◯塾に通わせ始めたの」</a:t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など、お友達のママの話を聞くと</a:t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「ウチは大丈夫かしら？遅れないかしら💦」</a:t>
            </a:r>
            <a:endParaRPr b="0" i="0" sz="30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78" name="Google Shape;378;p2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572575" y="1801050"/>
            <a:ext cx="8208600" cy="15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ja" sz="41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でも</a:t>
            </a:r>
            <a:endParaRPr b="0" i="0" sz="41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ja" sz="41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よく考えてみてください</a:t>
            </a:r>
            <a:endParaRPr b="0" i="0" sz="41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80" name="Google Shape;3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565600" y="2648050"/>
            <a:ext cx="1299525" cy="21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87" name="Google Shape;387;p2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88" name="Google Shape;388;p28"/>
          <p:cNvSpPr txBox="1"/>
          <p:nvPr/>
        </p:nvSpPr>
        <p:spPr>
          <a:xfrm>
            <a:off x="572575" y="1801050"/>
            <a:ext cx="8208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400" u="none" cap="none" strike="noStrike">
                <a:solidFill>
                  <a:schemeClr val="accent5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早期教育の塾に通うお子様が</a:t>
            </a:r>
            <a:endParaRPr b="0" i="0" sz="3400" u="none" cap="none" strike="noStrike">
              <a:solidFill>
                <a:schemeClr val="accent5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ja" sz="3400" u="none" cap="none" strike="noStrike">
                <a:solidFill>
                  <a:schemeClr val="accent5"/>
                </a:solidFill>
                <a:latin typeface="Kosugi Maru"/>
                <a:ea typeface="Kosugi Maru"/>
                <a:cs typeface="Kosugi Maru"/>
                <a:sym typeface="Kosugi Maru"/>
              </a:rPr>
              <a:t>みんな社会に出てから</a:t>
            </a:r>
            <a:endParaRPr b="0" i="0" sz="3400" u="none" cap="none" strike="noStrike">
              <a:solidFill>
                <a:schemeClr val="accent5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400" u="none" cap="none" strike="noStrike">
                <a:solidFill>
                  <a:schemeClr val="accent5"/>
                </a:solidFill>
                <a:latin typeface="Kosugi Maru"/>
                <a:ea typeface="Kosugi Maru"/>
                <a:cs typeface="Kosugi Maru"/>
                <a:sym typeface="Kosugi Maru"/>
              </a:rPr>
              <a:t>大活躍しているでしょうか？</a:t>
            </a:r>
            <a:endParaRPr b="0" i="0" sz="3400" u="none" cap="none" strike="noStrike">
              <a:solidFill>
                <a:schemeClr val="accent5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95" name="Google Shape;395;p2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1993425" y="1348763"/>
            <a:ext cx="6076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試験や年齢以上の難解な問題を</a:t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解くことに特化している詰め込み式</a:t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</a:br>
            <a: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特定のウルトラクイズ的な問題が</a:t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解けるようになる</a:t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その問題に近い問題が出た場合に</a:t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良い点が取れる</a:t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早期教育の特徴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98" name="Google Shape;398;p2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05" name="Google Shape;405;p3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1993425" y="1250313"/>
            <a:ext cx="607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まだ"心"が幼い乳幼児期の競争環境</a:t>
            </a:r>
            <a:endParaRPr b="0" i="0" sz="2400" u="none" cap="none" strike="noStrike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07" name="Google Shape;407;p3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早期教育で懸念されること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08" name="Google Shape;408;p3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30"/>
          <p:cNvSpPr txBox="1"/>
          <p:nvPr/>
        </p:nvSpPr>
        <p:spPr>
          <a:xfrm>
            <a:off x="828450" y="1939388"/>
            <a:ext cx="607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塾内で好成績</a:t>
            </a:r>
            <a:endParaRPr b="0" i="0" sz="24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1007025" y="2493500"/>
            <a:ext cx="2904000" cy="10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心が整っていない中で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優越感、見下し感が増長</a:t>
            </a:r>
            <a:endParaRPr b="0" i="0" sz="18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4673900" y="2493500"/>
            <a:ext cx="2904000" cy="10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小さい環境での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TOPで満足する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4046350" y="2837900"/>
            <a:ext cx="492300" cy="38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1007025" y="3747500"/>
            <a:ext cx="2904000" cy="10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塾内環境のレベルで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満足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4673900" y="3747500"/>
            <a:ext cx="2904000" cy="10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向上心が育たない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4046350" y="4091900"/>
            <a:ext cx="492300" cy="38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50" y="2837892"/>
            <a:ext cx="1384000" cy="1916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23" name="Google Shape;423;p3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24" name="Google Shape;424;p31"/>
          <p:cNvSpPr txBox="1"/>
          <p:nvPr/>
        </p:nvSpPr>
        <p:spPr>
          <a:xfrm>
            <a:off x="1993425" y="1250313"/>
            <a:ext cx="607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まだ"心"が幼い乳幼児期の競争環境</a:t>
            </a:r>
            <a:endParaRPr b="0" i="0" sz="2400" u="none" cap="none" strike="noStrike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25" name="Google Shape;425;p3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早期教育で懸念されること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26" name="Google Shape;426;p3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31"/>
          <p:cNvSpPr txBox="1"/>
          <p:nvPr/>
        </p:nvSpPr>
        <p:spPr>
          <a:xfrm>
            <a:off x="828450" y="1939388"/>
            <a:ext cx="607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sng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塾内で残念な成績</a:t>
            </a:r>
            <a:endParaRPr b="0" i="0" sz="2400" u="sng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1350563" y="2548313"/>
            <a:ext cx="2325600" cy="10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能力開発途中で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自己肯定感が低下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4291613" y="2548313"/>
            <a:ext cx="2057400" cy="10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学び意欲の低下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30" name="Google Shape;430;p31"/>
          <p:cNvSpPr/>
          <p:nvPr/>
        </p:nvSpPr>
        <p:spPr>
          <a:xfrm>
            <a:off x="3737738" y="2892713"/>
            <a:ext cx="492300" cy="38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4230038" y="3692688"/>
            <a:ext cx="2153100" cy="10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学ばない子になる</a:t>
            </a:r>
            <a:endParaRPr b="0" i="0" sz="18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32" name="Google Shape;432;p31"/>
          <p:cNvSpPr/>
          <p:nvPr/>
        </p:nvSpPr>
        <p:spPr>
          <a:xfrm>
            <a:off x="3676163" y="4037088"/>
            <a:ext cx="492300" cy="38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4475" y="2639146"/>
            <a:ext cx="1827625" cy="1977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40" name="Google Shape;440;p3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41" name="Google Shape;441;p3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早期教育で成長を促せないもの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42" name="Google Shape;442;p3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32"/>
          <p:cNvSpPr txBox="1"/>
          <p:nvPr/>
        </p:nvSpPr>
        <p:spPr>
          <a:xfrm>
            <a:off x="1907300" y="1531350"/>
            <a:ext cx="5535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ja" sz="33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・コミュニケーション能力</a:t>
            </a:r>
            <a:endParaRPr b="0" i="0" sz="33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ja" sz="33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・創造力</a:t>
            </a:r>
            <a:endParaRPr b="0" i="0" sz="33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ja" sz="33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・問題解決能力</a:t>
            </a:r>
            <a:endParaRPr b="0" i="0" sz="33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50" name="Google Shape;450;p3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51" name="Google Shape;451;p33"/>
          <p:cNvSpPr txBox="1"/>
          <p:nvPr/>
        </p:nvSpPr>
        <p:spPr>
          <a:xfrm>
            <a:off x="467725" y="1025850"/>
            <a:ext cx="8208600" cy="29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ja" sz="4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こんな時も要注意</a:t>
            </a:r>
            <a:endParaRPr b="0" i="0" sz="4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t/>
            </a:r>
            <a:endParaRPr b="0" i="0" sz="4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ja" sz="41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「子どもが喜んで通っているから</a:t>
            </a:r>
            <a:endParaRPr b="0" i="0" sz="41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ja" sz="41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通わせています」</a:t>
            </a:r>
            <a:endParaRPr b="0" i="0" sz="41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58" name="Google Shape;458;p3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59" name="Google Shape;459;p34"/>
          <p:cNvSpPr txBox="1"/>
          <p:nvPr/>
        </p:nvSpPr>
        <p:spPr>
          <a:xfrm>
            <a:off x="467725" y="201400"/>
            <a:ext cx="8208600" cy="49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ja" sz="33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こういう場面を見たことありませんか？</a:t>
            </a:r>
            <a:endParaRPr b="0" i="0" sz="4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レッスン中は</a:t>
            </a:r>
            <a:r>
              <a:rPr b="0" i="0" lang="ja" sz="24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とてもつまらなそう</a:t>
            </a: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なお子様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ママがお迎えに来て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「今日はどうだった？」と聞くと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「</a:t>
            </a:r>
            <a:r>
              <a:rPr b="0" i="0" lang="ja" sz="2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楽しかった</a:t>
            </a: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」と答えるお子様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それを聞いて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「よく頑張ったね、じゃあスーパーで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何か買って帰ろうね！」というママ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60" name="Google Shape;460;p34"/>
          <p:cNvCxnSpPr/>
          <p:nvPr/>
        </p:nvCxnSpPr>
        <p:spPr>
          <a:xfrm>
            <a:off x="828450" y="815863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67" name="Google Shape;467;p3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68" name="Google Shape;468;p35"/>
          <p:cNvSpPr txBox="1"/>
          <p:nvPr/>
        </p:nvSpPr>
        <p:spPr>
          <a:xfrm>
            <a:off x="760925" y="381200"/>
            <a:ext cx="7952400" cy="4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最終的には・・・</a:t>
            </a:r>
            <a:endParaRPr b="0" i="0" sz="2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・塾の内容についていけなくてやめる</a:t>
            </a:r>
            <a:endParaRPr b="0" i="0" sz="2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・塾の学習レベル、塾の人間関係の枠で</a:t>
            </a:r>
            <a:endParaRPr b="0" i="0" sz="2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9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　収まって広い環境で通用しなくなる</a:t>
            </a:r>
            <a:endParaRPr b="0" i="0" sz="2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・塾や学習がつまらないことをママに</a:t>
            </a:r>
            <a:endParaRPr b="0" i="0" sz="2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A86E8"/>
                </a:solidFill>
                <a:latin typeface="Kosugi Maru"/>
                <a:ea typeface="Kosugi Maru"/>
                <a:cs typeface="Kosugi Maru"/>
                <a:sym typeface="Kosugi Maru"/>
              </a:rPr>
              <a:t>　正直に言えなくてふさぎ込んでしまう</a:t>
            </a:r>
            <a:endParaRPr b="0" i="0" sz="2900" u="none" cap="none" strike="noStrike">
              <a:solidFill>
                <a:srgbClr val="4A86E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69" name="Google Shape;4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900" y="2519375"/>
            <a:ext cx="1546100" cy="17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76" name="Google Shape;476;p3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77" name="Google Shape;477;p36"/>
          <p:cNvSpPr txBox="1"/>
          <p:nvPr/>
        </p:nvSpPr>
        <p:spPr>
          <a:xfrm>
            <a:off x="845125" y="261713"/>
            <a:ext cx="74538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ここまでの感想を教えてください</a:t>
            </a:r>
            <a:endParaRPr b="0" i="0" sz="57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78" name="Google Shape;478;p36"/>
          <p:cNvSpPr txBox="1"/>
          <p:nvPr/>
        </p:nvSpPr>
        <p:spPr>
          <a:xfrm>
            <a:off x="747150" y="1097975"/>
            <a:ext cx="8049000" cy="3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</a:t>
            </a:r>
            <a:r>
              <a:rPr b="0" i="0" lang="ja" sz="3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早期教育について</a:t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「ハッ」とすることがあった</a:t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3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「自分の子どもにどうなって欲しいか？」</a:t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　について改めて考えることがあった</a:t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　</a:t>
            </a:r>
            <a:r>
              <a:rPr b="0" i="0" lang="ja" sz="21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賢くなって欲しい？成績よくなって欲しい？</a:t>
            </a:r>
            <a:endParaRPr b="0" i="0" sz="21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　　幸せに生きて欲しい？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85" name="Google Shape;485;p3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86" name="Google Shape;486;p3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では具体的に何をすると脳の発達を促せるのか？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87" name="Google Shape;487;p3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37"/>
          <p:cNvSpPr txBox="1"/>
          <p:nvPr/>
        </p:nvSpPr>
        <p:spPr>
          <a:xfrm>
            <a:off x="717600" y="2112375"/>
            <a:ext cx="770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早期教育じゃダメなら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どうしたら良いの？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89" name="Google Shape;4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5165" y="2571750"/>
            <a:ext cx="1660611" cy="219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96" name="Google Shape;496;p3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97" name="Google Shape;497;p38"/>
          <p:cNvSpPr txBox="1"/>
          <p:nvPr/>
        </p:nvSpPr>
        <p:spPr>
          <a:xfrm>
            <a:off x="717600" y="1879050"/>
            <a:ext cx="7708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そこで注目・研究されたのが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ja" sz="4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"育脳"</a:t>
            </a:r>
            <a:endParaRPr b="0" i="0" sz="4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98" name="Google Shape;4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1525" y="2741675"/>
            <a:ext cx="2128650" cy="195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05" name="Google Shape;505;p3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06" name="Google Shape;506;p39"/>
          <p:cNvSpPr txBox="1"/>
          <p:nvPr/>
        </p:nvSpPr>
        <p:spPr>
          <a:xfrm>
            <a:off x="635250" y="2051350"/>
            <a:ext cx="820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ja" sz="4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簡単におさらいです</a:t>
            </a:r>
            <a:endParaRPr b="0" i="0" sz="4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13" name="Google Shape;513;p4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14" name="Google Shape;514;p4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"育脳"の学術的なお話をすると・・・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15" name="Google Shape;515;p4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40"/>
          <p:cNvSpPr txBox="1"/>
          <p:nvPr/>
        </p:nvSpPr>
        <p:spPr>
          <a:xfrm>
            <a:off x="654750" y="2288250"/>
            <a:ext cx="7834500" cy="1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ja" sz="3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6歳までの幼少期</a:t>
            </a:r>
            <a:r>
              <a:rPr b="0" i="0" lang="ja" sz="3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に適切な刺激を与えて</a:t>
            </a:r>
            <a:endParaRPr b="0" i="0" sz="3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ja" sz="3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脳の発達を促す</a:t>
            </a:r>
            <a:r>
              <a:rPr b="0" i="0" lang="ja" sz="3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子育て方法</a:t>
            </a:r>
            <a:endParaRPr b="0" i="0" sz="3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17" name="Google Shape;517;p40"/>
          <p:cNvSpPr txBox="1"/>
          <p:nvPr/>
        </p:nvSpPr>
        <p:spPr>
          <a:xfrm rot="-711717">
            <a:off x="-242771" y="184411"/>
            <a:ext cx="1856443" cy="6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おさらい</a:t>
            </a:r>
            <a:endParaRPr b="0" i="0" sz="2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24" name="Google Shape;524;p4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25" name="Google Shape;525;p4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なぜ６歳まで？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26" name="Google Shape;526;p4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41"/>
          <p:cNvSpPr txBox="1"/>
          <p:nvPr/>
        </p:nvSpPr>
        <p:spPr>
          <a:xfrm>
            <a:off x="717600" y="1879050"/>
            <a:ext cx="7708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脳は神経細胞を繋いでくれる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"</a:t>
            </a:r>
            <a:r>
              <a:rPr b="0" i="0" lang="ja" sz="45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シナプス</a:t>
            </a:r>
            <a:r>
              <a:rPr b="0" i="0" lang="ja" sz="36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"</a:t>
            </a: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が増えることで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成長＆発達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8" name="Google Shape;528;p41"/>
          <p:cNvSpPr txBox="1"/>
          <p:nvPr/>
        </p:nvSpPr>
        <p:spPr>
          <a:xfrm rot="-711717">
            <a:off x="-242771" y="184411"/>
            <a:ext cx="1856443" cy="6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おさらい</a:t>
            </a:r>
            <a:endParaRPr b="0" i="0" sz="2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35" name="Google Shape;535;p4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36" name="Google Shape;536;p4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なぜ６歳まで？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37" name="Google Shape;537;p4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8" name="Google Shape;53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2750" y="1125225"/>
            <a:ext cx="6112030" cy="3642051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2"/>
          <p:cNvSpPr txBox="1"/>
          <p:nvPr/>
        </p:nvSpPr>
        <p:spPr>
          <a:xfrm rot="-711717">
            <a:off x="-242771" y="184411"/>
            <a:ext cx="1856443" cy="6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ja" sz="27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おさらい</a:t>
            </a:r>
            <a:endParaRPr b="0" i="0" sz="27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3"/>
          <p:cNvSpPr/>
          <p:nvPr/>
        </p:nvSpPr>
        <p:spPr>
          <a:xfrm>
            <a:off x="834750" y="2027150"/>
            <a:ext cx="3297900" cy="1415100"/>
          </a:xfrm>
          <a:prstGeom prst="roundRect">
            <a:avLst>
              <a:gd fmla="val 16667" name="adj"/>
            </a:avLst>
          </a:prstGeom>
          <a:solidFill>
            <a:srgbClr val="FFE5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4648725" y="2025325"/>
            <a:ext cx="3297900" cy="1415100"/>
          </a:xfrm>
          <a:prstGeom prst="roundRect">
            <a:avLst>
              <a:gd fmla="val 16667" name="adj"/>
            </a:avLst>
          </a:prstGeom>
          <a:solidFill>
            <a:srgbClr val="FFE5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48" name="Google Shape;548;p4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６歳までに育脳を行うと・・・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50" name="Google Shape;550;p4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43"/>
          <p:cNvSpPr txBox="1"/>
          <p:nvPr/>
        </p:nvSpPr>
        <p:spPr>
          <a:xfrm>
            <a:off x="717625" y="1153075"/>
            <a:ext cx="7708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脳の発達が十分に促されて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52" name="Google Shape;552;p43"/>
          <p:cNvSpPr txBox="1"/>
          <p:nvPr/>
        </p:nvSpPr>
        <p:spPr>
          <a:xfrm>
            <a:off x="1855600" y="3691425"/>
            <a:ext cx="60210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社会で生き抜く力をバランスよく伸ばす基礎ができる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53" name="Google Shape;553;p43"/>
          <p:cNvSpPr txBox="1"/>
          <p:nvPr/>
        </p:nvSpPr>
        <p:spPr>
          <a:xfrm>
            <a:off x="828450" y="2006750"/>
            <a:ext cx="3993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・忍耐強くなる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・挑戦する気持ちが強くなる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・努力を惜しまなくなる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・自制心が効くようになる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54" name="Google Shape;554;p43"/>
          <p:cNvSpPr txBox="1"/>
          <p:nvPr/>
        </p:nvSpPr>
        <p:spPr>
          <a:xfrm>
            <a:off x="4718025" y="202532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・自己肯定感がUPする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・社会性が向上する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・心が豊かになる</a:t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55" name="Google Shape;555;p43"/>
          <p:cNvSpPr txBox="1"/>
          <p:nvPr/>
        </p:nvSpPr>
        <p:spPr>
          <a:xfrm rot="-711679">
            <a:off x="-259807" y="116783"/>
            <a:ext cx="2525014" cy="5080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ja" sz="2100" u="none" cap="none" strike="noStrike">
                <a:solidFill>
                  <a:srgbClr val="434343"/>
                </a:solidFill>
                <a:highlight>
                  <a:srgbClr val="FFE5F6"/>
                </a:highlight>
                <a:latin typeface="Kosugi Maru"/>
                <a:ea typeface="Kosugi Maru"/>
                <a:cs typeface="Kosugi Maru"/>
                <a:sym typeface="Kosugi Maru"/>
              </a:rPr>
              <a:t>今日はここから</a:t>
            </a:r>
            <a:endParaRPr b="0" i="0" sz="2100" u="none" cap="none" strike="noStrike">
              <a:solidFill>
                <a:srgbClr val="434343"/>
              </a:solidFill>
              <a:highlight>
                <a:srgbClr val="FFE5F6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62" name="Google Shape;562;p4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63" name="Google Shape;563;p44"/>
          <p:cNvSpPr txBox="1"/>
          <p:nvPr/>
        </p:nvSpPr>
        <p:spPr>
          <a:xfrm>
            <a:off x="1387675" y="1824900"/>
            <a:ext cx="6368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だから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賢い子どもが育つ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70" name="Google Shape;570;p4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71" name="Google Shape;571;p45"/>
          <p:cNvSpPr txBox="1"/>
          <p:nvPr/>
        </p:nvSpPr>
        <p:spPr>
          <a:xfrm>
            <a:off x="1387675" y="2131600"/>
            <a:ext cx="63687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ja" sz="72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</a:t>
            </a:r>
            <a:endParaRPr b="0" i="0" sz="7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を鍛えること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72" name="Google Shape;572;p45"/>
          <p:cNvSpPr txBox="1"/>
          <p:nvPr/>
        </p:nvSpPr>
        <p:spPr>
          <a:xfrm>
            <a:off x="1387650" y="261225"/>
            <a:ext cx="63687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バランスよく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ja" sz="35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脳の発達を促すには</a:t>
            </a:r>
            <a:endParaRPr b="0" i="0" sz="35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79" name="Google Shape;579;p4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80" name="Google Shape;580;p46"/>
          <p:cNvSpPr txBox="1"/>
          <p:nvPr/>
        </p:nvSpPr>
        <p:spPr>
          <a:xfrm>
            <a:off x="1163550" y="1635375"/>
            <a:ext cx="73041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認知能力　：学校で習うこと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　　点数で評価できる能力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　　（学力テスト、IQ）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81" name="Google Shape;581;p4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認知能力　と　非認知能力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82" name="Google Shape;582;p4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46"/>
          <p:cNvSpPr txBox="1"/>
          <p:nvPr/>
        </p:nvSpPr>
        <p:spPr>
          <a:xfrm>
            <a:off x="1163550" y="3416600"/>
            <a:ext cx="73041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非認知能力：点や数値で評価できない能力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90" name="Google Shape;590;p4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91" name="Google Shape;591;p47"/>
          <p:cNvSpPr txBox="1"/>
          <p:nvPr/>
        </p:nvSpPr>
        <p:spPr>
          <a:xfrm>
            <a:off x="866700" y="1374300"/>
            <a:ext cx="75102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どうやったら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非認知能力が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鍛えられるの？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592" name="Google Shape;59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0050" y="2974850"/>
            <a:ext cx="1355725" cy="17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99" name="Google Shape;599;p4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00" name="Google Shape;600;p48"/>
          <p:cNvSpPr txBox="1"/>
          <p:nvPr/>
        </p:nvSpPr>
        <p:spPr>
          <a:xfrm>
            <a:off x="866700" y="1374300"/>
            <a:ext cx="751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「絵本」とか「パズル」とか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なんだ普通じゃん？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01" name="Google Shape;60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291650" y="2201300"/>
            <a:ext cx="1573475" cy="25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08" name="Google Shape;608;p4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09" name="Google Shape;609;p49"/>
          <p:cNvSpPr txBox="1"/>
          <p:nvPr/>
        </p:nvSpPr>
        <p:spPr>
          <a:xfrm>
            <a:off x="893200" y="1717650"/>
            <a:ext cx="75102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大切なのは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ja" sz="5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その行動が何に繋がるか</a:t>
            </a:r>
            <a:endParaRPr b="0" i="0" sz="5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16" name="Google Shape;616;p5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17" name="Google Shape;617;p50"/>
          <p:cNvSpPr txBox="1"/>
          <p:nvPr/>
        </p:nvSpPr>
        <p:spPr>
          <a:xfrm>
            <a:off x="893200" y="153400"/>
            <a:ext cx="75102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ja" sz="33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子どもの行動に手を焼くとき・・・</a:t>
            </a:r>
            <a:endParaRPr b="0" i="0" sz="33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18" name="Google Shape;618;p50"/>
          <p:cNvSpPr txBox="1"/>
          <p:nvPr/>
        </p:nvSpPr>
        <p:spPr>
          <a:xfrm>
            <a:off x="137575" y="1452525"/>
            <a:ext cx="39300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＜イメージできない＞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19" name="Google Shape;619;p50"/>
          <p:cNvSpPr txBox="1"/>
          <p:nvPr/>
        </p:nvSpPr>
        <p:spPr>
          <a:xfrm>
            <a:off x="4830350" y="1452525"/>
            <a:ext cx="39300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＜イメージできる＞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20" name="Google Shape;620;p50"/>
          <p:cNvSpPr txBox="1"/>
          <p:nvPr/>
        </p:nvSpPr>
        <p:spPr>
          <a:xfrm>
            <a:off x="137575" y="1981725"/>
            <a:ext cx="3930000" cy="26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どうして言うこと聞かないの？</a:t>
            </a:r>
            <a:endParaRPr b="0" i="0" sz="2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どうすればいいんだろう？</a:t>
            </a:r>
            <a:endParaRPr b="0" i="0" sz="2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手あたり次第に改善を試みる？</a:t>
            </a:r>
            <a:endParaRPr b="0" i="0" sz="2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000" u="none" cap="none" strike="noStrike">
                <a:solidFill>
                  <a:srgbClr val="999999"/>
                </a:solidFill>
                <a:latin typeface="Kosugi Maru"/>
                <a:ea typeface="Kosugi Maru"/>
                <a:cs typeface="Kosugi Maru"/>
                <a:sym typeface="Kosugi Maru"/>
              </a:rPr>
              <a:t>料理だったら味がとんでもないことになって大惨事（T T)</a:t>
            </a:r>
            <a:endParaRPr b="0" i="0" sz="2000" u="none" cap="none" strike="noStrike">
              <a:solidFill>
                <a:srgbClr val="99999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または考えすぎて何もできない</a:t>
            </a:r>
            <a:endParaRPr b="0" i="0" sz="2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21" name="Google Shape;621;p50"/>
          <p:cNvSpPr txBox="1"/>
          <p:nvPr/>
        </p:nvSpPr>
        <p:spPr>
          <a:xfrm>
            <a:off x="4830350" y="1981725"/>
            <a:ext cx="4062600" cy="11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あ、この能力が足りてないかも。</a:t>
            </a:r>
            <a:endParaRPr b="0" i="0" sz="2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" sz="20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だとたら、これやってみようかな。</a:t>
            </a:r>
            <a:endParaRPr b="0" i="0" sz="2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22" name="Google Shape;62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0350" y="3754052"/>
            <a:ext cx="2567322" cy="95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3" name="Google Shape;623;p5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4" name="Google Shape;624;p50"/>
          <p:cNvSpPr txBox="1"/>
          <p:nvPr/>
        </p:nvSpPr>
        <p:spPr>
          <a:xfrm>
            <a:off x="4294500" y="3321150"/>
            <a:ext cx="20574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好奇心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挑戦心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25" name="Google Shape;625;p50"/>
          <p:cNvSpPr txBox="1"/>
          <p:nvPr/>
        </p:nvSpPr>
        <p:spPr>
          <a:xfrm>
            <a:off x="7736225" y="3321150"/>
            <a:ext cx="1364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自制心</a:t>
            </a:r>
            <a:endParaRPr b="0" i="0" sz="18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26" name="Google Shape;62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3668" y="3274950"/>
            <a:ext cx="1125957" cy="5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7351" y="1353450"/>
            <a:ext cx="3198600" cy="32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5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34" name="Google Shape;634;p5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35" name="Google Shape;635;p51"/>
          <p:cNvSpPr txBox="1"/>
          <p:nvPr/>
        </p:nvSpPr>
        <p:spPr>
          <a:xfrm>
            <a:off x="130400" y="1015075"/>
            <a:ext cx="67749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子どもの言動に困った時は・・・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必ず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根っこ＝非認知能力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からアプローチしましょう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42" name="Google Shape;642;p5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43" name="Google Shape;643;p52"/>
          <p:cNvSpPr txBox="1"/>
          <p:nvPr/>
        </p:nvSpPr>
        <p:spPr>
          <a:xfrm>
            <a:off x="866700" y="1374300"/>
            <a:ext cx="75102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でも、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これが良いって分かっても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あれもこれもできない💦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50" name="Google Shape;650;p5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51" name="Google Shape;651;p53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52" name="Google Shape;652;p5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53"/>
          <p:cNvSpPr txBox="1"/>
          <p:nvPr/>
        </p:nvSpPr>
        <p:spPr>
          <a:xfrm>
            <a:off x="960325" y="1048113"/>
            <a:ext cx="72234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「この子、もしかして</a:t>
            </a:r>
            <a:endParaRPr b="0" i="0" sz="3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いま非認知能力鍛えてる？」</a:t>
            </a:r>
            <a:endParaRPr b="0" i="0" sz="3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54" name="Google Shape;654;p53"/>
          <p:cNvSpPr txBox="1"/>
          <p:nvPr/>
        </p:nvSpPr>
        <p:spPr>
          <a:xfrm>
            <a:off x="768475" y="2474800"/>
            <a:ext cx="7607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ja" sz="23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これから</a:t>
            </a:r>
            <a:r>
              <a:rPr b="0" i="0" lang="ja" sz="25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２つのシーンを紹介します</a:t>
            </a:r>
            <a:endParaRPr b="0" i="0" sz="25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ja" sz="25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それぞれについて以下を考えてみてください</a:t>
            </a:r>
            <a:endParaRPr b="0" i="0" sz="25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①◯◯能力を鍛えてるのかな？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②どんな声かけをしようかな？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250" y="2988600"/>
            <a:ext cx="2878343" cy="21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62" name="Google Shape;662;p5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63" name="Google Shape;663;p54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　シーン１⭐️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64" name="Google Shape;664;p5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54"/>
          <p:cNvSpPr txBox="1"/>
          <p:nvPr/>
        </p:nvSpPr>
        <p:spPr>
          <a:xfrm>
            <a:off x="198825" y="1131575"/>
            <a:ext cx="49425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目の前の赤ちゃん（1歳半）が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取り込んだばかりの洗濯物と戯れ中。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中にはお父さんのパンツが・・・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赤ちゃんはその中からお父さんの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パンツをおもむろに掴んで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	頭からかぶってみたり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	噛んでみたり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	ゴムを伸ばして遊んでます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さぁ、あなたはどうしますか？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66" name="Google Shape;666;p54"/>
          <p:cNvSpPr txBox="1"/>
          <p:nvPr/>
        </p:nvSpPr>
        <p:spPr>
          <a:xfrm>
            <a:off x="5096863" y="1019725"/>
            <a:ext cx="3764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①◯◯能力を鍛えてるのかな？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＜非認知能力リスト例＞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・挑戦心　・好奇心＆探究心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・自制心　・自己肯定感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・責任＆決断力　・共感力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どんな声かけをしようかな？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73" name="Google Shape;673;p5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74" name="Google Shape;674;p55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⭐️チャレンジワーク　シーン２⭐️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75" name="Google Shape;675;p5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55"/>
          <p:cNvSpPr txBox="1"/>
          <p:nvPr/>
        </p:nvSpPr>
        <p:spPr>
          <a:xfrm>
            <a:off x="198825" y="1131575"/>
            <a:ext cx="49425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3歳の子どもが夕方から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積み木遊びをはじめました。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カタログに載っている"お家"の形を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作ろうと格闘しています。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夕飯の時間を迎えてもまだ積み木と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カタログをにらめっこ・・・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時には「ウキー💢」と言う奇声と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足をジタバタする音まで聞こえて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きます。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さぁ、あなたはどうしますか？</a:t>
            </a:r>
            <a:endParaRPr b="0" i="0" sz="22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77" name="Google Shape;677;p55"/>
          <p:cNvSpPr txBox="1"/>
          <p:nvPr/>
        </p:nvSpPr>
        <p:spPr>
          <a:xfrm>
            <a:off x="5096863" y="1019725"/>
            <a:ext cx="3764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①◯◯能力を鍛えてるのかな？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＜非認知能力リスト例＞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・挑戦心　・好奇心＆探究心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・自制心　・自己肯定感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・責任＆決断力　・共感力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1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どんな声かけをしようかな？</a:t>
            </a:r>
            <a:endParaRPr b="0" i="0" sz="1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78" name="Google Shape;67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6867" y="3234263"/>
            <a:ext cx="3947584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85" name="Google Shape;685;p5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86" name="Google Shape;686;p56"/>
          <p:cNvSpPr txBox="1"/>
          <p:nvPr/>
        </p:nvSpPr>
        <p:spPr>
          <a:xfrm>
            <a:off x="816900" y="1983600"/>
            <a:ext cx="751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ワーク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いかがでしたか？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93" name="Google Shape;693;p5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94" name="Google Shape;694;p57"/>
          <p:cNvSpPr txBox="1"/>
          <p:nvPr/>
        </p:nvSpPr>
        <p:spPr>
          <a:xfrm>
            <a:off x="893200" y="392000"/>
            <a:ext cx="75102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今日最後に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もう一つ知って欲しいこと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95" name="Google Shape;695;p57"/>
          <p:cNvSpPr txBox="1"/>
          <p:nvPr/>
        </p:nvSpPr>
        <p:spPr>
          <a:xfrm>
            <a:off x="816925" y="2347875"/>
            <a:ext cx="751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育脳、非認知能力の向上を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最大に高めてくれるもの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02" name="Google Shape;702;p5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03" name="Google Shape;703;p58"/>
          <p:cNvSpPr txBox="1"/>
          <p:nvPr/>
        </p:nvSpPr>
        <p:spPr>
          <a:xfrm>
            <a:off x="816925" y="1844125"/>
            <a:ext cx="751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それが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親子のコミュニケーション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10" name="Google Shape;710;p5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11" name="Google Shape;711;p59"/>
          <p:cNvSpPr txBox="1"/>
          <p:nvPr/>
        </p:nvSpPr>
        <p:spPr>
          <a:xfrm>
            <a:off x="816925" y="1141525"/>
            <a:ext cx="75102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なんで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親子のコミュニケーション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が大事なんでしょう？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18" name="Google Shape;718;p6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19" name="Google Shape;719;p6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脳の発達を促すには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20" name="Google Shape;720;p6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1" name="Google Shape;721;p60"/>
          <p:cNvSpPr txBox="1"/>
          <p:nvPr/>
        </p:nvSpPr>
        <p:spPr>
          <a:xfrm>
            <a:off x="1034000" y="1076075"/>
            <a:ext cx="7607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・好奇心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・興味を満足させたい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・集中して挑戦したい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子どものこの気持ちがとても大切</a:t>
            </a:r>
            <a:endParaRPr b="0" i="0" sz="30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せっかく非認知能力を鍛えようとしても</a:t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それに向かう気持ちが整わないと効果は半減</a:t>
            </a:r>
            <a:endParaRPr b="0" i="0" sz="2400" u="none" cap="none" strike="noStrike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28" name="Google Shape;728;p6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29" name="Google Shape;729;p6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好奇心、挑戦心を発揮するには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30" name="Google Shape;730;p6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1" name="Google Shape;731;p61"/>
          <p:cNvSpPr txBox="1"/>
          <p:nvPr/>
        </p:nvSpPr>
        <p:spPr>
          <a:xfrm>
            <a:off x="768475" y="1712400"/>
            <a:ext cx="76071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安心して取り組める環境が不可欠</a:t>
            </a:r>
            <a:endParaRPr b="0" i="0" sz="28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↓</a:t>
            </a:r>
            <a:endParaRPr b="0" i="0" sz="3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子ども</a:t>
            </a:r>
            <a:r>
              <a:rPr b="0" i="0" lang="ja" sz="3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にとって”安心環境”とは</a:t>
            </a:r>
            <a:endParaRPr b="0" i="0" sz="3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ja" sz="3600" u="none" cap="none" strike="noStrike">
                <a:solidFill>
                  <a:srgbClr val="EF84C9"/>
                </a:solidFill>
                <a:latin typeface="Arial"/>
                <a:ea typeface="Arial"/>
                <a:cs typeface="Arial"/>
                <a:sym typeface="Arial"/>
              </a:rPr>
              <a:t>ママとの生活空間/生活時間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38" name="Google Shape;738;p6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39" name="Google Shape;739;p6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逆に挑戦心を阻害してしまうのは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40" name="Google Shape;740;p6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62"/>
          <p:cNvSpPr txBox="1"/>
          <p:nvPr/>
        </p:nvSpPr>
        <p:spPr>
          <a:xfrm>
            <a:off x="768450" y="1504350"/>
            <a:ext cx="76071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これもやっぱりママとの時間</a:t>
            </a:r>
            <a:endParaRPr b="0" i="0" sz="28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ママがイライラしていると</a:t>
            </a:r>
            <a:endParaRPr b="0" i="0" sz="3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自分が何かやっちゃった後のことが</a:t>
            </a:r>
            <a:endParaRPr b="0" i="0" sz="3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怖くて挑戦できない</a:t>
            </a:r>
            <a:r>
              <a:rPr b="0" i="0" lang="ja" sz="3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・・・</a:t>
            </a:r>
            <a:endParaRPr b="0" i="0" sz="3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742" name="Google Shape;74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9350" y="2869625"/>
            <a:ext cx="1241450" cy="18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49" name="Google Shape;749;p6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50" name="Google Shape;750;p63"/>
          <p:cNvSpPr txBox="1"/>
          <p:nvPr/>
        </p:nvSpPr>
        <p:spPr>
          <a:xfrm>
            <a:off x="816925" y="595500"/>
            <a:ext cx="7510200" cy="3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でも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「イライラしないで！」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とは</a:t>
            </a:r>
            <a:r>
              <a:rPr b="0" i="0" lang="ja" sz="44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言いません</a:t>
            </a:r>
            <a:endParaRPr b="0" i="0" sz="44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57" name="Google Shape;757;p6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58" name="Google Shape;758;p64"/>
          <p:cNvSpPr txBox="1"/>
          <p:nvPr/>
        </p:nvSpPr>
        <p:spPr>
          <a:xfrm>
            <a:off x="475050" y="366900"/>
            <a:ext cx="8113200" cy="4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ja" sz="3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ここまでをまとめると</a:t>
            </a:r>
            <a:endParaRPr b="0" i="0" sz="3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3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ママと子どもが</a:t>
            </a:r>
            <a:endParaRPr b="0" i="0" sz="33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ja" sz="33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信頼と愛情のコミュニケーション</a:t>
            </a:r>
            <a:endParaRPr b="0" i="0" sz="33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ja" sz="33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でつながる</a:t>
            </a:r>
            <a:endParaRPr b="0" i="0" sz="33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3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↓</a:t>
            </a:r>
            <a:endParaRPr b="0" i="0" sz="33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ja" sz="33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育脳が加速</a:t>
            </a:r>
            <a:r>
              <a:rPr b="0" i="0" lang="ja" sz="3300" u="none" cap="none" strike="noStrike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する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59" name="Google Shape;759;p6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66" name="Google Shape;766;p6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767" name="Google Shape;7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75" y="0"/>
            <a:ext cx="8190441" cy="48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 txBox="1"/>
          <p:nvPr/>
        </p:nvSpPr>
        <p:spPr>
          <a:xfrm>
            <a:off x="816900" y="2159650"/>
            <a:ext cx="7510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ハッピーサイクル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75" name="Google Shape;775;p6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76" name="Google Shape;776;p6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"想い"として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77" name="Google Shape;777;p6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66"/>
          <p:cNvSpPr txBox="1"/>
          <p:nvPr/>
        </p:nvSpPr>
        <p:spPr>
          <a:xfrm>
            <a:off x="598325" y="2117700"/>
            <a:ext cx="8208600" cy="1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私の夢：その２</a:t>
            </a:r>
            <a:endParaRPr b="0" i="0" sz="39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9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いつまでも仲の良い親子関係が続くご家庭を増やしたい</a:t>
            </a:r>
            <a:endParaRPr b="0" i="0" sz="3000" u="none" cap="none" strike="noStrike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85" name="Google Shape;785;p6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86" name="Google Shape;786;p67"/>
          <p:cNvSpPr txBox="1"/>
          <p:nvPr/>
        </p:nvSpPr>
        <p:spPr>
          <a:xfrm>
            <a:off x="816925" y="1665050"/>
            <a:ext cx="751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chemeClr val="accent5"/>
                </a:solidFill>
                <a:latin typeface="Kosugi Maru"/>
                <a:ea typeface="Kosugi Maru"/>
                <a:cs typeface="Kosugi Maru"/>
                <a:sym typeface="Kosugi Maru"/>
              </a:rPr>
              <a:t>コミュニケーションが</a:t>
            </a:r>
            <a:endParaRPr b="0" i="0" sz="4400" u="none" cap="none" strike="noStrike">
              <a:solidFill>
                <a:schemeClr val="accent5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chemeClr val="accent5"/>
                </a:solidFill>
                <a:latin typeface="Kosugi Maru"/>
                <a:ea typeface="Kosugi Maru"/>
                <a:cs typeface="Kosugi Maru"/>
                <a:sym typeface="Kosugi Maru"/>
              </a:rPr>
              <a:t>疎かになるとどうなるの？？</a:t>
            </a:r>
            <a:endParaRPr b="0" i="0" sz="4400" u="none" cap="none" strike="noStrike">
              <a:solidFill>
                <a:schemeClr val="accent5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93" name="Google Shape;793;p6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875" y="0"/>
            <a:ext cx="8190441" cy="48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1081125" y="1924975"/>
            <a:ext cx="7510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イライラサイクル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02" name="Google Shape;802;p6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475" y="2061950"/>
            <a:ext cx="4599100" cy="270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525" y="2061950"/>
            <a:ext cx="4470225" cy="262953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9"/>
          <p:cNvSpPr txBox="1"/>
          <p:nvPr/>
        </p:nvSpPr>
        <p:spPr>
          <a:xfrm>
            <a:off x="816900" y="133825"/>
            <a:ext cx="75102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ja" sz="29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一応聞かせてください</a:t>
            </a:r>
            <a:endParaRPr b="0" i="0" sz="29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ja" sz="37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どちらを希望しますか？</a:t>
            </a:r>
            <a:endParaRPr b="0" i="0" sz="37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06" name="Google Shape;806;p69"/>
          <p:cNvSpPr txBox="1"/>
          <p:nvPr/>
        </p:nvSpPr>
        <p:spPr>
          <a:xfrm>
            <a:off x="678538" y="15633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①ハッピーサイクル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07" name="Google Shape;807;p69"/>
          <p:cNvSpPr txBox="1"/>
          <p:nvPr/>
        </p:nvSpPr>
        <p:spPr>
          <a:xfrm>
            <a:off x="5565263" y="1563350"/>
            <a:ext cx="3086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②イライラサイクル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ja" sz="32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講座では・・・</a:t>
            </a:r>
            <a:endParaRPr b="0" i="0" sz="32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13" name="Google Shape;813;p7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4" name="Google Shape;814;p70"/>
          <p:cNvSpPr txBox="1"/>
          <p:nvPr/>
        </p:nvSpPr>
        <p:spPr>
          <a:xfrm>
            <a:off x="931850" y="1242025"/>
            <a:ext cx="7510200" cy="3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コミュニケーションを</a:t>
            </a:r>
            <a:endParaRPr b="0" i="0" sz="28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</a:t>
            </a:r>
            <a:endParaRPr b="0" i="0" sz="3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　・どう高めるか</a:t>
            </a:r>
            <a:endParaRPr b="0" i="0" sz="3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" sz="36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　・どう維持するか</a:t>
            </a:r>
            <a:endParaRPr b="0" i="0" sz="3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それらの具体的な方法をお伝えしています</a:t>
            </a:r>
            <a:endParaRPr b="0" i="0" sz="3000" u="none" cap="none" strike="noStrike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21" name="Google Shape;821;p7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22" name="Google Shape;822;p71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ＤＡＹ２のまとめ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23" name="Google Shape;823;p7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4" name="Google Shape;824;p71"/>
          <p:cNvSpPr txBox="1"/>
          <p:nvPr/>
        </p:nvSpPr>
        <p:spPr>
          <a:xfrm>
            <a:off x="1299750" y="1150438"/>
            <a:ext cx="7215600" cy="3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①脳の発達を促すには「非認知能力」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を鍛えましょう！</a:t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2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育脳、非認知能力の向上は</a:t>
            </a:r>
            <a:endParaRPr b="0" i="0" sz="2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ママと子どもが信頼と愛情の</a:t>
            </a:r>
            <a:endParaRPr b="0" i="0" sz="2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コミュニケーションでしっかり</a:t>
            </a:r>
            <a:endParaRPr b="0" i="0" sz="28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ja" sz="28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繋がることが大切</a:t>
            </a:r>
            <a:endParaRPr b="0" i="0" sz="32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31" name="Google Shape;831;p7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pic>
        <p:nvPicPr>
          <p:cNvPr id="832" name="Google Shape;83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75" y="0"/>
            <a:ext cx="8190441" cy="48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2"/>
          <p:cNvSpPr txBox="1"/>
          <p:nvPr/>
        </p:nvSpPr>
        <p:spPr>
          <a:xfrm>
            <a:off x="816900" y="2159650"/>
            <a:ext cx="7510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ja" sz="2200" u="sng" cap="none" strike="noStrike">
                <a:solidFill>
                  <a:srgbClr val="EF84C9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ハッピーサイクル</a:t>
            </a:r>
            <a:endParaRPr b="0" i="0" sz="2200" u="sng" cap="none" strike="noStrike">
              <a:solidFill>
                <a:srgbClr val="EF84C9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40" name="Google Shape;840;p7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41" name="Google Shape;841;p73"/>
          <p:cNvSpPr txBox="1"/>
          <p:nvPr/>
        </p:nvSpPr>
        <p:spPr>
          <a:xfrm>
            <a:off x="1387675" y="1824900"/>
            <a:ext cx="6368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ＤＡＹ２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お疲れ様でした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48" name="Google Shape;848;p7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49" name="Google Shape;849;p74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課題２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50" name="Google Shape;850;p7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1" name="Google Shape;851;p74"/>
          <p:cNvSpPr txBox="1"/>
          <p:nvPr/>
        </p:nvSpPr>
        <p:spPr>
          <a:xfrm>
            <a:off x="1210225" y="1303913"/>
            <a:ext cx="7359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</a:t>
            </a: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今日のライブで一番印象に残ったことを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　教えてください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b="0" i="0" lang="ja" sz="2400" u="none" cap="none" strike="noStrike">
                <a:solidFill>
                  <a:schemeClr val="dk1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永瀬まみ先生が考える”育脳の鍵”は</a:t>
            </a:r>
            <a:endParaRPr b="0" i="0" sz="2400" u="none" cap="none" strike="noStrike">
              <a:solidFill>
                <a:schemeClr val="dk1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chemeClr val="dk1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　なんだったでしょうか？</a:t>
            </a:r>
            <a:endParaRPr b="0" i="0" sz="2400" u="none" cap="none" strike="noStrike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2" name="Google Shape;852;p74"/>
          <p:cNvSpPr txBox="1"/>
          <p:nvPr/>
        </p:nvSpPr>
        <p:spPr>
          <a:xfrm>
            <a:off x="1304075" y="3983000"/>
            <a:ext cx="68748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※課題の提出はフォームにお願いします！</a:t>
            </a:r>
            <a:endParaRPr b="0" i="0" sz="1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※提出期限：</a:t>
            </a:r>
            <a:r>
              <a:rPr lang="ja" sz="1900">
                <a:solidFill>
                  <a:srgbClr val="434343"/>
                </a:solidFill>
              </a:rPr>
              <a:t>3</a:t>
            </a: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月</a:t>
            </a:r>
            <a:r>
              <a:rPr lang="ja" sz="1900">
                <a:solidFill>
                  <a:srgbClr val="434343"/>
                </a:solidFill>
              </a:rPr>
              <a:t>13</a:t>
            </a: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日（金）</a:t>
            </a:r>
            <a:r>
              <a:rPr b="0" i="0" lang="ja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21:00</a:t>
            </a:r>
            <a:r>
              <a:rPr b="0" i="0" lang="ja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まで</a:t>
            </a:r>
            <a:endParaRPr b="0" i="0" sz="1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59" name="Google Shape;859;p7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60" name="Google Shape;860;p75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退出処理、始まります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61" name="Google Shape;861;p7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2" name="Google Shape;862;p75"/>
          <p:cNvSpPr txBox="1"/>
          <p:nvPr/>
        </p:nvSpPr>
        <p:spPr>
          <a:xfrm>
            <a:off x="937225" y="1106075"/>
            <a:ext cx="7738200" cy="3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000" u="none" cap="none" strike="noStrike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真剣に取り組んでいる方に注力させて</a:t>
            </a:r>
            <a:endParaRPr b="0" i="0" sz="3000" u="none" cap="none" strike="noStrike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3000" u="none" cap="none" strike="noStrike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頂きたい関係で</a:t>
            </a:r>
            <a:r>
              <a:rPr b="0" i="0" lang="ja" sz="3000" u="none" cap="none" strike="noStrike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退出処理</a:t>
            </a:r>
            <a:r>
              <a:rPr b="0" i="0" lang="ja" sz="3000" u="none" cap="none" strike="noStrike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をさせて頂きます</a:t>
            </a:r>
            <a:endParaRPr b="0" i="0" sz="3000" u="none" cap="none" strike="noStrike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提出期限：月日（金）  </a:t>
            </a:r>
            <a:r>
              <a:rPr b="0" i="0" lang="ja" sz="3500" u="none" cap="none" strike="noStrike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21:00</a:t>
            </a: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まで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sng" cap="none" strike="noStrike">
                <a:solidFill>
                  <a:srgbClr val="0000FF"/>
                </a:solidFill>
                <a:latin typeface="Kosugi Maru"/>
                <a:ea typeface="Kosugi Maru"/>
                <a:cs typeface="Kosugi Maru"/>
                <a:sym typeface="Kosugi Maru"/>
              </a:rPr>
              <a:t>課題０、１</a:t>
            </a: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を提出頂いていない方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2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※Day3からZoomのリンクが変わります。</a:t>
            </a:r>
            <a:endParaRPr b="0" i="0" sz="2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69" name="Google Shape;869;p7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70" name="Google Shape;870;p76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ＤＡＹ３のご案内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71" name="Google Shape;871;p7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2" name="Google Shape;872;p76"/>
          <p:cNvSpPr txBox="1"/>
          <p:nvPr/>
        </p:nvSpPr>
        <p:spPr>
          <a:xfrm>
            <a:off x="1387675" y="1234138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日時：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3</a:t>
            </a: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月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13</a:t>
            </a: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日（金）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ja" sz="30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21:30〜</a:t>
            </a:r>
            <a:endParaRPr b="0" i="0" sz="30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73" name="Google Shape;873;p76"/>
          <p:cNvSpPr txBox="1"/>
          <p:nvPr/>
        </p:nvSpPr>
        <p:spPr>
          <a:xfrm>
            <a:off x="1008150" y="2568813"/>
            <a:ext cx="71277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テーマ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" sz="405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育脳に大切な３つの取り組み</a:t>
            </a:r>
            <a:endParaRPr b="0" i="0" sz="425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74" name="Google Shape;874;p76"/>
          <p:cNvSpPr txBox="1"/>
          <p:nvPr/>
        </p:nvSpPr>
        <p:spPr>
          <a:xfrm>
            <a:off x="3331775" y="4312975"/>
            <a:ext cx="5539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ja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次回もリアルタイムでお待ちしております</a:t>
            </a:r>
            <a:endParaRPr b="0" i="0" sz="15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81" name="Google Shape;881;p7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82" name="Google Shape;882;p77"/>
          <p:cNvSpPr txBox="1"/>
          <p:nvPr/>
        </p:nvSpPr>
        <p:spPr>
          <a:xfrm>
            <a:off x="350275" y="303900"/>
            <a:ext cx="8443500" cy="4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ja" sz="31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チャレンジワークが後２シーンあります❣</a:t>
            </a:r>
            <a:endParaRPr b="0" i="0" sz="31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ja" sz="3100" u="none" cap="none" strike="noStrike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endParaRPr b="0" i="0" sz="3100" u="none" cap="none" strike="noStrike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スペシャル補講ライブ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　　決定！！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ja" sz="31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⭐1月22日(木)20時50分～30分程度</a:t>
            </a:r>
            <a:endParaRPr b="0" i="0" sz="31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89" name="Google Shape;889;p7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90" name="Google Shape;890;p7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ja" sz="26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リアルタイム参加特典</a:t>
            </a:r>
            <a:endParaRPr b="0" i="0" sz="26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91" name="Google Shape;891;p7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2" name="Google Shape;892;p78"/>
          <p:cNvSpPr txBox="1"/>
          <p:nvPr/>
        </p:nvSpPr>
        <p:spPr>
          <a:xfrm>
            <a:off x="1387675" y="2039400"/>
            <a:ext cx="6368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Zoomのチャットに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リンクを貼ります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99" name="Google Shape;899;p7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900" name="Google Shape;900;p79"/>
          <p:cNvSpPr txBox="1"/>
          <p:nvPr/>
        </p:nvSpPr>
        <p:spPr>
          <a:xfrm>
            <a:off x="1387650" y="2062300"/>
            <a:ext cx="63687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ja" sz="4400" u="none" cap="none" strike="noStrike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質問タイム</a:t>
            </a:r>
            <a:endParaRPr b="0" i="0" sz="4400" u="none" cap="none" strike="noStrike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