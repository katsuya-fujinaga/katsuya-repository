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</p:sldIdLst>
  <p:sldSz cy="5143500" cx="9144000"/>
  <p:notesSz cx="6858000" cy="9144000"/>
  <p:embeddedFontLst>
    <p:embeddedFont>
      <p:font typeface="M PLUS Rounded 1c Light"/>
      <p:regular r:id="rId101"/>
      <p:bold r:id="rId102"/>
    </p:embeddedFont>
    <p:embeddedFont>
      <p:font typeface="Kosugi Maru"/>
      <p:regular r:id="rId10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4" roundtripDataSignature="AMtx7minnMnncXUrUD3CblbR3LgZkxjy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4" Type="http://customschemas.google.com/relationships/presentationmetadata" Target="meta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KosugiMaru-regular.fntdata"/><Relationship Id="rId102" Type="http://schemas.openxmlformats.org/officeDocument/2006/relationships/font" Target="fonts/MPLUSRounded1cLight-bold.fntdata"/><Relationship Id="rId101" Type="http://schemas.openxmlformats.org/officeDocument/2006/relationships/font" Target="fonts/MPLUSRounded1cLight-regular.fntdata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qno.mamaaka.com/p/kbt2" TargetMode="Externa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会社員x主婦という普通の家庭でも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子どもがお医者さんになった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”楽育メソッド”を初公開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自宅でできる濃密コミュニケーションで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6歳までに未来を決める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賢い子を楽しく育てる専門家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育脳子育てカウンセラー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５日間チャレンジプログラムにご参加いただきまして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/>
              <a:t>誠にありがとうございます。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このイベントでナビゲーターを務めます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秋山と申します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どうぞよろしくお願い致します。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このお仕事は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賢い子を育てるサポートをしつつ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ママの子育てをどんどんラクにすることで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何年経っても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お客様とハッピーな関係を保って感謝され続ける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今注目＆おすすめの働き方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５日間のチャレンジでお伝えしていきますので、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ぜひ最後までご参加くださいね！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こんなふうに感じていただけたら嬉しいです</a:t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今日もライブに参加してくださって、本当にありがたいです。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そんなみなさんにお答えしたくて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精一杯学びになるようお伝えしていますが・・・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「この３日間、学びが多かった！」で終わって欲しくないんです。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それは、、、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</a:t>
            </a:r>
            <a:endParaRPr sz="1000"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みなさんもご経験があると思います。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Youtubeとかで「え、これすごい！やってみよう」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と思って、続いていること、どのくらいあるでしょうか？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学んだことや得た情報を元に、客観的に状況をみながら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実践し続けて、初めて、理想が現実になってきます。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でもそれをやるのが、結構難しかったりしますよね。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なので、理想を達成させるためのオススメ行動を２つ、ご紹介しておきますね。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１つ目は「理想の未来を意識する」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と言うことです。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これはDay2のハッピーサイクルの話のところで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家庭内がハッピー、子どもも賢くなったとして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その先、どうなりたいですか？　と皆さんに聞きました。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ママは・・・子育てが楽になって、できた時間で、趣味、仕事、親孝行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いろんなことができそうですよね。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子どもは・・・企業の成長が見込めなくても、政治が頼りなくても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自分で未来を切り開ける人間に成長してくれたら、とても頼もしいですよね。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パパは・・・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なんか最近家族の雰囲気がすごくいいな〜、と雰囲気が変わったことについて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ママに一層感謝の気持ちを示してくれたり、夫婦の仲も、より心が近いものになるかも、知れません。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このように、より鮮明に理想の未来を意識することで、あなたの行動レベルが上がって行くんです。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２つ目は「</a:t>
            </a: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成功しやすい環境を手にいれる</a:t>
            </a:r>
            <a:r>
              <a:rPr lang="ja" sz="1300">
                <a:solidFill>
                  <a:schemeClr val="dk1"/>
                </a:solidFill>
              </a:rPr>
              <a:t>」　と言うことです。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ちなみに・・・今回のチャレンジで、ワークや課題で自分以外のママの考えをみて、どう感じましたか？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参考になった！自分と違う考えで学びがあったと言う方は①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参考にならなかったと言う方は②　　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でチャットに送ってください。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いろんな意見を知ると多角的に物事をみれたり、自分に合った方法を見つけやすかったりします。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また、自分と似た状況の他の誰かがいることで、一緒に頑張っている、と感じると、孤独感がなくなったり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やり続ける力を得られることもあります。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一人でやるのは難しい、自信がない、、これまでそういうの続かなかった、と言う人は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ぜひ成功の環境を手に入れると良いですね。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2" name="Google Shape;192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Day2でこんなことを聞きましたが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実はどっちになりやすいか、について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”起点”みたいなものがあります</a:t>
            </a:r>
            <a:endParaRPr sz="1300"/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ハッピーサイクルを目指していくとして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どうやってこのサイクルを実現していくか、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ここが重要ですね！</a:t>
            </a:r>
            <a:endParaRPr sz="1300"/>
          </a:p>
        </p:txBody>
      </p:sp>
      <p:sp>
        <p:nvSpPr>
          <p:cNvPr id="226" name="Google Shape;226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サイクルの別れ道は、ご想像の通りですが、その”起点”はママのイライラだったりします。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でも、これって仕方なくないですか？？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あれこれやることがあって、そこで散らかされると「イラっ💢」と感情的になりますよね、人間ですからw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でも一方で、大好きで大切な子どもに、イライラをぶつけちゃった・・・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私ってダメなママだ・・・と言うことで、自己嫌悪に陥って、自己肯定感も下がって・・・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そんなふうになりやすいんです。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だから、そんな気持ちを軽減する方法を、身につけると良いですよね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5" name="Google Shape;23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まず、サイクルのお悩みポイント①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こんなふうに、子どもの行動が”好き勝手がすぎる”　と言うこともあります。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のびのび育てて上げたい。でも好き勝手やらせると、言うこと聞かなくなるし、悩みますよね。。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のびのび育てて、自分のやりたいことを思い切りやって、人生を楽しんで欲しい。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その一方で、生活環境が広がるにつれて、広い社会や人間関係でルールを受け入れて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できればトラブルが少なく人生を楽しんで欲しい。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ママは子どもの成長や幸せな人生を願ってます。だけど「のびのび」と「やりたい放題」のバランスが分からない！（＞＜）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そうですよね。。だから悩んじゃいますよね。。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5" name="Google Shape;245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そして、サイクルのお悩みポイント②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子どもにしっかり時間をかけて、非認知能力を育ててあげたいのに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仕事も、家事も忙しくって、ちゃんと時間かけられない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私ってダメなママだ・・・と思ってしまう。。。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5" name="Google Shape;255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こんなふうに表せますね。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はい、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これが今日の３つなんです^^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ではいきましょう！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74" name="Google Shape;274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育脳マインド、育脳ルーティン、1秒育脳®️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ママが気持ち的にも、時間的にも”ラク”になってもらうために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磨き続けた”楽育”をお伝えしていきますので、楽しみしてくださいね！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では、いきます〜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89" name="Google Shape;289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まずはここから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9" name="Google Shape;299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・疲れやストレス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・完璧な親であるべきというプレッシャーだったり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・キャリアと天秤にかけて他者と比べて焦るなど、自分の時間や自己実現の欲求との葛藤だったり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・子どもが成長すると接し方、対処法が変わって、また伝え方変えるの？とため息が出たり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いろいろありますが・・・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15" name="Google Shape;315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言い方を工夫するけど、言ったことが伝わらないこと、よくありませんか？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理解力もまだまだ幼くて開発途中ですから、それはある意味、仕方がないことでもあります。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5" name="Google Shape;325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わからない時に、無理に理解しようとしなくてOKです。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赤ちゃん、子どもは、基本的に意味不明な生き物です。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さらに言うと・・・子どもの方もパパやママのことを、意味不明な生き物と思って生きています。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だから、、割り切りましょう！ということなんですね！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では、どうすればいいか？、、、気になりますよね？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5" name="Google Shape;335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48" name="Google Shape;348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赤ちゃんや子どもの行動や思考はこの2つ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①ママの気を引きたい　②これなんだろう？触ってみるか、と言う好奇心の探求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指の感覚、味見、など、生物的に感覚の発達を促すのも、ここに含まれます。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なのでこの原理を抑えつつ、”育脳”を意識して子どもの様子をみてみましょう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8" name="Google Shape;358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そのような視点でみるだけでも、イライラがかなり軽減されます。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皆さん、一昨日のDay2のワークでも少し感じませんでしたか？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育脳視点で考えるには、例えば・・・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感覚の訓練をしている？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とことん探求しようとしている？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パターン（ルール）を学ぼうとしている？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　　   ルールを守ろうとしている？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真似（模倣）しようとしている？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挑戦しようとしている？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子どもの真の気持ちを理解することは難しくても、脳の発達目線で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「この発達に繋がっているかも」と考えるだけでも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子どもの行動を肯定することに繋がります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8" name="Google Shape;368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ただ、絶対に育脳マインドで、いなきゃいけない！　という考え方は危険です！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ママの気持ちを楽にするのが最優先、こういうやり方もあるよね！　くらいから徐々に始めてくださいね。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時には怒りが爆発したって仕方ないです、人間ですからw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9" name="Google Shape;379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「つま先を引っ張ったら、またつま先？」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「似たようなことをしたら、似たようなことが起きた！」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と言う予測能力も鍛えられます。</a:t>
            </a:r>
            <a:endParaRPr sz="1300"/>
          </a:p>
        </p:txBody>
      </p:sp>
      <p:sp>
        <p:nvSpPr>
          <p:cNvPr id="400" name="Google Shape;400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皆さん、ハッピーサイクルを目指していきたいですね！</a:t>
            </a:r>
            <a:endParaRPr/>
          </a:p>
        </p:txBody>
      </p:sp>
      <p:sp>
        <p:nvSpPr>
          <p:cNvPr id="412" name="Google Shape;412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次にこちらですが・・・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2" name="Google Shape;422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今日は簡単にお話だけしますね。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簡単にいうと「見境がなくなるのを抑制するのに、ルーティンをうまく使いましょう」ということなんですね。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でも、簡単にルーティン化できたら、苦労しませんよね。。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講座の中ではこの部分のバランスを、どんなステップでとっていくか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いろんな事例を紹介しながら、ハッピーサイクルに繋がる方法をお伝えしています。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今日は時間の関係で紹介だけとさせてください。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8" name="Google Shape;438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最後にこちらです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8" name="Google Shape;448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では、どうしたら、時間をかけずに非認知能力を高められるのでしょうか？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非認知能力を伸ばすのに・・・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パズルやって、絵本を読んで、マッサージもよくて。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そんな話をしましたが、、とてもじゃないけど全部やっていたら時間が足りない・・・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子どもを相手にするのは楽しいけれど、ママは全てお付き合いできるほど、暇ではありません。。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だから、子どもにしっかり時間をかけて育てたいのに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仕事も、家事も忙しくって、ちゃんと時間かけられない、私ってダメなママだ・・・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とか、そんなこと思わなくて全然大丈夫です！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時間がない、それが普通です。だから、忙しくてもサッとできる、育脳子育てがあればよくないですか？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4" name="Google Shape;464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時間もかけずに育脳するなんて、そんなことできるの？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と言うことで作っちゃいました！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4" name="Google Shape;474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それが「1秒育脳」です。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　</a:t>
            </a: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意味としては・・・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❌　１秒で完了する育脳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⭕️　１秒に刺激を込める育脳です。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実はとっても簡単なんですよー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子どもをマッサージするだけでも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名前を呼んで、手を上げてもらうだけでも、育脳になるんです！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2" name="Google Shape;482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色々と調べたり勉強して納得したのですが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そのあたりも少しお話ししますね。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91" name="Google Shape;491;p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ここがわからないと、話が繋がりませんよね？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実はシナプスの発達にはある物質が関係しています。それが、、、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99" name="Google Shape;499;p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ドーパミンです。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楽しいこと、嬉しいことがあると、分泌される脳内物質なんですね。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これが分泌されると、黒質を起点に周囲に刺激シグナルが伝播します。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この刺激がシナプスの発達に重要と言われているんです。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さらに、ドーパミンは　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・物事に対する意欲が向上したり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・何事にも積極的に取り組めるようになる　といった状態をもたらします。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この状態を脳の研究者の茂木健一郎さんは、「快の感情」と表現していらっしゃいます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08" name="Google Shape;508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では、脳力が育つ流れを見ていきましょう！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と言うことで、たった１秒の刺激で、脳の発達を促せるわけです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17" name="Google Shape;517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ということで、ワークをしながら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1秒育脳に触れていきましょう。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9" name="Google Shape;539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みんなが考えた後、次のページへ（回答）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講座でお伝えしている一部を特別にご紹介しますね。</a:t>
            </a:r>
            <a:endParaRPr sz="1300"/>
          </a:p>
        </p:txBody>
      </p:sp>
      <p:sp>
        <p:nvSpPr>
          <p:cNvPr id="547" name="Google Shape;547;p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これはまだバリエーションがあるので、１部です。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1秒育脳、どうですか？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サッと出来て、子どもが笑顔になって、さらにぐんぐん賢くなってくれる、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ということで実践いただいてる方からは、結構好評で楽しんでいただいています。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p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みんなが考えた後、次のページへ（回答）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講座でお伝えしている一部をまた、特別にご紹介しますね。</a:t>
            </a:r>
            <a:endParaRPr sz="1300"/>
          </a:p>
        </p:txBody>
      </p:sp>
      <p:sp>
        <p:nvSpPr>
          <p:cNvPr id="570" name="Google Shape;570;p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、、、みんなが考えた後、どうですか？？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こうやって考えてみるとたくさんあって、楽しいですよね！（ワークその３・省略）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次のページへ（49Pのマッサージへ）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3" name="Google Shape;583;p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みんなが考えた後、次のページへ（回答）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講座でお伝えしている一部を次のページで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特別にご紹介しますね。</a:t>
            </a:r>
            <a:endParaRPr sz="1300"/>
          </a:p>
        </p:txBody>
      </p:sp>
      <p:sp>
        <p:nvSpPr>
          <p:cNvPr id="593" name="Google Shape;593;p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みんなが考えた後、次のページへ（回答）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講座でお伝えしている一部を次のページで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特別にご紹介しますね。</a:t>
            </a:r>
            <a:endParaRPr sz="1300"/>
          </a:p>
        </p:txBody>
      </p:sp>
      <p:sp>
        <p:nvSpPr>
          <p:cNvPr id="606" name="Google Shape;606;p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さらに・・・マッサージも1秒育脳の1つ、「快の刺激」になります。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”子供の「脳」は肌にある”という本をご存知ですか？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（本の紹介）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https://www.amazon.co.jp/%E5%AD%90%E4%BE%9B%E3%81%AE%E3%80%8C%E8%84%B3%E3%80%8D%E3%81%AF%E8%82%8C%E3%81%AB%E3%81%82%E3%82%8B-%E5%85%89%E6%96%87%E7%A4%BE%E6%96%B0%E6%9B%B8-%E5%B1%B1%E5%8F%A3-%E5%89%B5/dp/4334032451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7" name="Google Shape;617;p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今日はベビーマッサージの内容は時間の関係で割愛しますが、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明日、補講でフォローさせて頂きますので、ご興味ある方は、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お子様、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小さいお子様がいらっしゃらなかったり、寝ている方は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お人形とかぬいぐるみ、タオル、でも大丈夫です。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どれかをご用意いただいて、ご参加ください。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（チャット）</a:t>
            </a:r>
            <a:endParaRPr sz="1300"/>
          </a:p>
        </p:txBody>
      </p:sp>
      <p:sp>
        <p:nvSpPr>
          <p:cNvPr id="625" name="Google Shape;625;p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ではDay3の内容に戻りますが・・・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先ほどの1秒育脳のワークやベビーマッサージ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というのは実は講座でお伝えしている、ごくごく一部です。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バリエーションもまだまだたくさんありますが、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重要なのは、どんな非認知能力に効果がありそうかな、ということなんです。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「これって、どの非認知能力に効いてるんだろう？」というのが、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どんな場面でも、自分でしっかり答えられるように、講座では学べる体制が整っています。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636" name="Google Shape;636;p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さらにちょっとお見せすると、年齢によってもお子様の状態は違うので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赤ちゃんのころは、どんな発達が著しくて・・・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２歳くらいだと、どの発達が特に活発で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４歳くらいだと、どんな能力が伸びやすくて・・・など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「年齢に合わせて　どんな1秒育脳が有効かな」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と考えられるようになっています。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より効率的に育脳ができるようになります！</a:t>
            </a:r>
            <a:endParaRPr sz="1300"/>
          </a:p>
        </p:txBody>
      </p:sp>
      <p:sp>
        <p:nvSpPr>
          <p:cNvPr id="647" name="Google Shape;647;p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今日のまとめとしては、この絵のような感じになりますね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ハッピーサイクルを生み出す育脳マインド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「やりたい放題」を上手に解消する育脳ルーティン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非認知能力をサッと伸ばす1秒育脳　というお話でした。。。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67" name="Google Shape;667;p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例えば・・・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・１秒育脳をやる時に、これでいいんだろうか、と聞きたくなりそう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・結局イライラのコントロールが難しくて、ハッピーサイクルにならないかもしれない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・MVPを作っても、旦那と意識が合わせられないんじゃないか、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・夫婦の中で子育てに対する考え方をすり合わせてないので、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　そもそも実践が難しいかもしれない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0" name="Google Shape;690;p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701" name="Google Shape;701;p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子どもが自分の手元から離れて行く前に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いったいどれだけのことをしてあげられるだろう？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	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どれだけ沢山、一緒に笑える時間を過ごすことができるだろう？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６歳までにできることをしてやりたい、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育脳という最高の贈り物をしたい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６歳を過ぎても、こんな接し方で子どもを笑顔いっぱいで育てたい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まみ先生の育脳メソッドをもっとちゃんと学びたい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712" name="Google Shape;712;p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0" name="Google Shape;720;p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9" name="Google Shape;749;p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63" name="Google Shape;763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ご想像の通りですが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その”起点”はママのイライラだったりします。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でも、これって仕方なくないですか？？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あれこれやることがあって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そこで散らかされると「イラっ💢」と感情的になりますよね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人間ですからw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でも一方で大好きで大切な子どもに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イライラをぶつけちゃった・・・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私ってダメなママだ・・・と言うことで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自己嫌悪になって、自己肯定感も下がって・・・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そんなふうになりやすいんです。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だからそんな気持ちを軽減する方法を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身につけると良いですよね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74" name="Google Shape;774;p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さらには、こんなふうに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子どもの行動が”好き勝手がすぎる”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と言うこともあります。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のびのび育てて上げたい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でも好き勝手やらせると言うこと聞かなくなるし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悩みますよね。。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のびのび育てて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自分のやりたいことを思い切りやって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人生を楽しんで欲しい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その一方で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生活環境が広がるにつれて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広い社会や人間関係でルールを受け入れて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できればトラブルが少なく人生を楽しんで欲しい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ママは子どもの成長や幸せな人生を願っている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だけど「のびのび」と「やりたい放題」の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バランスが分からない！（＞＜）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そうですよね。。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400">
                <a:solidFill>
                  <a:schemeClr val="dk1"/>
                </a:solidFill>
              </a:rPr>
              <a:t>だから悩んじゃいますよね。。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84" name="Google Shape;784;p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非認知能力を伸ばすのに・・・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パズルやって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絵本読んで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マッサージとかも有効で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そんな話をしましたが、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とてもじゃないけど全部やっていたら時間が足りない・・・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子どもを相手にするのは楽しいけれど、ママは全てお付き合いできるほど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お暇ではありません。。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だから、子どもにしっかり時間をかけて育てたいのに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仕事も、家事も忙しくって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ちゃんと時間かけられない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私ってダメなママだ・・・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とか、そんなこと思わなくて全然いいですからね！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時間がない、それが普通です。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だから、忙しくてもサッとできる育脳子育て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があればいいんです！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4" name="Google Shape;794;p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この部分がベビーマッサージ</a:t>
            </a:r>
            <a:endParaRPr sz="1300"/>
          </a:p>
        </p:txBody>
      </p:sp>
      <p:sp>
        <p:nvSpPr>
          <p:cNvPr id="804" name="Google Shape;804;p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20" name="Google Shape;820;p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34" name="Google Shape;834;p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冒頭でお伝えした通りです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44" name="Google Shape;844;p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冒頭でお伝えした通りです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5" name="Google Shape;855;p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3" name="Google Shape;863;p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p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今のあなたのライフスタイルに合わせて選べるコースもあります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9" name="Google Shape;879;p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96" name="Google Shape;896;p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07" name="Google Shape;907;p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ご主人やお子さんに相談される方もいらっしゃいます。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でも大事なのはあなたがどうしたいか、です。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本気の方はもちろん、迷ってる方もぜひ説明会でご相談ください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25" name="Google Shape;925;p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35" name="Google Shape;935;p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何かを確実に変えたいのであれば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48" name="Google Shape;948;p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63" name="Google Shape;963;p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2" name="Google Shape;972;p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📣講座の説明会お申込みはこちら📣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「育脳子育てカウンセラー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　プレミアム講座👶」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 u="sng">
                <a:solidFill>
                  <a:schemeClr val="hlink"/>
                </a:solidFill>
                <a:hlinkClick r:id="rId2"/>
              </a:rPr>
              <a:t>https://eqno.mamaaka.com/p/kbt2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予約順で先着10名様にはこのイベントだけの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特別限定価格でのご案内があります🙌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※ご家庭での子育てに活かしたい方は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「ママのための育脳マスターコース」を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お選びください。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※このタイミングで”カウンセラービジネスにも興味がある”と言う方は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「カウンセラー養成講座」も選択して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00">
                <a:solidFill>
                  <a:schemeClr val="dk1"/>
                </a:solidFill>
              </a:rPr>
              <a:t>お申し込み頂いて大丈夫です。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73" name="Google Shape;973;p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bf26dc6d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g3bf26dc6d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/>
              <a:t>私の３つの想いは伝えましたが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/>
              <a:t>実は、こんな方にぜひ来て欲しいという想いがあります。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私がこの活動を始めた理由は、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自分自身の子育ての経験にあります。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実家は遠く、夫は転勤族で、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社宅に住んでいました。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結婚8年で5回の転勤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妊娠中は全て転勤でした。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転勤の辞令は2週間前で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いつもどこへ行くかわからないという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不安がありました。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また、夫の帰りは遅く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22時より早く帰ることは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月に一度だけでした。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周りには人もいて、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挨拶を交わす相手もいましたし、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日常的な会話もありました。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1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表から見れば、</a:t>
            </a:r>
            <a:endParaRPr sz="11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決して孤立しているようには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見えなかったと思います。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それでも、子育てはワンオペでした。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毎日、目の前の子どもと向き合いながら、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「誰かに聞いてみたいけれど、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　本音は言えない」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そんな気持ちを、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ずっと心の中にしまい込んでいました。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雑談はできても、本音は言えない。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社宅だからこそ、弱音を吐きづらい。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ちゃんとした母親でいなければいけない。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そう思えば思うほど、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気持ちは「一人で頑張る」方向に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向かっていきました。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でも今なら、はっきり分かります。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あのとき私に必要だったのは、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正解でも、立派なアドバイスでもなく、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「話してもいい場所」と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「そのまま受け止めてくれる人」でした。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だから私は、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親子をサポートしたいと思いました。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ママが一人で抱え込まなくていいように。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「こんなことを話してもいいんだ」と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思える場所をつくりたい。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その想いから生まれたのが、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育脳子育てカウンセラーです。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完璧でなくていい。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うまくできなくてもいい。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ママの毎日に、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そっと寄り添える存在がいるだけで、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子育ては少しずつ変わっていく。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私は、そう信じています。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私が目指しているのは、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ママが笑顔になることで、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子どもとの関係が変わり、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家庭の空気が変わり、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その先の未来が、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少しずつやさしくなっていく社会です。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ただ、私一人の力には限界があります。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だからこそ、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同じ想いを持つ人と一緒に、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親子を支える輪を広げていきたいと思っています。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育脳子育てカウンセラーを育てることは、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子育ての悩みを、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一人で耐えるものから、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支え合っていいものへと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変えていくことだと思っています。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私の想いと皆さんの想いが重なって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50">
                <a:solidFill>
                  <a:srgbClr val="242424"/>
                </a:solidFill>
                <a:latin typeface="Meiryo"/>
                <a:ea typeface="Meiryo"/>
                <a:cs typeface="Meiryo"/>
                <a:sym typeface="Meiryo"/>
              </a:rPr>
              <a:t>共感していただける方、お待ちしています！</a:t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42424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4" name="Google Shape;984;g3bf26dc6db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p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2" name="Google Shape;992;p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講座の具体的な内容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カリキュラム・スケジュール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サポート内容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を説明したあとで、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購入を希望される場合は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講座に申し込んで頂ければと思います。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※無理に講座をすすめたり、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販売することは絶対にしません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ご安心ください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8" name="Google Shape;1018;p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p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詳細は説明会でお伝えします。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8" name="Google Shape;1028;p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p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文部科学省が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昨年の12月25日に公表した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保護者が支出した１年間・子供一人当たりの学習費総額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のうち、学校以外の補助学習費をまとめたものです。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（ピアノ、とかスポーツ教室とかはここには含まれていません）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いわゆる学習塾とか早期教育などの費用ですね。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しかもこれ、全国平均です。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上が公立の学校に通わせているご家庭の平均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したが私立の学校に通わせているご家庭の平均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かける３　とか表示されているのは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幼稚園、小学校、中学校、高校の年数ですね。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一人のお子さまあたり、このお金がかかってくる、ということです。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単位は”万”ですね。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208万円とか、362万円とか。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かなりの金額ですよね。。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お子様の人数が2人だとこの2倍、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3人だとこの3倍かかります。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自分の子育てと比べて、後から気付いたことですが、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子供達は大学の受験前の1年だけ塾に通わせたので、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かかったのは20万とかそのくらいだったのですが、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育脳子育てのおかげで、学力的についていけないとか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そんなことはぜーんぜんありませんでした。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事実、3人とも大学を出て、医者、幼稚園教諭、IT関連会社に就職、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と自分がやりたい職業を自分で選んでその道に進んでいますし。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なので、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育脳で子育てすると180万くらいは節約できていたんですよね。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我が家は3人なので540万円くらいですか。。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そのお金が浮いてた、と考えると、とても嬉しいですし、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逆にそのお金がもしかかっていたら、と考えると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ゾッとしてしまいます。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私の講座は、有料ではありますが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必ずかかってくるこれらの学習費用を最小に抑えたい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という想いもこめております。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現実問題として、これは必ず発生しますので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ぜひ、ご自身やご主人様とも調べてみてくださいね！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大切なので、もう一度言いますが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必ず発生しますからご注意くださいね。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しかも高校の後には大学が控えていますからね！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さらに・・・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幼少期に育脳で育てておけば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親子関係もずっといいですけれど、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途中から塾とか、そういうところへ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無理やり行かせると、関係がどうなるか？というのは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結構ばらつきますからね、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はい、では講座説明を事務局さんからしてもらいますね。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36" name="Google Shape;1036;p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育脳系のスクール（モンテッソーリ教室）などの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「６ヶ月　99万円」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ベビーパークさん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	２歳児クラスで2万円/月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６歳までやると96万円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などと比べると遥かに家計に優しい料金設定です。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5" name="Google Shape;1055;p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p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2" name="Google Shape;1072;p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p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まみさんへふる</a:t>
            </a:r>
            <a:endParaRPr/>
          </a:p>
        </p:txBody>
      </p:sp>
      <p:sp>
        <p:nvSpPr>
          <p:cNvPr id="1083" name="Google Shape;1083;p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p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4" name="Google Shape;1094;p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4" name="Google Shape;1104;p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p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6" name="Google Shape;1116;p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p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0" name="Google Shape;1140;p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p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2" name="Google Shape;1152;p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6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" name="Google Shape;13;p96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" name="Google Shape;14;p9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7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" name="Google Shape;17;p9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8" name="Google Shape;18;p97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" name="Google Shape;19;p97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9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8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98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" name="Google Shape;24;p98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98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9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9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99"/>
          <p:cNvSpPr txBox="1"/>
          <p:nvPr>
            <p:ph idx="1" type="body"/>
          </p:nvPr>
        </p:nvSpPr>
        <p:spPr>
          <a:xfrm>
            <a:off x="623888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9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99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9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10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" name="Google Shape;36;p10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7" name="Google Shape;37;p100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100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10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1"/>
          <p:cNvSpPr txBox="1"/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101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43" name="Google Shape;43;p101"/>
          <p:cNvSpPr txBox="1"/>
          <p:nvPr>
            <p:ph idx="2" type="body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" name="Google Shape;44;p101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45" name="Google Shape;45;p101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6" name="Google Shape;46;p101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101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10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2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102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" name="Google Shape;52;p102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10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3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103"/>
          <p:cNvSpPr txBox="1"/>
          <p:nvPr>
            <p:ph idx="1" type="body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365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indent="-3365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57" name="Google Shape;57;p103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3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103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0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4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104"/>
          <p:cNvSpPr/>
          <p:nvPr>
            <p:ph idx="2" type="pic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4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4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04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0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105"/>
          <p:cNvSpPr txBox="1"/>
          <p:nvPr>
            <p:ph idx="1" type="body"/>
          </p:nvPr>
        </p:nvSpPr>
        <p:spPr>
          <a:xfrm rot="5400000">
            <a:off x="2940301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1" name="Google Shape;71;p105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105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10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6"/>
          <p:cNvSpPr txBox="1"/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06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7" name="Google Shape;77;p106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06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0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365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3" name="Google Shape;83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5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5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Relationship Id="rId4" Type="http://schemas.openxmlformats.org/officeDocument/2006/relationships/image" Target="../media/image1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jpg"/><Relationship Id="rId4" Type="http://schemas.openxmlformats.org/officeDocument/2006/relationships/image" Target="../media/image1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jpg"/><Relationship Id="rId4" Type="http://schemas.openxmlformats.org/officeDocument/2006/relationships/image" Target="../media/image2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9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8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8.jpg"/><Relationship Id="rId4" Type="http://schemas.openxmlformats.org/officeDocument/2006/relationships/image" Target="../media/image21.jpg"/><Relationship Id="rId5" Type="http://schemas.openxmlformats.org/officeDocument/2006/relationships/image" Target="../media/image34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2.jpg"/><Relationship Id="rId4" Type="http://schemas.openxmlformats.org/officeDocument/2006/relationships/image" Target="../media/image38.jpg"/><Relationship Id="rId5" Type="http://schemas.openxmlformats.org/officeDocument/2006/relationships/image" Target="../media/image4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3.jpg"/><Relationship Id="rId4" Type="http://schemas.openxmlformats.org/officeDocument/2006/relationships/image" Target="../media/image37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9.jpg"/><Relationship Id="rId4" Type="http://schemas.openxmlformats.org/officeDocument/2006/relationships/image" Target="../media/image47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9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0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6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jpg"/><Relationship Id="rId4" Type="http://schemas.openxmlformats.org/officeDocument/2006/relationships/image" Target="../media/image14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48.png"/><Relationship Id="rId4" Type="http://schemas.openxmlformats.org/officeDocument/2006/relationships/hyperlink" Target="https://global.honda/jp/stories/105.html" TargetMode="External"/><Relationship Id="rId5" Type="http://schemas.openxmlformats.org/officeDocument/2006/relationships/image" Target="../media/image44.jpg"/><Relationship Id="rId6" Type="http://schemas.openxmlformats.org/officeDocument/2006/relationships/image" Target="../media/image52.jpg"/><Relationship Id="rId7" Type="http://schemas.openxmlformats.org/officeDocument/2006/relationships/image" Target="../media/image51.jpg"/><Relationship Id="rId8" Type="http://schemas.openxmlformats.org/officeDocument/2006/relationships/image" Target="../media/image54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5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9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5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3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15425" y="3896950"/>
            <a:ext cx="529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５日間チャレンジ</a:t>
            </a:r>
            <a:endParaRPr b="1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236800" y="3670900"/>
            <a:ext cx="308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ja" sz="5500" u="sng" cap="none" strike="noStrike">
                <a:solidFill>
                  <a:srgbClr val="EF84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ＤＡＹ３</a:t>
            </a:r>
            <a:endParaRPr b="1" i="0" sz="5500" u="sng" cap="none" strike="noStrike">
              <a:solidFill>
                <a:srgbClr val="EF84C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75" y="713675"/>
            <a:ext cx="4484925" cy="24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800" y="713675"/>
            <a:ext cx="4382500" cy="23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チャレンジ中のお約束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１）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画面オンは無理のない範囲でご参加ください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２）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チャット欄、リアクションボタンを使ってアウトプットすると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学びがより深まります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３）</a:t>
            </a:r>
            <a:endParaRPr b="0" i="0" sz="2000" u="none" cap="none" strike="noStrike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セミナー中の録音、録画、スクリーンショットの撮影は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ご遠慮ください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0" name="Google Shape;110;p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このチャレンジの目的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目的１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育脳について正しい知識を身につける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目的２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世の中のママ達をサポートすることで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成り立つカウンセラーのお仕事の可能性を学ぶ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目的３</a:t>
            </a:r>
            <a:endParaRPr b="0" i="0" sz="2000" u="none" cap="none" strike="noStrike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子育てママやお教室のお仕事からどのようにステップを進めたら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”育脳子育てカウンセラー”になれるかを学ぶ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9" name="Google Shape;119;p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0" y="442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さらに・・・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95100" y="1148588"/>
            <a:ext cx="83373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・「確かにそういうサポートは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世の中に必要だよね」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・「育脳ってお子様だけでなく、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ママにとっても大事なのね」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・「これならお仕事として成立するよね」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・「自分にもできるかも！」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・「やってみたい」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690546" y="96800"/>
            <a:ext cx="2158400" cy="26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５日間の全体像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29" name="Google Shape;129;p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5"/>
          <p:cNvSpPr txBox="1"/>
          <p:nvPr/>
        </p:nvSpPr>
        <p:spPr>
          <a:xfrm>
            <a:off x="1056825" y="1333925"/>
            <a:ext cx="76671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Day１　全体概要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Day２　"育脳"と早期教育の違い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Day３　育脳に大切な３つの取り組み</a:t>
            </a:r>
            <a:endParaRPr b="0" i="0" sz="26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Day４　育脳サービスをお仕事にする、とは？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Day５　"育脳子育てカウンセラー"になるための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        ステップ&amp;５日間のまとめ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t/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7" name="Google Shape;137;p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706875" y="1962200"/>
            <a:ext cx="79743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Ｄａｙ２の振り返り</a:t>
            </a:r>
            <a:endParaRPr b="0" i="0" sz="4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ＤＡＹ２のまとめ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47" name="Google Shape;147;p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7"/>
          <p:cNvSpPr txBox="1"/>
          <p:nvPr/>
        </p:nvSpPr>
        <p:spPr>
          <a:xfrm>
            <a:off x="1299750" y="1150438"/>
            <a:ext cx="7215600" cy="3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①脳の発達を促すには「非認知能力」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を鍛えましょう！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育脳、非認知能力の向上は</a:t>
            </a:r>
            <a:endParaRPr b="0" i="0" sz="2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ママと子どもが信頼と愛情の</a:t>
            </a:r>
            <a:endParaRPr b="0" i="0" sz="2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コミュニケーションでしっかり</a:t>
            </a:r>
            <a:endParaRPr b="0" i="0" sz="2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繋がることが大切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49" name="Google Shape;149;p7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6" name="Google Shape;156;p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1387650" y="1439150"/>
            <a:ext cx="63687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それでは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まみ先生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よろしくお願い致します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64" name="Google Shape;164;p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1387650" y="1453950"/>
            <a:ext cx="63687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本題に入る前に・・・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今日もちょっとお話が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2" name="Google Shape;172;p1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1461725" y="2030788"/>
            <a:ext cx="63687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ja" sz="5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学んだだけでは</a:t>
            </a:r>
            <a:endParaRPr b="0" i="0" sz="57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ja" sz="5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変わらない</a:t>
            </a:r>
            <a:endParaRPr b="0" i="0" sz="57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0" name="Google Shape;180;p1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75" y="2074050"/>
            <a:ext cx="3633576" cy="213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328388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理想の未来を意識する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84" name="Google Shape;184;p1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1"/>
          <p:cNvSpPr/>
          <p:nvPr/>
        </p:nvSpPr>
        <p:spPr>
          <a:xfrm>
            <a:off x="4272050" y="2571750"/>
            <a:ext cx="966000" cy="77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5429238" y="1173513"/>
            <a:ext cx="308610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ja" sz="20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？</a:t>
            </a:r>
            <a:endParaRPr b="0" i="0" sz="20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4002644" y="2134950"/>
            <a:ext cx="1504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その先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5706754" y="3879275"/>
            <a:ext cx="25311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どんな未来に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したいかな？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5" name="Google Shape;195;p1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828438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グループチャット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成功しやすい環境を手にいれる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348" y="1977460"/>
            <a:ext cx="2712900" cy="257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425" y="2044962"/>
            <a:ext cx="2444250" cy="24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4998500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ライブイベント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8" name="Google Shape;208;p1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1387650" y="1453950"/>
            <a:ext cx="6368700" cy="1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では・・・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本題に入っていきましょう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16" name="Google Shape;216;p1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475" y="2061950"/>
            <a:ext cx="4599100" cy="270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525" y="2061950"/>
            <a:ext cx="4470225" cy="262953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"/>
          <p:cNvSpPr txBox="1"/>
          <p:nvPr/>
        </p:nvSpPr>
        <p:spPr>
          <a:xfrm>
            <a:off x="816900" y="133825"/>
            <a:ext cx="75102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一応聞かせてください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ja" sz="3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どちらを希望しますか？</a:t>
            </a:r>
            <a:endParaRPr b="0" i="0" sz="3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678538" y="15633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①ハッピーサイクル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5565263" y="15633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②イライラサイクル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29" name="Google Shape;229;p1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75" y="0"/>
            <a:ext cx="8190441" cy="48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 txBox="1"/>
          <p:nvPr/>
        </p:nvSpPr>
        <p:spPr>
          <a:xfrm>
            <a:off x="816900" y="2159650"/>
            <a:ext cx="7510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8" name="Google Shape;238;p1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サイクルの別れ道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40" name="Google Shape;240;p1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1" name="Google Shape;2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100" y="1270842"/>
            <a:ext cx="7781800" cy="3405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8" name="Google Shape;248;p1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249" name="Google Shape;2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453400"/>
            <a:ext cx="8839199" cy="43644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17"/>
          <p:cNvCxnSpPr/>
          <p:nvPr/>
        </p:nvCxnSpPr>
        <p:spPr>
          <a:xfrm>
            <a:off x="461675" y="980713"/>
            <a:ext cx="3854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7"/>
          <p:cNvSpPr txBox="1"/>
          <p:nvPr/>
        </p:nvSpPr>
        <p:spPr>
          <a:xfrm>
            <a:off x="55725" y="339925"/>
            <a:ext cx="480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サイクルのお悩みポイント①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58" name="Google Shape;258;p1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373313"/>
            <a:ext cx="8839200" cy="4396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 txBox="1"/>
          <p:nvPr/>
        </p:nvSpPr>
        <p:spPr>
          <a:xfrm>
            <a:off x="309275" y="243325"/>
            <a:ext cx="480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サイクルのお悩みポイント②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61" name="Google Shape;261;p18"/>
          <p:cNvCxnSpPr/>
          <p:nvPr/>
        </p:nvCxnSpPr>
        <p:spPr>
          <a:xfrm>
            <a:off x="309275" y="828313"/>
            <a:ext cx="47475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8" name="Google Shape;268;p1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818550" y="1490800"/>
            <a:ext cx="7506900" cy="25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と言うことで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それぞれについて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取り組み方を考えましょう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70" name="Google Shape;2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291650" y="2201300"/>
            <a:ext cx="1573475" cy="25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77" name="Google Shape;277;p2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まとめると・・・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79" name="Google Shape;279;p20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0" name="Google Shape;2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00" y="67605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 txBox="1"/>
          <p:nvPr/>
        </p:nvSpPr>
        <p:spPr>
          <a:xfrm>
            <a:off x="4139225" y="1022950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82" name="Google Shape;2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825" y="2301850"/>
            <a:ext cx="2471038" cy="122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 txBox="1"/>
          <p:nvPr/>
        </p:nvSpPr>
        <p:spPr>
          <a:xfrm>
            <a:off x="4247875" y="2389313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のびのび　と　好き勝手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のバランスを取る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84" name="Google Shape;2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8825" y="3521972"/>
            <a:ext cx="2825299" cy="14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4247875" y="3772688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時間をかけずに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非認知能力を高める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92" name="Google Shape;292;p2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本日のテーマ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94" name="Google Shape;294;p2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21"/>
          <p:cNvSpPr txBox="1"/>
          <p:nvPr/>
        </p:nvSpPr>
        <p:spPr>
          <a:xfrm>
            <a:off x="672825" y="2332650"/>
            <a:ext cx="7758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425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育脳に大切な３つの取り組み</a:t>
            </a:r>
            <a:endParaRPr b="0" i="0" sz="7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02" name="Google Shape;302;p2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ママのお悩み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04" name="Google Shape;304;p22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00" y="67605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4139225" y="1022950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07" name="Google Shape;3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825" y="2301850"/>
            <a:ext cx="2471038" cy="122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 txBox="1"/>
          <p:nvPr/>
        </p:nvSpPr>
        <p:spPr>
          <a:xfrm>
            <a:off x="4247875" y="2389313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のびのび　と　好き勝手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のバランスを取る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09" name="Google Shape;3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8825" y="3521972"/>
            <a:ext cx="2825299" cy="14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 txBox="1"/>
          <p:nvPr/>
        </p:nvSpPr>
        <p:spPr>
          <a:xfrm>
            <a:off x="4247875" y="3772688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時間をかけずに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非認知能力を高める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45275" y="655625"/>
            <a:ext cx="8038800" cy="1495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18" name="Google Shape;318;p2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19" name="Google Shape;3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2303975" y="117400"/>
            <a:ext cx="20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1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818575" y="2294050"/>
            <a:ext cx="75069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イライラの原因って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なんだろう？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28" name="Google Shape;328;p2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29" name="Google Shape;3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 txBox="1"/>
          <p:nvPr/>
        </p:nvSpPr>
        <p:spPr>
          <a:xfrm>
            <a:off x="2303975" y="117400"/>
            <a:ext cx="20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1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818550" y="1895600"/>
            <a:ext cx="75069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一番の原因は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コミュニケーション（意思疎通）</a:t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が難しいこと</a:t>
            </a:r>
            <a:endParaRPr b="0" i="0" sz="5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1875" y="2665224"/>
            <a:ext cx="2393500" cy="19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/>
          <p:nvPr/>
        </p:nvSpPr>
        <p:spPr>
          <a:xfrm>
            <a:off x="6252175" y="1699325"/>
            <a:ext cx="2487300" cy="921000"/>
          </a:xfrm>
          <a:prstGeom prst="wedgeRoundRectCallout">
            <a:avLst>
              <a:gd fmla="val -12622" name="adj1"/>
              <a:gd fmla="val 70608" name="adj2"/>
              <a:gd fmla="val 0" name="adj3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40" name="Google Shape;340;p2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41" name="Google Shape;3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2303975" y="117400"/>
            <a:ext cx="20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1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495025" y="1944100"/>
            <a:ext cx="67110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だから・・・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ja" sz="4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割り切りましょう！</a:t>
            </a:r>
            <a:endParaRPr b="0" i="0" sz="6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6025650" y="1744225"/>
            <a:ext cx="29220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よし、これはもう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わかんないやw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51" name="Google Shape;351;p2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52" name="Google Shape;3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/>
        </p:nvSpPr>
        <p:spPr>
          <a:xfrm>
            <a:off x="2303975" y="117400"/>
            <a:ext cx="20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1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1216500" y="1598950"/>
            <a:ext cx="67110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できることは・・・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ja" sz="3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育脳視点で考えてみる</a:t>
            </a:r>
            <a:endParaRPr b="0" i="0" sz="3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ja" sz="4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「育脳マインド」</a:t>
            </a:r>
            <a:endParaRPr b="0" i="0" sz="4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1" name="Google Shape;361;p2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62" name="Google Shape;3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7"/>
          <p:cNvSpPr txBox="1"/>
          <p:nvPr/>
        </p:nvSpPr>
        <p:spPr>
          <a:xfrm>
            <a:off x="2303975" y="117400"/>
            <a:ext cx="20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1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637800" y="1598950"/>
            <a:ext cx="78774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子どもの行動＆思考起点は２つ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ja" sz="3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　①ママの気を引きたい</a:t>
            </a:r>
            <a:endParaRPr b="0" i="0" sz="3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ja" sz="3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　②好奇心の探求</a:t>
            </a:r>
            <a:endParaRPr b="0" i="0" sz="3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71" name="Google Shape;371;p2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72" name="Google Shape;3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2303975" y="117400"/>
            <a:ext cx="205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1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1072450" y="2231650"/>
            <a:ext cx="7147800" cy="1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ja" sz="4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これって</a:t>
            </a:r>
            <a:endParaRPr b="0" i="0" sz="4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ja" sz="4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育脳になってるかも？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75" name="Google Shape;3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3675" y="852700"/>
            <a:ext cx="2218019" cy="192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82" name="Google Shape;382;p2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0" y="3697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要注意点！！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84" name="Google Shape;384;p29"/>
          <p:cNvCxnSpPr/>
          <p:nvPr/>
        </p:nvCxnSpPr>
        <p:spPr>
          <a:xfrm>
            <a:off x="828425" y="927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29"/>
          <p:cNvSpPr txBox="1"/>
          <p:nvPr/>
        </p:nvSpPr>
        <p:spPr>
          <a:xfrm>
            <a:off x="818550" y="1895600"/>
            <a:ext cx="7506900" cy="27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この考え方は危険です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絶対に育脳マインドで</a:t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いなきゃいけない！</a:t>
            </a:r>
            <a:endParaRPr b="0" i="0" sz="5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92" name="Google Shape;392;p3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94" name="Google Shape;394;p3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30"/>
          <p:cNvSpPr txBox="1"/>
          <p:nvPr/>
        </p:nvSpPr>
        <p:spPr>
          <a:xfrm>
            <a:off x="4215478" y="1558475"/>
            <a:ext cx="45840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①どんな発達に繋がりそうか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「育脳マインド」で考えてみましょう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例）指の感覚を鍛えているに違いない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②育脳マインドで考えたあと、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どんな行動をとるか、想像して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みましょう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例）ティッシュ箱をそっと追加する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96" name="Google Shape;3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025" y="1172113"/>
            <a:ext cx="3418559" cy="349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09962">
            <a:off x="5409412" y="3223534"/>
            <a:ext cx="3052446" cy="131475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04" name="Google Shape;404;p3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06" name="Google Shape;406;p3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31"/>
          <p:cNvSpPr txBox="1"/>
          <p:nvPr/>
        </p:nvSpPr>
        <p:spPr>
          <a:xfrm>
            <a:off x="2911499" y="1172125"/>
            <a:ext cx="5603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（参考までに）永瀬まみはこう考える</a:t>
            </a:r>
            <a:endParaRPr b="0" i="0" sz="18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・つまむ力、上に引く力加減を鍛えている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・無限に出てくるのか？探求している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・引き抜くと「シュッ」と音がするはず・・・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ほら聞こえた！　と因果関係を確かめている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これを横目に、靴下をたくさん繋げて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替わりにできないか確かめてみる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08" name="Google Shape;40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975" y="1413601"/>
            <a:ext cx="2406401" cy="245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15" name="Google Shape;415;p3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416" name="Google Shape;4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75" y="0"/>
            <a:ext cx="8190441" cy="48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2"/>
          <p:cNvSpPr txBox="1"/>
          <p:nvPr/>
        </p:nvSpPr>
        <p:spPr>
          <a:xfrm>
            <a:off x="816900" y="2159650"/>
            <a:ext cx="7510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18" name="Google Shape;418;p32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25" name="Google Shape;425;p3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ママのお悩み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27" name="Google Shape;427;p33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8" name="Google Shape;4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00" y="67605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 txBox="1"/>
          <p:nvPr/>
        </p:nvSpPr>
        <p:spPr>
          <a:xfrm>
            <a:off x="4139225" y="1022950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30" name="Google Shape;43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825" y="2301850"/>
            <a:ext cx="2471038" cy="122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3"/>
          <p:cNvSpPr txBox="1"/>
          <p:nvPr/>
        </p:nvSpPr>
        <p:spPr>
          <a:xfrm>
            <a:off x="4247875" y="2389313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のびのび　と　好き勝手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のバランスを取る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32" name="Google Shape;43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8825" y="3521972"/>
            <a:ext cx="2825299" cy="14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3"/>
          <p:cNvSpPr txBox="1"/>
          <p:nvPr/>
        </p:nvSpPr>
        <p:spPr>
          <a:xfrm>
            <a:off x="4247875" y="3772688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時間をかけずに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非認知能力を高める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667975" y="2116188"/>
            <a:ext cx="8038800" cy="1495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41" name="Google Shape;441;p3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442" name="Google Shape;4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453400"/>
            <a:ext cx="8839199" cy="43644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3" name="Google Shape;443;p34"/>
          <p:cNvCxnSpPr/>
          <p:nvPr/>
        </p:nvCxnSpPr>
        <p:spPr>
          <a:xfrm>
            <a:off x="461675" y="980713"/>
            <a:ext cx="3854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34"/>
          <p:cNvSpPr txBox="1"/>
          <p:nvPr/>
        </p:nvSpPr>
        <p:spPr>
          <a:xfrm>
            <a:off x="0" y="24025"/>
            <a:ext cx="51648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好き勝手と好奇心のバランスをとる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ja" sz="2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"育脳ルーティン"</a:t>
            </a:r>
            <a:endParaRPr b="1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51" name="Google Shape;451;p3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52" name="Google Shape;452;p35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ママのお悩み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53" name="Google Shape;453;p35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4" name="Google Shape;45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00" y="67605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5"/>
          <p:cNvSpPr txBox="1"/>
          <p:nvPr/>
        </p:nvSpPr>
        <p:spPr>
          <a:xfrm>
            <a:off x="4139225" y="1022950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イライラを軽減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56" name="Google Shape;45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825" y="2301850"/>
            <a:ext cx="2471038" cy="122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 txBox="1"/>
          <p:nvPr/>
        </p:nvSpPr>
        <p:spPr>
          <a:xfrm>
            <a:off x="4247875" y="2389313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のびのび　と　好き勝手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のバランスを取る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58" name="Google Shape;45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8825" y="3521972"/>
            <a:ext cx="2825299" cy="14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 txBox="1"/>
          <p:nvPr/>
        </p:nvSpPr>
        <p:spPr>
          <a:xfrm>
            <a:off x="4247875" y="3772688"/>
            <a:ext cx="390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時間をかけずに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非認知能力を高める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690675" y="3547700"/>
            <a:ext cx="8038800" cy="1495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67" name="Google Shape;467;p3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468" name="Google Shape;4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373313"/>
            <a:ext cx="8839200" cy="439687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6"/>
          <p:cNvSpPr txBox="1"/>
          <p:nvPr/>
        </p:nvSpPr>
        <p:spPr>
          <a:xfrm>
            <a:off x="309275" y="367100"/>
            <a:ext cx="48078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時間をかけずに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非認知能力を高めるには？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70" name="Google Shape;470;p36"/>
          <p:cNvCxnSpPr/>
          <p:nvPr/>
        </p:nvCxnSpPr>
        <p:spPr>
          <a:xfrm>
            <a:off x="429275" y="1412288"/>
            <a:ext cx="47475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77" name="Google Shape;477;p3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78" name="Google Shape;478;p37"/>
          <p:cNvSpPr txBox="1"/>
          <p:nvPr/>
        </p:nvSpPr>
        <p:spPr>
          <a:xfrm>
            <a:off x="818550" y="1721750"/>
            <a:ext cx="75069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でも考えちゃいますよね？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時間もかけずに育脳するなんて</a:t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そんなことできるの？</a:t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85" name="Google Shape;485;p3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86" name="Google Shape;486;p38"/>
          <p:cNvSpPr txBox="1"/>
          <p:nvPr/>
        </p:nvSpPr>
        <p:spPr>
          <a:xfrm>
            <a:off x="818575" y="1721300"/>
            <a:ext cx="7506900" cy="1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そこで生まれたのが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ja" sz="5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「１秒育脳®️」</a:t>
            </a:r>
            <a:endParaRPr b="0" i="0" sz="5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2686875" y="3465838"/>
            <a:ext cx="4263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意味としては・・・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❌　１秒で完了する育脳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⭕️　１秒に刺激を込める育脳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94" name="Google Shape;494;p3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818550" y="1498625"/>
            <a:ext cx="75069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そんな簡単なことで本当に脳が育つの？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わたしも同じように</a:t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疑問に思いました</a:t>
            </a:r>
            <a:endParaRPr b="0" i="0" sz="38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02" name="Google Shape;502;p4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03" name="Google Shape;503;p40"/>
          <p:cNvSpPr txBox="1"/>
          <p:nvPr/>
        </p:nvSpPr>
        <p:spPr>
          <a:xfrm>
            <a:off x="818575" y="1644238"/>
            <a:ext cx="7506900" cy="28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脳の発達には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シナプスが重要であることは学びましたが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ja" sz="3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シナプスはどうやったら</a:t>
            </a:r>
            <a:endParaRPr b="0" i="0" sz="3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ja" sz="3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発達するの？？</a:t>
            </a:r>
            <a:endParaRPr b="0" i="0" sz="3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04" name="Google Shape;50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6950" y="359475"/>
            <a:ext cx="2434524" cy="145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575" y="1070448"/>
            <a:ext cx="4156426" cy="29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12" name="Google Shape;512;p4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13" name="Google Shape;513;p41"/>
          <p:cNvSpPr txBox="1"/>
          <p:nvPr/>
        </p:nvSpPr>
        <p:spPr>
          <a:xfrm>
            <a:off x="152850" y="2091800"/>
            <a:ext cx="5806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ja" sz="5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ドーパミン</a:t>
            </a:r>
            <a:endParaRPr b="0" i="0" sz="5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ってご存知ですか？</a:t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0" name="Google Shape;520;p4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164150" y="2112750"/>
            <a:ext cx="1714200" cy="157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１秒の中に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・楽しくなる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・嬉しくなる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刺激を込める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2" name="Google Shape;522;p42"/>
          <p:cNvSpPr/>
          <p:nvPr/>
        </p:nvSpPr>
        <p:spPr>
          <a:xfrm>
            <a:off x="2387750" y="2070250"/>
            <a:ext cx="1714200" cy="157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ドーパミンが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分泌される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3" name="Google Shape;523;p42"/>
          <p:cNvSpPr/>
          <p:nvPr/>
        </p:nvSpPr>
        <p:spPr>
          <a:xfrm>
            <a:off x="4588900" y="1792450"/>
            <a:ext cx="1467000" cy="813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「快」の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信号が走る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4" name="Google Shape;524;p42"/>
          <p:cNvSpPr/>
          <p:nvPr/>
        </p:nvSpPr>
        <p:spPr>
          <a:xfrm>
            <a:off x="6363300" y="1792450"/>
            <a:ext cx="1467000" cy="813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シナプスが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育つ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5" name="Google Shape;525;p42"/>
          <p:cNvSpPr/>
          <p:nvPr/>
        </p:nvSpPr>
        <p:spPr>
          <a:xfrm>
            <a:off x="8097050" y="1792450"/>
            <a:ext cx="844800" cy="813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脳力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UP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6" name="Google Shape;526;p42"/>
          <p:cNvSpPr/>
          <p:nvPr/>
        </p:nvSpPr>
        <p:spPr>
          <a:xfrm>
            <a:off x="4588900" y="3322025"/>
            <a:ext cx="2259900" cy="813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取組み意欲の向上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積極性の向上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7" name="Google Shape;527;p42"/>
          <p:cNvSpPr/>
          <p:nvPr/>
        </p:nvSpPr>
        <p:spPr>
          <a:xfrm>
            <a:off x="7163150" y="3296725"/>
            <a:ext cx="1778700" cy="813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自ら学ぶ子に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成長する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8" name="Google Shape;528;p42"/>
          <p:cNvSpPr/>
          <p:nvPr/>
        </p:nvSpPr>
        <p:spPr>
          <a:xfrm>
            <a:off x="2008425" y="2714850"/>
            <a:ext cx="3156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2"/>
          <p:cNvSpPr/>
          <p:nvPr/>
        </p:nvSpPr>
        <p:spPr>
          <a:xfrm>
            <a:off x="4187625" y="2130875"/>
            <a:ext cx="3156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4187625" y="3373150"/>
            <a:ext cx="3156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6055900" y="2062000"/>
            <a:ext cx="3156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2"/>
          <p:cNvSpPr/>
          <p:nvPr/>
        </p:nvSpPr>
        <p:spPr>
          <a:xfrm>
            <a:off x="7781450" y="2062000"/>
            <a:ext cx="3156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6848800" y="3566263"/>
            <a:ext cx="3156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脳力が育つ流れ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35" name="Google Shape;535;p4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42" name="Google Shape;542;p4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43" name="Google Shape;543;p43"/>
          <p:cNvSpPr txBox="1"/>
          <p:nvPr/>
        </p:nvSpPr>
        <p:spPr>
          <a:xfrm>
            <a:off x="818575" y="1434950"/>
            <a:ext cx="75069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どんなことをすると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「１秒育脳®️」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になるの？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50" name="Google Shape;550;p4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51" name="Google Shape;551;p4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⭐️チャレンジワーク１⭐️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52" name="Google Shape;552;p4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44"/>
          <p:cNvSpPr txBox="1"/>
          <p:nvPr/>
        </p:nvSpPr>
        <p:spPr>
          <a:xfrm>
            <a:off x="195003" y="1142950"/>
            <a:ext cx="4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題材：名前呼び遊び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54" name="Google Shape;5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50" y="1604638"/>
            <a:ext cx="3910678" cy="179338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4"/>
          <p:cNvSpPr txBox="1"/>
          <p:nvPr/>
        </p:nvSpPr>
        <p:spPr>
          <a:xfrm>
            <a:off x="4844350" y="1210325"/>
            <a:ext cx="3981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ここから更に刺激に繋がるように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変化をつけてみましょう！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集中力、忍耐力、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聞き分ける力、目線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いろんな要素を入れて大丈夫です！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例）「さとう〜〜・・・〜」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で、ものすごく伸ばす　など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56" name="Google Shape;556;p44"/>
          <p:cNvSpPr txBox="1"/>
          <p:nvPr/>
        </p:nvSpPr>
        <p:spPr>
          <a:xfrm>
            <a:off x="195000" y="3524900"/>
            <a:ext cx="506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普通にやるだけでもお子様は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・名前を呼び終えるまで親の声に集中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・名前を呼び終えたら手をサッとあげる反応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この一連で1秒育脳になる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63" name="Google Shape;563;p4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64" name="Google Shape;564;p4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65" name="Google Shape;565;p4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6" name="Google Shape;56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63" y="1184463"/>
            <a:ext cx="8970125" cy="3468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3" name="Google Shape;573;p4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74" name="Google Shape;574;p4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⭐️チャレンジワークその２⭐️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75" name="Google Shape;575;p4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46"/>
          <p:cNvSpPr txBox="1"/>
          <p:nvPr/>
        </p:nvSpPr>
        <p:spPr>
          <a:xfrm>
            <a:off x="195003" y="1142950"/>
            <a:ext cx="4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題材：指まね遊び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77" name="Google Shape;577;p46"/>
          <p:cNvSpPr txBox="1"/>
          <p:nvPr/>
        </p:nvSpPr>
        <p:spPr>
          <a:xfrm>
            <a:off x="4844350" y="1210325"/>
            <a:ext cx="39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ここから更に刺激に繋がるように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変化をつけてみましょう！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集中力、忍耐力、見分ける力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記憶力、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いろんな要素を入れて大丈夫です！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例）両手を使う、など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78" name="Google Shape;578;p46"/>
          <p:cNvSpPr txBox="1"/>
          <p:nvPr/>
        </p:nvSpPr>
        <p:spPr>
          <a:xfrm>
            <a:off x="195000" y="3524900"/>
            <a:ext cx="4293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親の指の形をみて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自分の指をまねる遊び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集中力、模倣力、形状把握力（空間把握力）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を鍛えるのに有効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79" name="Google Shape;57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700" y="1604650"/>
            <a:ext cx="3536780" cy="17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86" name="Google Shape;586;p4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87" name="Google Shape;587;p4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88" name="Google Shape;588;p4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p47"/>
          <p:cNvSpPr txBox="1"/>
          <p:nvPr/>
        </p:nvSpPr>
        <p:spPr>
          <a:xfrm>
            <a:off x="1141700" y="1302475"/>
            <a:ext cx="6982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例えば・・・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・一瞬だけ見せて、集中力を高める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・右と左で違う形にする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・グー、チョキ、パー、の順番で出して、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順番記憶を鍛える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・人差し指と小指だけ出して、普段やらない形を作る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96" name="Google Shape;596;p4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97" name="Google Shape;597;p48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⭐️チャレンジワークその３⭐️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98" name="Google Shape;598;p4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48"/>
          <p:cNvSpPr txBox="1"/>
          <p:nvPr/>
        </p:nvSpPr>
        <p:spPr>
          <a:xfrm>
            <a:off x="195003" y="1142950"/>
            <a:ext cx="4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題材："しーっ"とクイズ🤫</a:t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949" y="1541837"/>
            <a:ext cx="1452725" cy="1875524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485400" y="3509500"/>
            <a:ext cx="4293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電車、バスなどの公共の場で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静か〜に行うことを想定したクイズ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小さい声で問題を出して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聞き取り力、イメージ力、協調性を鍛える</a:t>
            </a:r>
            <a:endParaRPr b="0" i="0" sz="1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2" name="Google Shape;602;p48"/>
          <p:cNvSpPr txBox="1"/>
          <p:nvPr/>
        </p:nvSpPr>
        <p:spPr>
          <a:xfrm>
            <a:off x="4844350" y="1210325"/>
            <a:ext cx="39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ここから更に刺激に繋がるように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変化をつけてみましょう！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集中力、イメージ力、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表現力、記憶力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いろんな要素を入れて大丈夫です！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例）複数伝える、など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09" name="Google Shape;609;p4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10" name="Google Shape;610;p4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11" name="Google Shape;611;p4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49"/>
          <p:cNvSpPr txBox="1"/>
          <p:nvPr/>
        </p:nvSpPr>
        <p:spPr>
          <a:xfrm>
            <a:off x="1141700" y="1302475"/>
            <a:ext cx="6982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例えば・・・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・逆に子供の方から出題してもらうと表現力UP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・言葉ではなく、ジェスチャーで表現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・スマホで画像を見せて、持ち主を当てさせる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公共のルールを楽しみながら覚えてもらいましょう！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13" name="Google Shape;61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4400" y="1976150"/>
            <a:ext cx="1174850" cy="16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0" name="Google Shape;620;p5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25" y="1905688"/>
            <a:ext cx="9144000" cy="1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ja" sz="4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マッサージも</a:t>
            </a:r>
            <a:endParaRPr b="0" i="0" sz="4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ja" sz="4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「快の刺激」になる</a:t>
            </a:r>
            <a:endParaRPr b="0" i="0" sz="4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8" name="Google Shape;628;p5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29" name="Google Shape;629;p5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補講ライブのご案内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30" name="Google Shape;630;p5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51"/>
          <p:cNvSpPr txBox="1"/>
          <p:nvPr/>
        </p:nvSpPr>
        <p:spPr>
          <a:xfrm>
            <a:off x="1387650" y="1473263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日時：1月24日（土）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21:00〜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32" name="Google Shape;632;p51"/>
          <p:cNvSpPr txBox="1"/>
          <p:nvPr/>
        </p:nvSpPr>
        <p:spPr>
          <a:xfrm>
            <a:off x="1008150" y="2943513"/>
            <a:ext cx="71277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ja" sz="23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特別テーマ</a:t>
            </a:r>
            <a:endParaRPr b="0" i="0" sz="2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1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ベビーマッサージ教室（ぷち）</a:t>
            </a:r>
            <a:endParaRPr b="0" i="0" sz="47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9" name="Google Shape;639;p5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40" name="Google Shape;640;p5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講座では・・・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41" name="Google Shape;641;p5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52"/>
          <p:cNvSpPr txBox="1"/>
          <p:nvPr/>
        </p:nvSpPr>
        <p:spPr>
          <a:xfrm>
            <a:off x="714275" y="1575675"/>
            <a:ext cx="80070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・１秒育脳®️の事例、バリエーション多数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・１秒育脳®️の創作方法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・どんな１秒育脳®️でどの非認知脳力を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伸ばせるか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43" name="Google Shape;643;p52"/>
          <p:cNvSpPr txBox="1"/>
          <p:nvPr/>
        </p:nvSpPr>
        <p:spPr>
          <a:xfrm>
            <a:off x="5846025" y="3977975"/>
            <a:ext cx="329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などが学べる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50" name="Google Shape;650;p5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651" name="Google Shape;65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6850" y="920875"/>
            <a:ext cx="6850151" cy="25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さらに月齢・年齢に合うように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53" name="Google Shape;653;p5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53"/>
          <p:cNvSpPr txBox="1"/>
          <p:nvPr/>
        </p:nvSpPr>
        <p:spPr>
          <a:xfrm>
            <a:off x="0" y="3529225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特に発達すること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55" name="Google Shape;655;p53"/>
          <p:cNvSpPr txBox="1"/>
          <p:nvPr/>
        </p:nvSpPr>
        <p:spPr>
          <a:xfrm>
            <a:off x="0" y="4203575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有効な</a:t>
            </a: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56" name="Google Shape;656;p53"/>
          <p:cNvSpPr/>
          <p:nvPr/>
        </p:nvSpPr>
        <p:spPr>
          <a:xfrm>
            <a:off x="2166200" y="3659200"/>
            <a:ext cx="780138" cy="331722"/>
          </a:xfrm>
          <a:prstGeom prst="flowChartTerminator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？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3"/>
          <p:cNvSpPr/>
          <p:nvPr/>
        </p:nvSpPr>
        <p:spPr>
          <a:xfrm>
            <a:off x="3911550" y="3659200"/>
            <a:ext cx="780138" cy="331722"/>
          </a:xfrm>
          <a:prstGeom prst="flowChartTerminator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？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3"/>
          <p:cNvSpPr/>
          <p:nvPr/>
        </p:nvSpPr>
        <p:spPr>
          <a:xfrm>
            <a:off x="5749450" y="3659200"/>
            <a:ext cx="780138" cy="331722"/>
          </a:xfrm>
          <a:prstGeom prst="flowChartTerminator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？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7838575" y="3659200"/>
            <a:ext cx="780138" cy="331722"/>
          </a:xfrm>
          <a:prstGeom prst="flowChartTerminator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？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3"/>
          <p:cNvSpPr/>
          <p:nvPr/>
        </p:nvSpPr>
        <p:spPr>
          <a:xfrm>
            <a:off x="2166200" y="4268563"/>
            <a:ext cx="780138" cy="331722"/>
          </a:xfrm>
          <a:prstGeom prst="flowChartTermina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3"/>
          <p:cNvSpPr/>
          <p:nvPr/>
        </p:nvSpPr>
        <p:spPr>
          <a:xfrm>
            <a:off x="3911550" y="4238550"/>
            <a:ext cx="780138" cy="331722"/>
          </a:xfrm>
          <a:prstGeom prst="flowChartTerminator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3"/>
          <p:cNvSpPr/>
          <p:nvPr/>
        </p:nvSpPr>
        <p:spPr>
          <a:xfrm>
            <a:off x="5749450" y="4268563"/>
            <a:ext cx="780138" cy="331722"/>
          </a:xfrm>
          <a:prstGeom prst="flowChartTerminator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3"/>
          <p:cNvSpPr/>
          <p:nvPr/>
        </p:nvSpPr>
        <p:spPr>
          <a:xfrm>
            <a:off x="7838575" y="4268563"/>
            <a:ext cx="780138" cy="331722"/>
          </a:xfrm>
          <a:prstGeom prst="flowChartTerminator">
            <a:avLst/>
          </a:prstGeom>
          <a:solidFill>
            <a:srgbClr val="EF8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70" name="Google Shape;670;p54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71" name="Google Shape;671;p54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Day３のまとめ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72" name="Google Shape;672;p54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3" name="Google Shape;67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00" y="676050"/>
            <a:ext cx="2921901" cy="12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4"/>
          <p:cNvSpPr txBox="1"/>
          <p:nvPr/>
        </p:nvSpPr>
        <p:spPr>
          <a:xfrm>
            <a:off x="4139225" y="1022950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育脳マインド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75" name="Google Shape;67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825" y="2301850"/>
            <a:ext cx="2471038" cy="1220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4"/>
          <p:cNvSpPr txBox="1"/>
          <p:nvPr/>
        </p:nvSpPr>
        <p:spPr>
          <a:xfrm>
            <a:off x="4247875" y="2389313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育脳ルーティン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77" name="Google Shape;67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8825" y="3521972"/>
            <a:ext cx="2825299" cy="14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4"/>
          <p:cNvSpPr txBox="1"/>
          <p:nvPr/>
        </p:nvSpPr>
        <p:spPr>
          <a:xfrm>
            <a:off x="4247875" y="3772688"/>
            <a:ext cx="39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85" name="Google Shape;685;p5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86" name="Google Shape;686;p55"/>
          <p:cNvSpPr txBox="1"/>
          <p:nvPr/>
        </p:nvSpPr>
        <p:spPr>
          <a:xfrm>
            <a:off x="1387675" y="18249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ＤＡＹ３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お疲れ様でした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93" name="Google Shape;693;p5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94" name="Google Shape;694;p5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課題３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95" name="Google Shape;695;p5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56"/>
          <p:cNvSpPr txBox="1"/>
          <p:nvPr/>
        </p:nvSpPr>
        <p:spPr>
          <a:xfrm>
            <a:off x="1232400" y="1194500"/>
            <a:ext cx="7359300" cy="3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</a:t>
            </a: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Day３のライブで一番印象に残ったことを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　教えてください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1秒育脳を考えてみてください。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＜検討のコツ＞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・1秒の中に刺激を込めましょう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・集中と反応のセットで考えましょう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20DA2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20DA2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97" name="Google Shape;697;p56"/>
          <p:cNvSpPr txBox="1"/>
          <p:nvPr/>
        </p:nvSpPr>
        <p:spPr>
          <a:xfrm>
            <a:off x="1293850" y="4136900"/>
            <a:ext cx="687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※課題の提出はフォームにお願いします！</a:t>
            </a:r>
            <a:endParaRPr b="0" i="0" sz="1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※提出期限：</a:t>
            </a:r>
            <a:r>
              <a:rPr lang="ja" sz="1900">
                <a:solidFill>
                  <a:srgbClr val="434343"/>
                </a:solidFill>
              </a:rPr>
              <a:t>3</a:t>
            </a: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ja" sz="1900">
                <a:solidFill>
                  <a:srgbClr val="434343"/>
                </a:solidFill>
              </a:rPr>
              <a:t>16</a:t>
            </a: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日（月）21:00まで</a:t>
            </a:r>
            <a:endParaRPr b="0" i="0" sz="1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04" name="Google Shape;704;p5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05" name="Google Shape;705;p5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DAY4のご案内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06" name="Google Shape;706;p5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57"/>
          <p:cNvSpPr txBox="1"/>
          <p:nvPr/>
        </p:nvSpPr>
        <p:spPr>
          <a:xfrm>
            <a:off x="1387650" y="1473263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日時：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3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月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16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日（月）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21:30〜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08" name="Google Shape;708;p57"/>
          <p:cNvSpPr txBox="1"/>
          <p:nvPr/>
        </p:nvSpPr>
        <p:spPr>
          <a:xfrm>
            <a:off x="1008150" y="2943513"/>
            <a:ext cx="71277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ja" sz="23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テーマ</a:t>
            </a:r>
            <a:endParaRPr b="0" i="0" sz="2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1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育脳サービスをお仕事にするとは？</a:t>
            </a:r>
            <a:endParaRPr b="0" i="0" sz="47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15" name="Google Shape;715;p5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16" name="Google Shape;716;p58"/>
          <p:cNvSpPr txBox="1"/>
          <p:nvPr/>
        </p:nvSpPr>
        <p:spPr>
          <a:xfrm>
            <a:off x="1387650" y="2004575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特別なご案内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75" y="376225"/>
            <a:ext cx="7464905" cy="476727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24" name="Google Shape;724;p5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25" name="Google Shape;725;p59"/>
          <p:cNvSpPr txBox="1"/>
          <p:nvPr/>
        </p:nvSpPr>
        <p:spPr>
          <a:xfrm>
            <a:off x="0" y="176775"/>
            <a:ext cx="9144000" cy="1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ja" sz="5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特別講座の</a:t>
            </a:r>
            <a:endParaRPr b="1" i="0" sz="5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ja" sz="5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ご案内</a:t>
            </a:r>
            <a:endParaRPr b="1" i="0" sz="5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726" name="Google Shape;72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375" y="176775"/>
            <a:ext cx="1339425" cy="13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76475" y="93650"/>
            <a:ext cx="1339425" cy="1354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34" name="Google Shape;734;p6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35" name="Google Shape;735;p6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選べるコース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36" name="Google Shape;736;p6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37" name="Google Shape;73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013" y="1326319"/>
            <a:ext cx="3663051" cy="185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87" y="1347176"/>
            <a:ext cx="1864654" cy="185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1425" y="1326327"/>
            <a:ext cx="1875183" cy="1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/>
        </p:nvSpPr>
        <p:spPr>
          <a:xfrm>
            <a:off x="152850" y="3400050"/>
            <a:ext cx="3663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カウンセラー養成コース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1" name="Google Shape;741;p60"/>
          <p:cNvSpPr txBox="1"/>
          <p:nvPr/>
        </p:nvSpPr>
        <p:spPr>
          <a:xfrm>
            <a:off x="4041725" y="3261600"/>
            <a:ext cx="22449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ママのための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育脳マスターコース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2" name="Google Shape;742;p60"/>
          <p:cNvSpPr txBox="1"/>
          <p:nvPr/>
        </p:nvSpPr>
        <p:spPr>
          <a:xfrm>
            <a:off x="6660313" y="3240750"/>
            <a:ext cx="20574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カウンセリングコース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3" name="Google Shape;743;p60"/>
          <p:cNvSpPr txBox="1"/>
          <p:nvPr/>
        </p:nvSpPr>
        <p:spPr>
          <a:xfrm>
            <a:off x="563436" y="4051100"/>
            <a:ext cx="3171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・育脳でお仕事したい方向け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4" name="Google Shape;744;p60"/>
          <p:cNvSpPr txBox="1"/>
          <p:nvPr/>
        </p:nvSpPr>
        <p:spPr>
          <a:xfrm>
            <a:off x="3895212" y="4071950"/>
            <a:ext cx="2742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・育脳で子育てしたい方向け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5" name="Google Shape;745;p60"/>
          <p:cNvSpPr txBox="1"/>
          <p:nvPr/>
        </p:nvSpPr>
        <p:spPr>
          <a:xfrm>
            <a:off x="6539287" y="4051100"/>
            <a:ext cx="24519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・子育てカウンセリングを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受けたい方向け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52" name="Google Shape;752;p6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53" name="Google Shape;753;p6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どんなことが学べるの？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54" name="Google Shape;754;p6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5" name="Google Shape;755;p61"/>
          <p:cNvSpPr/>
          <p:nvPr/>
        </p:nvSpPr>
        <p:spPr>
          <a:xfrm>
            <a:off x="1035800" y="1221725"/>
            <a:ext cx="2956200" cy="157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育脳のもっと詳しい座学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・非認知能力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・子どもの脳の特徴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6" name="Google Shape;756;p61"/>
          <p:cNvSpPr/>
          <p:nvPr/>
        </p:nvSpPr>
        <p:spPr>
          <a:xfrm>
            <a:off x="1035800" y="3046375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楽育メソッド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・育脳マインド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・育脳ルーティン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・ベビーマッサージ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7" name="Google Shape;757;p61"/>
          <p:cNvSpPr/>
          <p:nvPr/>
        </p:nvSpPr>
        <p:spPr>
          <a:xfrm>
            <a:off x="4249850" y="1221725"/>
            <a:ext cx="2956200" cy="585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ママのセルフマインドUP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250" y="1843074"/>
            <a:ext cx="3998300" cy="1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/>
          <p:nvPr/>
        </p:nvSpPr>
        <p:spPr>
          <a:xfrm>
            <a:off x="4249850" y="3989300"/>
            <a:ext cx="4265400" cy="828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会員サイト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ベビーマッサージ動画など（60本）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66" name="Google Shape;766;p6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67" name="Google Shape;767;p6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講座では・・・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68" name="Google Shape;768;p6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62"/>
          <p:cNvSpPr txBox="1"/>
          <p:nvPr/>
        </p:nvSpPr>
        <p:spPr>
          <a:xfrm>
            <a:off x="714275" y="1575675"/>
            <a:ext cx="80070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・１秒育脳®️の事例、バリエーション多数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・１秒育脳®️の創作方法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・どんな１秒育脳®️でどの非認知脳力を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伸ばせるか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0" name="Google Shape;770;p62"/>
          <p:cNvSpPr txBox="1"/>
          <p:nvPr/>
        </p:nvSpPr>
        <p:spPr>
          <a:xfrm>
            <a:off x="5846025" y="3977975"/>
            <a:ext cx="329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などが学べる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77" name="Google Shape;777;p6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78" name="Google Shape;778;p63"/>
          <p:cNvSpPr txBox="1"/>
          <p:nvPr/>
        </p:nvSpPr>
        <p:spPr>
          <a:xfrm>
            <a:off x="25" y="342613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ニコニコを惹き寄せる</a:t>
            </a:r>
            <a:r>
              <a:rPr b="0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"育脳マインド"</a:t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79" name="Google Shape;779;p6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0" name="Google Shape;78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100" y="1270842"/>
            <a:ext cx="7781800" cy="3405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87" name="Google Shape;787;p6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788" name="Google Shape;78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453400"/>
            <a:ext cx="8839199" cy="43644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9" name="Google Shape;789;p64"/>
          <p:cNvCxnSpPr/>
          <p:nvPr/>
        </p:nvCxnSpPr>
        <p:spPr>
          <a:xfrm>
            <a:off x="461675" y="980713"/>
            <a:ext cx="3854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p64"/>
          <p:cNvSpPr txBox="1"/>
          <p:nvPr/>
        </p:nvSpPr>
        <p:spPr>
          <a:xfrm>
            <a:off x="0" y="24025"/>
            <a:ext cx="51648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好き勝手と好奇心のバランスをとる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ja" sz="2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"育脳ルーティン"</a:t>
            </a:r>
            <a:endParaRPr b="1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97" name="Google Shape;797;p6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798" name="Google Shape;79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373313"/>
            <a:ext cx="8839200" cy="4396877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5"/>
          <p:cNvSpPr txBox="1"/>
          <p:nvPr/>
        </p:nvSpPr>
        <p:spPr>
          <a:xfrm>
            <a:off x="332325" y="48700"/>
            <a:ext cx="51783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時間をかけずに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非認知能力を高める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3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00" name="Google Shape;800;p65"/>
          <p:cNvCxnSpPr/>
          <p:nvPr/>
        </p:nvCxnSpPr>
        <p:spPr>
          <a:xfrm>
            <a:off x="429275" y="1640888"/>
            <a:ext cx="47475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07" name="Google Shape;807;p6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08" name="Google Shape;808;p6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どんなことが学べるの？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09" name="Google Shape;809;p6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66"/>
          <p:cNvSpPr/>
          <p:nvPr/>
        </p:nvSpPr>
        <p:spPr>
          <a:xfrm>
            <a:off x="1035800" y="1221725"/>
            <a:ext cx="2956200" cy="157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育脳のもっと詳しい座学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・非認知能力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・子どもの脳の特徴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11" name="Google Shape;811;p66"/>
          <p:cNvSpPr/>
          <p:nvPr/>
        </p:nvSpPr>
        <p:spPr>
          <a:xfrm>
            <a:off x="1035800" y="3046375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楽育メソッド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・育脳マインド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・育脳ルーティン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・ベビーマッサージ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12" name="Google Shape;812;p66"/>
          <p:cNvSpPr/>
          <p:nvPr/>
        </p:nvSpPr>
        <p:spPr>
          <a:xfrm>
            <a:off x="4249850" y="1221725"/>
            <a:ext cx="2956200" cy="585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ママのセルフマインドUP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813" name="Google Shape;81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250" y="1843074"/>
            <a:ext cx="3998300" cy="1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66"/>
          <p:cNvSpPr/>
          <p:nvPr/>
        </p:nvSpPr>
        <p:spPr>
          <a:xfrm>
            <a:off x="4249850" y="3989300"/>
            <a:ext cx="4265400" cy="828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会員サイト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ベビーマッサージ動画など（60本）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15" name="Google Shape;815;p66"/>
          <p:cNvSpPr/>
          <p:nvPr/>
        </p:nvSpPr>
        <p:spPr>
          <a:xfrm>
            <a:off x="866225" y="4432000"/>
            <a:ext cx="2685300" cy="45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20D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6"/>
          <p:cNvSpPr/>
          <p:nvPr/>
        </p:nvSpPr>
        <p:spPr>
          <a:xfrm>
            <a:off x="4249850" y="3884250"/>
            <a:ext cx="4351500" cy="100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20D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23" name="Google Shape;823;p6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24" name="Google Shape;824;p6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ベビーマッサージを学んだ先には？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25" name="Google Shape;825;p6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26" name="Google Shape;82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35725"/>
            <a:ext cx="8839201" cy="2252649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7"/>
          <p:cNvSpPr txBox="1"/>
          <p:nvPr/>
        </p:nvSpPr>
        <p:spPr>
          <a:xfrm>
            <a:off x="0" y="3788375"/>
            <a:ext cx="2432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講座で学ぶ</a:t>
            </a:r>
            <a:endParaRPr b="0" i="0" sz="2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動画で学ぶ</a:t>
            </a:r>
            <a:endParaRPr b="0" i="0" sz="2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28" name="Google Shape;828;p67"/>
          <p:cNvSpPr txBox="1"/>
          <p:nvPr/>
        </p:nvSpPr>
        <p:spPr>
          <a:xfrm>
            <a:off x="3433475" y="3788375"/>
            <a:ext cx="2432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認定資格を</a:t>
            </a:r>
            <a:endParaRPr b="0" i="0" sz="2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取る</a:t>
            </a:r>
            <a:endParaRPr b="0" i="0" sz="2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29" name="Google Shape;829;p67"/>
          <p:cNvSpPr txBox="1"/>
          <p:nvPr/>
        </p:nvSpPr>
        <p:spPr>
          <a:xfrm>
            <a:off x="6457950" y="3788375"/>
            <a:ext cx="2432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教室開催</a:t>
            </a:r>
            <a:endParaRPr b="0" i="0" sz="2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できる</a:t>
            </a:r>
            <a:endParaRPr b="0" i="0" sz="2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830" name="Google Shape;830;p67" title="20250418083343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3875" y="1214244"/>
            <a:ext cx="2738077" cy="20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37" name="Google Shape;837;p6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38" name="Google Shape;838;p68"/>
          <p:cNvSpPr txBox="1"/>
          <p:nvPr/>
        </p:nvSpPr>
        <p:spPr>
          <a:xfrm>
            <a:off x="25" y="-12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認定資格の事例紹介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39" name="Google Shape;839;p68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0" name="Google Shape;84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5888" y="721387"/>
            <a:ext cx="4052225" cy="405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47" name="Google Shape;847;p6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848" name="Google Shape;84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1249825"/>
            <a:ext cx="8839199" cy="270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25" y="3955468"/>
            <a:ext cx="8839199" cy="38979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6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受講生の声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51" name="Google Shape;851;p6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58" name="Google Shape;858;p7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59" name="Google Shape;859;p70"/>
          <p:cNvSpPr txBox="1"/>
          <p:nvPr/>
        </p:nvSpPr>
        <p:spPr>
          <a:xfrm>
            <a:off x="1387675" y="1254588"/>
            <a:ext cx="63687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ja" sz="5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学んだだけでは</a:t>
            </a:r>
            <a:endParaRPr b="0" i="0" sz="57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ja" sz="5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変わらない</a:t>
            </a:r>
            <a:endParaRPr b="0" i="0" sz="57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66" name="Google Shape;866;p7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67" name="Google Shape;867;p71"/>
          <p:cNvSpPr txBox="1"/>
          <p:nvPr/>
        </p:nvSpPr>
        <p:spPr>
          <a:xfrm>
            <a:off x="417976" y="1227700"/>
            <a:ext cx="3325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自分で頑張ってみます！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68" name="Google Shape;868;p7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69" name="Google Shape;869;p7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70" name="Google Shape;87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500" y="1726300"/>
            <a:ext cx="7292499" cy="21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1"/>
          <p:cNvSpPr txBox="1"/>
          <p:nvPr/>
        </p:nvSpPr>
        <p:spPr>
          <a:xfrm>
            <a:off x="481150" y="3852450"/>
            <a:ext cx="2616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「なんだ自分で　　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できるじゃん」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72" name="Google Shape;872;p71"/>
          <p:cNvSpPr txBox="1"/>
          <p:nvPr/>
        </p:nvSpPr>
        <p:spPr>
          <a:xfrm>
            <a:off x="2943975" y="3852450"/>
            <a:ext cx="2885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「あれ、なんかうまく行かない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どうしたらいいんだっけ？」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73" name="Google Shape;873;p71"/>
          <p:cNvSpPr txBox="1"/>
          <p:nvPr/>
        </p:nvSpPr>
        <p:spPr>
          <a:xfrm>
            <a:off x="5959700" y="3852450"/>
            <a:ext cx="2885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「結局何も変わらなかったな。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できると思ったのに・・」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74" name="Google Shape;874;p71"/>
          <p:cNvSpPr/>
          <p:nvPr/>
        </p:nvSpPr>
        <p:spPr>
          <a:xfrm>
            <a:off x="3098050" y="29633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71"/>
          <p:cNvSpPr/>
          <p:nvPr/>
        </p:nvSpPr>
        <p:spPr>
          <a:xfrm>
            <a:off x="5535775" y="29633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600" y="1012850"/>
            <a:ext cx="7987225" cy="3119868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83" name="Google Shape;883;p7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84" name="Google Shape;884;p72"/>
          <p:cNvSpPr txBox="1"/>
          <p:nvPr/>
        </p:nvSpPr>
        <p:spPr>
          <a:xfrm>
            <a:off x="409600" y="1143925"/>
            <a:ext cx="2537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お金がない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85" name="Google Shape;885;p7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86" name="Google Shape;886;p7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7" name="Google Shape;887;p72"/>
          <p:cNvSpPr txBox="1"/>
          <p:nvPr/>
        </p:nvSpPr>
        <p:spPr>
          <a:xfrm>
            <a:off x="409600" y="3987475"/>
            <a:ext cx="1798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「貯金とか含めて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冷静に考えてみよ」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88" name="Google Shape;888;p72"/>
          <p:cNvSpPr txBox="1"/>
          <p:nvPr/>
        </p:nvSpPr>
        <p:spPr>
          <a:xfrm>
            <a:off x="2715288" y="3987475"/>
            <a:ext cx="302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「講座とか受けるお金があったら、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旅行とかショッピングとか、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たくさんいけるじゃん」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89" name="Google Shape;889;p72"/>
          <p:cNvSpPr txBox="1"/>
          <p:nvPr/>
        </p:nvSpPr>
        <p:spPr>
          <a:xfrm>
            <a:off x="6246800" y="4023800"/>
            <a:ext cx="2612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「しまった使い込んじゃった。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このお金あったら講座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受けれたのに・・・」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90" name="Google Shape;890;p72"/>
          <p:cNvSpPr/>
          <p:nvPr/>
        </p:nvSpPr>
        <p:spPr>
          <a:xfrm>
            <a:off x="2536700" y="30508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2"/>
          <p:cNvSpPr/>
          <p:nvPr/>
        </p:nvSpPr>
        <p:spPr>
          <a:xfrm>
            <a:off x="5535675" y="30508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72"/>
          <p:cNvSpPr txBox="1"/>
          <p:nvPr/>
        </p:nvSpPr>
        <p:spPr>
          <a:xfrm>
            <a:off x="501750" y="1642525"/>
            <a:ext cx="283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学ぶ時間がない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99" name="Google Shape;899;p7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00" name="Google Shape;900;p73"/>
          <p:cNvSpPr txBox="1"/>
          <p:nvPr/>
        </p:nvSpPr>
        <p:spPr>
          <a:xfrm>
            <a:off x="417976" y="1227700"/>
            <a:ext cx="3325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またの機会にします！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01" name="Google Shape;901;p73"/>
          <p:cNvSpPr txBox="1"/>
          <p:nvPr/>
        </p:nvSpPr>
        <p:spPr>
          <a:xfrm>
            <a:off x="25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02" name="Google Shape;902;p73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3" name="Google Shape;903;p73"/>
          <p:cNvSpPr txBox="1"/>
          <p:nvPr/>
        </p:nvSpPr>
        <p:spPr>
          <a:xfrm>
            <a:off x="1637200" y="2220700"/>
            <a:ext cx="55740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今までの人生で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"またの機会"が来たこと、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ありましたでしょうか？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25" y="735974"/>
            <a:ext cx="6867249" cy="37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11" name="Google Shape;911;p7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12" name="Google Shape;912;p74"/>
          <p:cNvSpPr txBox="1"/>
          <p:nvPr/>
        </p:nvSpPr>
        <p:spPr>
          <a:xfrm>
            <a:off x="417976" y="1227700"/>
            <a:ext cx="3325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主人に相談します！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13" name="Google Shape;913;p74"/>
          <p:cNvSpPr txBox="1"/>
          <p:nvPr/>
        </p:nvSpPr>
        <p:spPr>
          <a:xfrm>
            <a:off x="25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14" name="Google Shape;914;p74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p74"/>
          <p:cNvSpPr txBox="1"/>
          <p:nvPr/>
        </p:nvSpPr>
        <p:spPr>
          <a:xfrm>
            <a:off x="313625" y="3259450"/>
            <a:ext cx="2616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「自分じゃ判断できないし、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パパにも聞いてみよ！」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16" name="Google Shape;916;p74"/>
          <p:cNvSpPr txBox="1"/>
          <p:nvPr/>
        </p:nvSpPr>
        <p:spPr>
          <a:xfrm>
            <a:off x="2788100" y="3225925"/>
            <a:ext cx="315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あなた「面白そうだから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やってみたいんだけど」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ご主人「本当にそこじゃなきゃだめ？」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「今の家事とか十分にできてないじゃん」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「お金出して、本当に稼げるの？」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17" name="Google Shape;917;p74"/>
          <p:cNvSpPr txBox="1"/>
          <p:nvPr/>
        </p:nvSpPr>
        <p:spPr>
          <a:xfrm>
            <a:off x="5824050" y="2128525"/>
            <a:ext cx="332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あなた「結局やりたいことできないじゃん」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ご主人「もっと時間をかけて考えたらって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言ってるだけだよ」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18" name="Google Shape;918;p74"/>
          <p:cNvSpPr txBox="1"/>
          <p:nvPr/>
        </p:nvSpPr>
        <p:spPr>
          <a:xfrm>
            <a:off x="5938100" y="4417250"/>
            <a:ext cx="33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「なんでわかってくれないのかなぁ…」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19" name="Google Shape;919;p74"/>
          <p:cNvSpPr/>
          <p:nvPr/>
        </p:nvSpPr>
        <p:spPr>
          <a:xfrm>
            <a:off x="5418450" y="3516200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74"/>
          <p:cNvSpPr/>
          <p:nvPr/>
        </p:nvSpPr>
        <p:spPr>
          <a:xfrm>
            <a:off x="5209025" y="1913650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74"/>
          <p:cNvSpPr/>
          <p:nvPr/>
        </p:nvSpPr>
        <p:spPr>
          <a:xfrm>
            <a:off x="2570225" y="26487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28" name="Google Shape;928;p7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29" name="Google Shape;929;p75"/>
          <p:cNvSpPr txBox="1"/>
          <p:nvPr/>
        </p:nvSpPr>
        <p:spPr>
          <a:xfrm>
            <a:off x="25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30" name="Google Shape;930;p75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1" name="Google Shape;931;p75"/>
          <p:cNvSpPr txBox="1"/>
          <p:nvPr/>
        </p:nvSpPr>
        <p:spPr>
          <a:xfrm>
            <a:off x="697050" y="901650"/>
            <a:ext cx="7418100" cy="3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ご主人やお子さんに相談される方も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いらっしゃいます。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ですが、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大事なのは</a:t>
            </a:r>
            <a:r>
              <a:rPr b="1" i="0" lang="ja" sz="2600" u="none" cap="none" strike="noStrike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「あなたがどうしたいか」</a:t>
            </a: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です。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本気の方はもちろん、迷ってる方もぜひ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説明会でご相談ください！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38" name="Google Shape;938;p7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39" name="Google Shape;939;p76"/>
          <p:cNvSpPr txBox="1"/>
          <p:nvPr/>
        </p:nvSpPr>
        <p:spPr>
          <a:xfrm>
            <a:off x="828438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グループチャット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40" name="Google Shape;940;p7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成功しやすい環境を手にいれる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41" name="Google Shape;941;p7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2" name="Google Shape;94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348" y="1977460"/>
            <a:ext cx="2712900" cy="257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425" y="2044962"/>
            <a:ext cx="2444250" cy="24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6"/>
          <p:cNvSpPr txBox="1"/>
          <p:nvPr/>
        </p:nvSpPr>
        <p:spPr>
          <a:xfrm>
            <a:off x="4998500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ライブイベント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51" name="Google Shape;951;p7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952" name="Google Shape;95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75" y="2074050"/>
            <a:ext cx="3633576" cy="2137374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77"/>
          <p:cNvSpPr txBox="1"/>
          <p:nvPr/>
        </p:nvSpPr>
        <p:spPr>
          <a:xfrm>
            <a:off x="328388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54" name="Google Shape;954;p7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理想の未来を意識する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55" name="Google Shape;955;p7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6" name="Google Shape;956;p77"/>
          <p:cNvSpPr/>
          <p:nvPr/>
        </p:nvSpPr>
        <p:spPr>
          <a:xfrm>
            <a:off x="4272050" y="2571750"/>
            <a:ext cx="966000" cy="77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77"/>
          <p:cNvSpPr txBox="1"/>
          <p:nvPr/>
        </p:nvSpPr>
        <p:spPr>
          <a:xfrm>
            <a:off x="5429238" y="1173513"/>
            <a:ext cx="308610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ja" sz="20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？</a:t>
            </a:r>
            <a:endParaRPr b="0" i="0" sz="20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58" name="Google Shape;958;p77"/>
          <p:cNvSpPr txBox="1"/>
          <p:nvPr/>
        </p:nvSpPr>
        <p:spPr>
          <a:xfrm>
            <a:off x="4002644" y="2134950"/>
            <a:ext cx="1504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その先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59" name="Google Shape;959;p77"/>
          <p:cNvSpPr txBox="1"/>
          <p:nvPr/>
        </p:nvSpPr>
        <p:spPr>
          <a:xfrm>
            <a:off x="5706754" y="3879275"/>
            <a:ext cx="25311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どんな未来に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したいかな？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66" name="Google Shape;966;p7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67" name="Google Shape;967;p78"/>
          <p:cNvSpPr txBox="1"/>
          <p:nvPr/>
        </p:nvSpPr>
        <p:spPr>
          <a:xfrm>
            <a:off x="870625" y="796475"/>
            <a:ext cx="75273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・忙しくても</a:t>
            </a:r>
            <a:r>
              <a:rPr b="0" i="0" lang="ja" sz="2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続けられる方法</a:t>
            </a: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を伝えたい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・迷ったら</a:t>
            </a:r>
            <a:r>
              <a:rPr b="0" i="0" lang="ja" sz="2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すぐに相談できる場</a:t>
            </a: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を作りたい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・同じ子育てママ達同士で</a:t>
            </a:r>
            <a:r>
              <a:rPr b="0" i="0" lang="ja" sz="2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応援し合える</a:t>
            </a:r>
            <a:endParaRPr b="0" i="0" sz="2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　コミュニティ</a:t>
            </a: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を提供したい　　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・子育てだけでなく</a:t>
            </a:r>
            <a:r>
              <a:rPr b="0" i="0" lang="ja" sz="2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ママの心のケア</a:t>
            </a: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をしたい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68" name="Google Shape;968;p7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永瀬まみが講座を運営する理由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69" name="Google Shape;969;p7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76" name="Google Shape;976;p7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77" name="Google Shape;977;p7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講座が気になる方は・・・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78" name="Google Shape;978;p7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9" name="Google Shape;979;p79"/>
          <p:cNvSpPr txBox="1"/>
          <p:nvPr/>
        </p:nvSpPr>
        <p:spPr>
          <a:xfrm>
            <a:off x="1283925" y="3109413"/>
            <a:ext cx="6368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Zoomのチャットに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リンクを貼ります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80" name="Google Shape;980;p79"/>
          <p:cNvSpPr txBox="1"/>
          <p:nvPr/>
        </p:nvSpPr>
        <p:spPr>
          <a:xfrm>
            <a:off x="1331500" y="1451538"/>
            <a:ext cx="6368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講座の個別説明会に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お申し込みください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bf26dc6db6_0_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87" name="Google Shape;987;g3bf26dc6db6_0_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88" name="Google Shape;988;g3bf26dc6db6_0_0"/>
          <p:cNvSpPr txBox="1"/>
          <p:nvPr/>
        </p:nvSpPr>
        <p:spPr>
          <a:xfrm>
            <a:off x="732950" y="2163150"/>
            <a:ext cx="82425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ja" sz="38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こんな方はぜひお待ちしています！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95" name="Google Shape;995;p8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96" name="Google Shape;996;p8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なんと今回は特別に・・・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97" name="Google Shape;997;p8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p80"/>
          <p:cNvSpPr txBox="1"/>
          <p:nvPr/>
        </p:nvSpPr>
        <p:spPr>
          <a:xfrm>
            <a:off x="1236875" y="1566970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まみ先生</a:t>
            </a:r>
            <a:r>
              <a:rPr b="0" i="0" lang="ja" sz="3000" u="none" cap="none" strike="noStrike">
                <a:solidFill>
                  <a:srgbClr val="888888"/>
                </a:solidFill>
                <a:latin typeface="Kosugi Maru"/>
                <a:ea typeface="Kosugi Maru"/>
                <a:cs typeface="Kosugi Maru"/>
                <a:sym typeface="Kosugi Maru"/>
              </a:rPr>
              <a:t>と</a:t>
            </a:r>
            <a:endParaRPr b="0" i="0" sz="3000" u="none" cap="none" strike="noStrike">
              <a:solidFill>
                <a:srgbClr val="88888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888888"/>
                </a:solidFill>
                <a:latin typeface="Kosugi Maru"/>
                <a:ea typeface="Kosugi Maru"/>
                <a:cs typeface="Kosugi Maru"/>
                <a:sym typeface="Kosugi Maru"/>
              </a:rPr>
              <a:t>子育て相談（３０分）付き</a:t>
            </a:r>
            <a:endParaRPr b="0" i="0" sz="3000" u="none" cap="none" strike="noStrike">
              <a:solidFill>
                <a:srgbClr val="88888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99" name="Google Shape;999;p80"/>
          <p:cNvSpPr txBox="1"/>
          <p:nvPr/>
        </p:nvSpPr>
        <p:spPr>
          <a:xfrm>
            <a:off x="546200" y="1068375"/>
            <a:ext cx="6798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ママのための育脳マスターコースを希望の場合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00" name="Google Shape;1000;p80"/>
          <p:cNvSpPr txBox="1"/>
          <p:nvPr/>
        </p:nvSpPr>
        <p:spPr>
          <a:xfrm>
            <a:off x="546200" y="2943138"/>
            <a:ext cx="6798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カウンセラー養成コースを希望の場合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1236875" y="3528208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マーケッター秋山</a:t>
            </a:r>
            <a:r>
              <a:rPr b="0" i="0" lang="ja" sz="3000" u="none" cap="none" strike="noStrike">
                <a:solidFill>
                  <a:srgbClr val="999999"/>
                </a:solidFill>
                <a:latin typeface="Kosugi Maru"/>
                <a:ea typeface="Kosugi Maru"/>
                <a:cs typeface="Kosugi Maru"/>
                <a:sym typeface="Kosugi Maru"/>
              </a:rPr>
              <a:t>と</a:t>
            </a:r>
            <a:endParaRPr b="0" i="0" sz="3000" u="none" cap="none" strike="noStrike">
              <a:solidFill>
                <a:srgbClr val="99999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999999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ビジネス相談（３０分）付き</a:t>
            </a:r>
            <a:endParaRPr b="0" i="0" sz="3000" u="none" cap="none" strike="noStrike">
              <a:solidFill>
                <a:srgbClr val="99999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6" name="Google Shape;1006;p81"/>
          <p:cNvCxnSpPr/>
          <p:nvPr/>
        </p:nvCxnSpPr>
        <p:spPr>
          <a:xfrm>
            <a:off x="1225550" y="745825"/>
            <a:ext cx="66144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7" name="Google Shape;1007;p81"/>
          <p:cNvSpPr txBox="1"/>
          <p:nvPr/>
        </p:nvSpPr>
        <p:spPr>
          <a:xfrm>
            <a:off x="685800" y="116972"/>
            <a:ext cx="7772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333333"/>
                </a:solidFill>
                <a:latin typeface="HiraMinPro-W3"/>
                <a:ea typeface="HiraMinPro-W3"/>
                <a:cs typeface="HiraMinPro-W3"/>
                <a:sym typeface="HiraMinPro-W3"/>
              </a:rPr>
              <a:t>プロフィール</a:t>
            </a:r>
            <a:endParaRPr b="1" i="0" sz="3600" u="none" cap="none" strike="noStrike">
              <a:solidFill>
                <a:srgbClr val="FFFFFF"/>
              </a:solidFill>
              <a:latin typeface="HiraMinPro-W3"/>
              <a:ea typeface="HiraMinPro-W3"/>
              <a:cs typeface="HiraMinPro-W3"/>
              <a:sym typeface="HiraMinPro-W3"/>
            </a:endParaRPr>
          </a:p>
        </p:txBody>
      </p:sp>
      <p:sp>
        <p:nvSpPr>
          <p:cNvPr id="1008" name="Google Shape;1008;p81"/>
          <p:cNvSpPr txBox="1"/>
          <p:nvPr/>
        </p:nvSpPr>
        <p:spPr>
          <a:xfrm>
            <a:off x="613525" y="787100"/>
            <a:ext cx="40158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図解マーケッター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Webプロデューサー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ja" sz="27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秋山 直寛</a:t>
            </a:r>
            <a:r>
              <a:rPr b="1" i="0" lang="ja" sz="16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(あきやま なおひろ)</a:t>
            </a:r>
            <a:endParaRPr b="0" i="0" sz="300" u="sng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81"/>
          <p:cNvSpPr txBox="1"/>
          <p:nvPr/>
        </p:nvSpPr>
        <p:spPr>
          <a:xfrm>
            <a:off x="613525" y="2352075"/>
            <a:ext cx="455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元</a:t>
            </a:r>
            <a:r>
              <a:rPr b="1" i="0" lang="ja" sz="2000" u="none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Honda</a:t>
            </a:r>
            <a:r>
              <a:rPr b="1" i="0" lang="ja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研究員</a:t>
            </a:r>
            <a:r>
              <a:rPr b="1" i="0" lang="ja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b="1" i="0" lang="ja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特集記事</a:t>
            </a:r>
            <a:r>
              <a:rPr b="1" i="0" lang="ja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b="1" i="0" sz="9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・100倍重力の衝撃に耐える電動建設機械開発(社長賞)</a:t>
            </a:r>
            <a:endParaRPr b="1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・スマートハウスの頭脳開発（東北大共同研究）</a:t>
            </a:r>
            <a:endParaRPr b="1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・コマツと共同でコマツ初の電動ショベルを開発</a:t>
            </a:r>
            <a:endParaRPr b="1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・海外経験（タイ、オランダ、中国、ベトナム）</a:t>
            </a:r>
            <a:endParaRPr b="1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81"/>
          <p:cNvSpPr txBox="1"/>
          <p:nvPr/>
        </p:nvSpPr>
        <p:spPr>
          <a:xfrm>
            <a:off x="613525" y="3713625"/>
            <a:ext cx="6125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000" u="sng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起業家実績</a:t>
            </a:r>
            <a:endParaRPr b="1" i="0" sz="2000" u="sng" cap="none" strike="noStrike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ja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・３年間で18案件、累計売り上げ</a:t>
            </a:r>
            <a:r>
              <a:rPr b="1" i="0" lang="ja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8000万円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ja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・ゼロスタートのビジネスを9ヶ月で</a:t>
            </a:r>
            <a:r>
              <a:rPr b="1" i="0" lang="ja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1100万円</a:t>
            </a:r>
            <a:r>
              <a:rPr b="1" i="0" lang="ja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売り上げ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ja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・Webプロモ経験ゼロビジネスを2ヶ月で</a:t>
            </a:r>
            <a:r>
              <a:rPr b="1" i="0" lang="ja" sz="1600" u="none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300万円</a:t>
            </a:r>
            <a:r>
              <a:rPr b="1" i="0" lang="ja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売り上げ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ja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・広告費年間1000万円でWebプロモーションを統括運営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1" name="Google Shape;1011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4750" y="2520487"/>
            <a:ext cx="597375" cy="62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0600" y="3126962"/>
            <a:ext cx="794351" cy="51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7028" y="949050"/>
            <a:ext cx="2123172" cy="26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9899" y="3713625"/>
            <a:ext cx="1792467" cy="14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21" name="Google Shape;1021;p8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22" name="Google Shape;1022;p8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流れとしては・・・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23" name="Google Shape;1023;p8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24" name="Google Shape;102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1715175"/>
            <a:ext cx="8839202" cy="273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31" name="Google Shape;1031;p8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32" name="Google Shape;1032;p83"/>
          <p:cNvSpPr txBox="1"/>
          <p:nvPr/>
        </p:nvSpPr>
        <p:spPr>
          <a:xfrm>
            <a:off x="1252875" y="2163150"/>
            <a:ext cx="7127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お値段が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　気になるのですが・・・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39" name="Google Shape;1039;p8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40" name="Google Shape;1040;p84"/>
          <p:cNvSpPr txBox="1"/>
          <p:nvPr/>
        </p:nvSpPr>
        <p:spPr>
          <a:xfrm>
            <a:off x="870625" y="796475"/>
            <a:ext cx="75273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0" i="0" lang="ja" sz="4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家計への負担を最小にしたい</a:t>
            </a:r>
            <a:endParaRPr b="0" i="0" sz="4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41" name="Google Shape;1041;p84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永瀬まみが講座を運営する理由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42" name="Google Shape;1042;p8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3" name="Google Shape;1043;p84"/>
          <p:cNvSpPr txBox="1"/>
          <p:nvPr/>
        </p:nvSpPr>
        <p:spPr>
          <a:xfrm>
            <a:off x="1045975" y="3347700"/>
            <a:ext cx="752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3.4 x 3 + 9.3 x 6 + 27.2 x 3 + 20.2 x 3 = </a:t>
            </a:r>
            <a:r>
              <a:rPr b="0" i="0" lang="ja" sz="40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208.2</a:t>
            </a:r>
            <a:endParaRPr b="0" i="0" sz="40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5.0 x 3 + 37.5 x 6 + 23.7 x 3 + 17.2 x 3 = </a:t>
            </a:r>
            <a:r>
              <a:rPr b="0" i="0" lang="ja" sz="40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362.7</a:t>
            </a:r>
            <a:r>
              <a:rPr b="0" i="0" lang="ja" sz="22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 </a:t>
            </a:r>
            <a:endParaRPr b="0" i="0" sz="2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44" name="Google Shape;1044;p84"/>
          <p:cNvSpPr txBox="1"/>
          <p:nvPr/>
        </p:nvSpPr>
        <p:spPr>
          <a:xfrm>
            <a:off x="354325" y="2273075"/>
            <a:ext cx="87897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　    </a:t>
            </a: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これ、なんの数字か分かりますか？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98200"/>
            <a:ext cx="8839202" cy="405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5"/>
          <p:cNvSpPr txBox="1"/>
          <p:nvPr/>
        </p:nvSpPr>
        <p:spPr>
          <a:xfrm>
            <a:off x="0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子育て費用に関する実態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51" name="Google Shape;1051;p85"/>
          <p:cNvCxnSpPr/>
          <p:nvPr/>
        </p:nvCxnSpPr>
        <p:spPr>
          <a:xfrm>
            <a:off x="828425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58" name="Google Shape;1058;p8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59" name="Google Shape;1059;p8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参考までに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60" name="Google Shape;1060;p8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61" name="Google Shape;1061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300" y="1129775"/>
            <a:ext cx="8355105" cy="353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Google Shape;106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75" y="1017350"/>
            <a:ext cx="8839204" cy="385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7"/>
          <p:cNvSpPr txBox="1"/>
          <p:nvPr/>
        </p:nvSpPr>
        <p:spPr>
          <a:xfrm>
            <a:off x="25" y="1140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費用と期待効果の比較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68" name="Google Shape;1068;p87"/>
          <p:cNvCxnSpPr/>
          <p:nvPr/>
        </p:nvCxnSpPr>
        <p:spPr>
          <a:xfrm>
            <a:off x="828450" y="7479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75" name="Google Shape;1075;p8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76" name="Google Shape;1076;p8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77" name="Google Shape;1077;p8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8" name="Google Shape;1078;p88"/>
          <p:cNvSpPr txBox="1"/>
          <p:nvPr/>
        </p:nvSpPr>
        <p:spPr>
          <a:xfrm>
            <a:off x="617775" y="1512000"/>
            <a:ext cx="7992900" cy="24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世の中の育脳サービスよりも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遥かに家計に優しい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・子どもが賢く育つ＆親子関係◎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・ママのコーチングも含まれている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79" name="Google Shape;1079;p8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永瀬まみの講座の特徴は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86" name="Google Shape;1086;p8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87" name="Google Shape;1087;p8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88" name="Google Shape;1088;p8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9" name="Google Shape;1089;p89"/>
          <p:cNvSpPr txBox="1"/>
          <p:nvPr/>
        </p:nvSpPr>
        <p:spPr>
          <a:xfrm>
            <a:off x="894200" y="1512000"/>
            <a:ext cx="7181400" cy="24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育脳子育てカウンセラーほか、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５つの教室（講座）が開催できる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・子どもが賢く育つ＆親子関係◎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・ママのコーチングも含まれている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090" name="Google Shape;1090;p8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永瀬まみの講座の特徴は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97" name="Google Shape;1097;p9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098" name="Google Shape;1098;p9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099" name="Google Shape;1099;p9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0" name="Google Shape;1100;p90"/>
          <p:cNvSpPr txBox="1"/>
          <p:nvPr/>
        </p:nvSpPr>
        <p:spPr>
          <a:xfrm>
            <a:off x="1387675" y="1532295"/>
            <a:ext cx="6368700" cy="2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お申し込み順で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ja" sz="42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先着１０名様</a:t>
            </a: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は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特別価格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ja" sz="3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でのご提供になります</a:t>
            </a:r>
            <a:endParaRPr b="0" i="0" sz="3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07" name="Google Shape;1107;p9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108" name="Google Shape;1108;p91"/>
          <p:cNvSpPr txBox="1"/>
          <p:nvPr/>
        </p:nvSpPr>
        <p:spPr>
          <a:xfrm>
            <a:off x="25" y="378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この先の大きな選択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109" name="Google Shape;1109;p91"/>
          <p:cNvCxnSpPr/>
          <p:nvPr/>
        </p:nvCxnSpPr>
        <p:spPr>
          <a:xfrm>
            <a:off x="828450" y="5193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p91"/>
          <p:cNvSpPr txBox="1"/>
          <p:nvPr/>
        </p:nvSpPr>
        <p:spPr>
          <a:xfrm>
            <a:off x="341625" y="578025"/>
            <a:ext cx="87333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①独学で育脳を学んで子育てや仕事に活かす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11" name="Google Shape;1111;p91"/>
          <p:cNvSpPr txBox="1"/>
          <p:nvPr/>
        </p:nvSpPr>
        <p:spPr>
          <a:xfrm>
            <a:off x="341625" y="2237225"/>
            <a:ext cx="82818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②講座をしっかり学ぶ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12" name="Google Shape;1112;p91"/>
          <p:cNvSpPr txBox="1"/>
          <p:nvPr/>
        </p:nvSpPr>
        <p:spPr>
          <a:xfrm>
            <a:off x="341625" y="3604725"/>
            <a:ext cx="82818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③これまでと何も変わらない生活を送る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9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19" name="Google Shape;1119;p9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120" name="Google Shape;1120;p92"/>
          <p:cNvSpPr txBox="1"/>
          <p:nvPr/>
        </p:nvSpPr>
        <p:spPr>
          <a:xfrm>
            <a:off x="25" y="378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この先の大きな選択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121" name="Google Shape;1121;p92"/>
          <p:cNvCxnSpPr/>
          <p:nvPr/>
        </p:nvCxnSpPr>
        <p:spPr>
          <a:xfrm>
            <a:off x="828450" y="5193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2" name="Google Shape;1122;p92"/>
          <p:cNvSpPr txBox="1"/>
          <p:nvPr/>
        </p:nvSpPr>
        <p:spPr>
          <a:xfrm>
            <a:off x="341625" y="578025"/>
            <a:ext cx="87333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①独学で育脳を学んで子育てや仕事に活かす</a:t>
            </a: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23" name="Google Shape;1123;p92"/>
          <p:cNvSpPr txBox="1"/>
          <p:nvPr/>
        </p:nvSpPr>
        <p:spPr>
          <a:xfrm>
            <a:off x="341625" y="2136701"/>
            <a:ext cx="82818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②講座をしっかり学ぶ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24" name="Google Shape;1124;p92"/>
          <p:cNvSpPr txBox="1"/>
          <p:nvPr/>
        </p:nvSpPr>
        <p:spPr>
          <a:xfrm>
            <a:off x="341625" y="3604725"/>
            <a:ext cx="82818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③これまでと何も変わらない生活を送る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25" name="Google Shape;1125;p92"/>
          <p:cNvSpPr/>
          <p:nvPr/>
        </p:nvSpPr>
        <p:spPr>
          <a:xfrm>
            <a:off x="1079275" y="1070113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今の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投資０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92"/>
          <p:cNvSpPr/>
          <p:nvPr/>
        </p:nvSpPr>
        <p:spPr>
          <a:xfrm>
            <a:off x="2704400" y="1070113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迷う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92"/>
          <p:cNvSpPr/>
          <p:nvPr/>
        </p:nvSpPr>
        <p:spPr>
          <a:xfrm>
            <a:off x="4329525" y="1070113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やり直しできない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92"/>
          <p:cNvSpPr/>
          <p:nvPr/>
        </p:nvSpPr>
        <p:spPr>
          <a:xfrm>
            <a:off x="7554675" y="1095238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後から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投資大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92"/>
          <p:cNvSpPr/>
          <p:nvPr/>
        </p:nvSpPr>
        <p:spPr>
          <a:xfrm>
            <a:off x="1079275" y="2611501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今の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投資有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92"/>
          <p:cNvSpPr/>
          <p:nvPr/>
        </p:nvSpPr>
        <p:spPr>
          <a:xfrm>
            <a:off x="2704400" y="2611501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正しい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育脳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92"/>
          <p:cNvSpPr/>
          <p:nvPr/>
        </p:nvSpPr>
        <p:spPr>
          <a:xfrm>
            <a:off x="4329525" y="2611488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ママも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ラク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92"/>
          <p:cNvSpPr/>
          <p:nvPr/>
        </p:nvSpPr>
        <p:spPr>
          <a:xfrm>
            <a:off x="5954650" y="2611501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後から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投資０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92"/>
          <p:cNvSpPr/>
          <p:nvPr/>
        </p:nvSpPr>
        <p:spPr>
          <a:xfrm>
            <a:off x="5942100" y="1095238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独学の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負荷大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92"/>
          <p:cNvSpPr/>
          <p:nvPr/>
        </p:nvSpPr>
        <p:spPr>
          <a:xfrm>
            <a:off x="1079275" y="4069475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今の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投資０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92"/>
          <p:cNvSpPr/>
          <p:nvPr/>
        </p:nvSpPr>
        <p:spPr>
          <a:xfrm>
            <a:off x="2746300" y="4069475"/>
            <a:ext cx="16923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何も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変わらない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92"/>
          <p:cNvSpPr/>
          <p:nvPr/>
        </p:nvSpPr>
        <p:spPr>
          <a:xfrm>
            <a:off x="4572000" y="4069475"/>
            <a:ext cx="1482900" cy="97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後から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投資大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9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43" name="Google Shape;1143;p9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144" name="Google Shape;1144;p93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ＤＡＹ４のご案内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145" name="Google Shape;1145;p9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6" name="Google Shape;1146;p93"/>
          <p:cNvSpPr txBox="1"/>
          <p:nvPr/>
        </p:nvSpPr>
        <p:spPr>
          <a:xfrm>
            <a:off x="1387650" y="1473263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日時：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3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月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16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日（月）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21:30〜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47" name="Google Shape;1147;p93"/>
          <p:cNvSpPr txBox="1"/>
          <p:nvPr/>
        </p:nvSpPr>
        <p:spPr>
          <a:xfrm>
            <a:off x="1008150" y="2955256"/>
            <a:ext cx="71277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ja" sz="23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テーマ</a:t>
            </a:r>
            <a:endParaRPr b="0" i="0" sz="2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1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育脳サービスをお仕事にする、とは？</a:t>
            </a:r>
            <a:endParaRPr b="0" i="0" sz="47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148" name="Google Shape;1148;p93"/>
          <p:cNvSpPr txBox="1"/>
          <p:nvPr/>
        </p:nvSpPr>
        <p:spPr>
          <a:xfrm>
            <a:off x="3331775" y="4312975"/>
            <a:ext cx="5539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次回もリアルタイムでお待ちしております</a:t>
            </a:r>
            <a:endParaRPr b="0" i="0" sz="15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9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55" name="Google Shape;1155;p9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156" name="Google Shape;1156;p94"/>
          <p:cNvSpPr txBox="1"/>
          <p:nvPr/>
        </p:nvSpPr>
        <p:spPr>
          <a:xfrm>
            <a:off x="1387650" y="2062300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質問タイム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