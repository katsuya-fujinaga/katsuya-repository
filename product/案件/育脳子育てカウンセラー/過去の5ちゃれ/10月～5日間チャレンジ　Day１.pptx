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7.xml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6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68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73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69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61.xml"/>
  <Override ContentType="application/vnd.openxmlformats-officedocument.presentationml.notesSlide+xml" PartName="/ppt/notesSlides/notesSlide74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75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62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70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63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72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60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64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71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66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60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69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6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71.xml"/>
  <Override ContentType="application/vnd.openxmlformats-officedocument.presentationml.slide+xml" PartName="/ppt/slides/slide41.xml"/>
  <Override ContentType="application/vnd.openxmlformats-officedocument.presentationml.slide+xml" PartName="/ppt/slides/slide67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6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7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7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65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72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64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32.xml"/>
  <Override ContentType="application/vnd.openxmlformats-officedocument.presentationml.slide+xml" PartName="/ppt/slides/slide62.xml"/>
  <Override ContentType="application/vnd.openxmlformats-officedocument.presentationml.slide+xml" PartName="/ppt/slides/slide75.xml"/>
  <Override ContentType="application/vnd.openxmlformats-officedocument.presentationml.slide+xml" PartName="/ppt/slides/slide76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63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61.xml"/>
  <Override ContentType="application/vnd.openxmlformats-officedocument.presentationml.slide+xml" PartName="/ppt/slides/slide31.xml"/>
  <Override ContentType="application/vnd.openxmlformats-officedocument.presentationml.slide+xml" PartName="/ppt/slides/slide74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1" r:id="rId4"/>
    <p:sldMasterId id="2147483672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</p:sldIdLst>
  <p:sldSz cy="5143500" cx="9144000"/>
  <p:notesSz cx="6858000" cy="9144000"/>
  <p:embeddedFontLst>
    <p:embeddedFont>
      <p:font typeface="M PLUS Rounded 1c Light"/>
      <p:regular r:id="rId83"/>
      <p:bold r:id="rId84"/>
    </p:embeddedFont>
    <p:embeddedFont>
      <p:font typeface="Kosugi Maru"/>
      <p:regular r:id="rId8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84" Type="http://schemas.openxmlformats.org/officeDocument/2006/relationships/font" Target="fonts/MPLUSRounded1cLight-bold.fntdata"/><Relationship Id="rId83" Type="http://schemas.openxmlformats.org/officeDocument/2006/relationships/font" Target="fonts/MPLUSRounded1cLight-regular.fntdata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85" Type="http://schemas.openxmlformats.org/officeDocument/2006/relationships/font" Target="fonts/KosugiMaru-regular.fntdata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46" Type="http://schemas.openxmlformats.org/officeDocument/2006/relationships/slide" Target="slides/slide40.xml"/><Relationship Id="rId45" Type="http://schemas.openxmlformats.org/officeDocument/2006/relationships/slide" Target="slides/slide39.xml"/><Relationship Id="rId80" Type="http://schemas.openxmlformats.org/officeDocument/2006/relationships/slide" Target="slides/slide74.xml"/><Relationship Id="rId82" Type="http://schemas.openxmlformats.org/officeDocument/2006/relationships/slide" Target="slides/slide76.xml"/><Relationship Id="rId81" Type="http://schemas.openxmlformats.org/officeDocument/2006/relationships/slide" Target="slides/slide75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48" Type="http://schemas.openxmlformats.org/officeDocument/2006/relationships/slide" Target="slides/slide42.xml"/><Relationship Id="rId47" Type="http://schemas.openxmlformats.org/officeDocument/2006/relationships/slide" Target="slides/slide41.xml"/><Relationship Id="rId49" Type="http://schemas.openxmlformats.org/officeDocument/2006/relationships/slide" Target="slides/slide43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73" Type="http://schemas.openxmlformats.org/officeDocument/2006/relationships/slide" Target="slides/slide67.xml"/><Relationship Id="rId72" Type="http://schemas.openxmlformats.org/officeDocument/2006/relationships/slide" Target="slides/slide66.xml"/><Relationship Id="rId31" Type="http://schemas.openxmlformats.org/officeDocument/2006/relationships/slide" Target="slides/slide25.xml"/><Relationship Id="rId75" Type="http://schemas.openxmlformats.org/officeDocument/2006/relationships/slide" Target="slides/slide69.xml"/><Relationship Id="rId30" Type="http://schemas.openxmlformats.org/officeDocument/2006/relationships/slide" Target="slides/slide24.xml"/><Relationship Id="rId74" Type="http://schemas.openxmlformats.org/officeDocument/2006/relationships/slide" Target="slides/slide68.xml"/><Relationship Id="rId33" Type="http://schemas.openxmlformats.org/officeDocument/2006/relationships/slide" Target="slides/slide27.xml"/><Relationship Id="rId77" Type="http://schemas.openxmlformats.org/officeDocument/2006/relationships/slide" Target="slides/slide71.xml"/><Relationship Id="rId32" Type="http://schemas.openxmlformats.org/officeDocument/2006/relationships/slide" Target="slides/slide26.xml"/><Relationship Id="rId76" Type="http://schemas.openxmlformats.org/officeDocument/2006/relationships/slide" Target="slides/slide70.xml"/><Relationship Id="rId35" Type="http://schemas.openxmlformats.org/officeDocument/2006/relationships/slide" Target="slides/slide29.xml"/><Relationship Id="rId79" Type="http://schemas.openxmlformats.org/officeDocument/2006/relationships/slide" Target="slides/slide73.xml"/><Relationship Id="rId34" Type="http://schemas.openxmlformats.org/officeDocument/2006/relationships/slide" Target="slides/slide28.xml"/><Relationship Id="rId78" Type="http://schemas.openxmlformats.org/officeDocument/2006/relationships/slide" Target="slides/slide72.xml"/><Relationship Id="rId71" Type="http://schemas.openxmlformats.org/officeDocument/2006/relationships/slide" Target="slides/slide65.xml"/><Relationship Id="rId70" Type="http://schemas.openxmlformats.org/officeDocument/2006/relationships/slide" Target="slides/slide64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62" Type="http://schemas.openxmlformats.org/officeDocument/2006/relationships/slide" Target="slides/slide56.xml"/><Relationship Id="rId61" Type="http://schemas.openxmlformats.org/officeDocument/2006/relationships/slide" Target="slides/slide55.xml"/><Relationship Id="rId20" Type="http://schemas.openxmlformats.org/officeDocument/2006/relationships/slide" Target="slides/slide14.xml"/><Relationship Id="rId64" Type="http://schemas.openxmlformats.org/officeDocument/2006/relationships/slide" Target="slides/slide58.xml"/><Relationship Id="rId63" Type="http://schemas.openxmlformats.org/officeDocument/2006/relationships/slide" Target="slides/slide57.xml"/><Relationship Id="rId22" Type="http://schemas.openxmlformats.org/officeDocument/2006/relationships/slide" Target="slides/slide16.xml"/><Relationship Id="rId66" Type="http://schemas.openxmlformats.org/officeDocument/2006/relationships/slide" Target="slides/slide60.xml"/><Relationship Id="rId21" Type="http://schemas.openxmlformats.org/officeDocument/2006/relationships/slide" Target="slides/slide15.xml"/><Relationship Id="rId65" Type="http://schemas.openxmlformats.org/officeDocument/2006/relationships/slide" Target="slides/slide59.xml"/><Relationship Id="rId24" Type="http://schemas.openxmlformats.org/officeDocument/2006/relationships/slide" Target="slides/slide18.xml"/><Relationship Id="rId68" Type="http://schemas.openxmlformats.org/officeDocument/2006/relationships/slide" Target="slides/slide62.xml"/><Relationship Id="rId23" Type="http://schemas.openxmlformats.org/officeDocument/2006/relationships/slide" Target="slides/slide17.xml"/><Relationship Id="rId67" Type="http://schemas.openxmlformats.org/officeDocument/2006/relationships/slide" Target="slides/slide61.xml"/><Relationship Id="rId60" Type="http://schemas.openxmlformats.org/officeDocument/2006/relationships/slide" Target="slides/slide54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69" Type="http://schemas.openxmlformats.org/officeDocument/2006/relationships/slide" Target="slides/slide63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1" Type="http://schemas.openxmlformats.org/officeDocument/2006/relationships/slide" Target="slides/slide45.xml"/><Relationship Id="rId50" Type="http://schemas.openxmlformats.org/officeDocument/2006/relationships/slide" Target="slides/slide44.xml"/><Relationship Id="rId53" Type="http://schemas.openxmlformats.org/officeDocument/2006/relationships/slide" Target="slides/slide47.xml"/><Relationship Id="rId52" Type="http://schemas.openxmlformats.org/officeDocument/2006/relationships/slide" Target="slides/slide46.xml"/><Relationship Id="rId11" Type="http://schemas.openxmlformats.org/officeDocument/2006/relationships/slide" Target="slides/slide5.xml"/><Relationship Id="rId55" Type="http://schemas.openxmlformats.org/officeDocument/2006/relationships/slide" Target="slides/slide49.xml"/><Relationship Id="rId10" Type="http://schemas.openxmlformats.org/officeDocument/2006/relationships/slide" Target="slides/slide4.xml"/><Relationship Id="rId54" Type="http://schemas.openxmlformats.org/officeDocument/2006/relationships/slide" Target="slides/slide48.xml"/><Relationship Id="rId13" Type="http://schemas.openxmlformats.org/officeDocument/2006/relationships/slide" Target="slides/slide7.xml"/><Relationship Id="rId57" Type="http://schemas.openxmlformats.org/officeDocument/2006/relationships/slide" Target="slides/slide51.xml"/><Relationship Id="rId12" Type="http://schemas.openxmlformats.org/officeDocument/2006/relationships/slide" Target="slides/slide6.xml"/><Relationship Id="rId56" Type="http://schemas.openxmlformats.org/officeDocument/2006/relationships/slide" Target="slides/slide50.xml"/><Relationship Id="rId15" Type="http://schemas.openxmlformats.org/officeDocument/2006/relationships/slide" Target="slides/slide9.xml"/><Relationship Id="rId59" Type="http://schemas.openxmlformats.org/officeDocument/2006/relationships/slide" Target="slides/slide53.xml"/><Relationship Id="rId14" Type="http://schemas.openxmlformats.org/officeDocument/2006/relationships/slide" Target="slides/slide8.xml"/><Relationship Id="rId58" Type="http://schemas.openxmlformats.org/officeDocument/2006/relationships/slide" Target="slides/slide52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drive.google.com/file/d/1_j_hrMFYtPIh4LJWE3-bcT8YnC3VMgLL/view?usp=sharing" TargetMode="External"/><Relationship Id="rId3" Type="http://schemas.openxmlformats.org/officeDocument/2006/relationships/hyperlink" Target="https://drive.google.com/file/d/17PWK1oKd7fNa3ChIEbPrgYjwdPAZo3zl/view?usp=sharing" TargetMode="External"/><Relationship Id="rId4" Type="http://schemas.openxmlformats.org/officeDocument/2006/relationships/hyperlink" Target="https://drive.google.com/file/d/1-6r8y8zILp-Ovyni-M_EXwm6EWTv3Gmj/view?usp=sharing" TargetMode="External"/></Relationships>
</file>

<file path=ppt/notesSlides/_rels/notesSlide7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2945c411de_0_8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32945c411de_0_8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200"/>
              <a:t>このどちらかを見られてここにいる</a:t>
            </a:r>
            <a:endParaRPr sz="12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200"/>
              <a:t>このお仕事は</a:t>
            </a:r>
            <a:endParaRPr sz="12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200"/>
              <a:t>	賢い子を育てるサポートをしつつ</a:t>
            </a:r>
            <a:endParaRPr sz="12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200"/>
              <a:t>	ママの子育てをどんどんラクにすることで</a:t>
            </a:r>
            <a:endParaRPr sz="12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200"/>
              <a:t>	何年経っても</a:t>
            </a:r>
            <a:endParaRPr sz="12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200"/>
              <a:t>お客様とハッピーな関係を保って感謝され続ける</a:t>
            </a:r>
            <a:endParaRPr sz="12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200"/>
              <a:t>今注目＆おすすめの働き方となっています。</a:t>
            </a:r>
            <a:endParaRPr sz="12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200"/>
              <a:t>５日間のチャレンジでお伝えしていきますので、</a:t>
            </a:r>
            <a:endParaRPr sz="12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200"/>
              <a:t>ぜひ最後までご参加くださいね！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g32945c411de_0_8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6d6de7d082_0_10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36d6de7d082_0_10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" sz="1350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、、、とか</a:t>
            </a:r>
            <a:endParaRPr sz="1350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  <p:sp>
        <p:nvSpPr>
          <p:cNvPr id="143" name="Google Shape;143;g36d6de7d082_0_10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6d6de7d082_0_1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g36d6de7d082_0_11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" sz="1350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SNSを一生懸命やってるけど</a:t>
            </a:r>
            <a:endParaRPr sz="1350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" sz="1350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なんでうまく行かないんだろう？と疲弊してしまったり</a:t>
            </a:r>
            <a:endParaRPr sz="1350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  <p:sp>
        <p:nvSpPr>
          <p:cNvPr id="152" name="Google Shape;152;g36d6de7d082_0_11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6d6de7d082_0_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g36d6de7d082_0_1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400">
                <a:solidFill>
                  <a:schemeClr val="dk1"/>
                </a:solidFill>
              </a:rPr>
              <a:t>、、、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400">
                <a:solidFill>
                  <a:schemeClr val="dk1"/>
                </a:solidFill>
              </a:rPr>
              <a:t>副業する人たちが増えています。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" sz="1400">
                <a:solidFill>
                  <a:schemeClr val="dk1"/>
                </a:solidFill>
              </a:rPr>
              <a:t>そんな手段としても、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400">
                <a:solidFill>
                  <a:schemeClr val="dk1"/>
                </a:solidFill>
              </a:rPr>
              <a:t>「育脳子育てカウンセラー」がお役に立てればと思います。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  <p:sp>
        <p:nvSpPr>
          <p:cNvPr id="161" name="Google Shape;161;g36d6de7d082_0_1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2945c411de_0_2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32945c411de_0_21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g32945c411de_0_21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32945c411de_0_2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" name="Google Shape;178;g32945c411de_0_21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300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・「確かにそういうサポートは</a:t>
            </a:r>
            <a:endParaRPr sz="1300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300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　　世の中に必要だよね」</a:t>
            </a:r>
            <a:endParaRPr sz="1300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300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・「育脳ってお子様だけでなく、</a:t>
            </a:r>
            <a:endParaRPr sz="1300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1300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　　ママにとっても大事なのね」</a:t>
            </a:r>
            <a:endParaRPr sz="1300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こんなふうに感じていただけたら嬉しいです</a:t>
            </a:r>
            <a:endParaRPr/>
          </a:p>
        </p:txBody>
      </p:sp>
      <p:sp>
        <p:nvSpPr>
          <p:cNvPr id="179" name="Google Shape;179;g32945c411de_0_21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34e9a475d13_0_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" name="Google Shape;188;g34e9a475d13_0_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g34e9a475d13_0_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34e9a475d13_0_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" name="Google Shape;196;g34e9a475d13_0_1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1300"/>
              <a:t>専業主婦12年から起業しました。</a:t>
            </a:r>
            <a:endParaRPr sz="1300"/>
          </a:p>
        </p:txBody>
      </p:sp>
      <p:sp>
        <p:nvSpPr>
          <p:cNvPr id="197" name="Google Shape;197;g34e9a475d13_0_1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3b62ef7707e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7" name="Google Shape;207;g3b62ef7707e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東京の日本橋駅</a:t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3b62ef7707e_1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5" name="Google Shape;215;g3b62ef7707e_1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34e9a475d13_0_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3" name="Google Shape;223;g34e9a475d13_0_2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g34e9a475d13_0_2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34e9a475d13_0_3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3" name="Google Shape;233;g34e9a475d13_0_3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g34e9a475d13_0_3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4e9a475d13_0_4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34e9a475d13_0_4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g34e9a475d13_0_4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34e9a475d13_0_4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2" name="Google Shape;252;g34e9a475d13_0_4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g34e9a475d13_0_4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34e9a475d13_0_5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2" name="Google Shape;262;g34e9a475d13_0_5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g34e9a475d13_0_5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g34e9a475d13_0_6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4" name="Google Shape;274;g34e9a475d13_0_6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300">
                <a:solidFill>
                  <a:schemeClr val="dk1"/>
                </a:solidFill>
              </a:rPr>
              <a:t>普通に部活時間にフル参加で楽しんでいました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g34e9a475d13_0_6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g34e9a475d13_0_8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7" name="Google Shape;287;g34e9a475d13_0_8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g34e9a475d13_0_8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g34e9a475d13_0_9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0" name="Google Shape;300;g34e9a475d13_0_9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300">
                <a:solidFill>
                  <a:schemeClr val="dk1"/>
                </a:solidFill>
              </a:rPr>
              <a:t>（例えば、</a:t>
            </a:r>
            <a:r>
              <a:rPr lang="ja" sz="1300">
                <a:solidFill>
                  <a:schemeClr val="dk1"/>
                </a:solidFill>
              </a:rPr>
              <a:t>子どもの排泄時には、自分がおむつ</a:t>
            </a:r>
            <a:r>
              <a:rPr lang="ja" sz="1300">
                <a:solidFill>
                  <a:schemeClr val="dk1"/>
                </a:solidFill>
              </a:rPr>
              <a:t>を替えるの</a:t>
            </a:r>
            <a:r>
              <a:rPr lang="ja" sz="1300">
                <a:solidFill>
                  <a:schemeClr val="dk1"/>
                </a:solidFill>
              </a:rPr>
              <a:t>ではなく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300">
                <a:solidFill>
                  <a:schemeClr val="dk1"/>
                </a:solidFill>
              </a:rPr>
              <a:t>私に「</a:t>
            </a:r>
            <a:r>
              <a:rPr lang="ja" sz="1300">
                <a:solidFill>
                  <a:schemeClr val="dk1"/>
                </a:solidFill>
              </a:rPr>
              <a:t>出てるよ〜」と</a:t>
            </a:r>
            <a:r>
              <a:rPr lang="ja" sz="1300">
                <a:solidFill>
                  <a:schemeClr val="dk1"/>
                </a:solidFill>
              </a:rPr>
              <a:t>報告をするのみ、という徹底っぷり</a:t>
            </a:r>
            <a:r>
              <a:rPr lang="ja" sz="1300">
                <a:solidFill>
                  <a:schemeClr val="dk1"/>
                </a:solidFill>
              </a:rPr>
              <a:t>で）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ja" sz="1300">
                <a:solidFill>
                  <a:schemeClr val="dk1"/>
                </a:solidFill>
              </a:rPr>
              <a:t>完全にワンオペの育児でした。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</p:txBody>
      </p:sp>
      <p:sp>
        <p:nvSpPr>
          <p:cNvPr id="301" name="Google Shape;301;g34e9a475d13_0_9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g34e9a475d13_0_10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1" name="Google Shape;311;g34e9a475d13_0_10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200">
                <a:solidFill>
                  <a:schemeClr val="dk1"/>
                </a:solidFill>
              </a:rPr>
              <a:t>その秘密がこのイベントでお伝えする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200">
                <a:solidFill>
                  <a:schemeClr val="dk1"/>
                </a:solidFill>
              </a:rPr>
              <a:t>”育脳”にありますので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200">
                <a:solidFill>
                  <a:schemeClr val="dk1"/>
                </a:solidFill>
              </a:rPr>
              <a:t>私の実体験と共に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200">
                <a:solidFill>
                  <a:schemeClr val="dk1"/>
                </a:solidFill>
              </a:rPr>
              <a:t>後ほど詳しくお伝えしていきますね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" name="Google Shape;312;g34e9a475d13_0_10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g34e9a475d13_0_10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9" name="Google Shape;319;g34e9a475d13_0_10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300">
                <a:solidFill>
                  <a:schemeClr val="dk1"/>
                </a:solidFill>
              </a:rPr>
              <a:t>、、、</a:t>
            </a:r>
            <a:r>
              <a:rPr lang="ja" sz="1300">
                <a:solidFill>
                  <a:schemeClr val="dk1"/>
                </a:solidFill>
              </a:rPr>
              <a:t>きっと皆さんにも楽しんで頂けると思いますので</a:t>
            </a:r>
            <a:endParaRPr sz="15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300">
                <a:solidFill>
                  <a:schemeClr val="dk1"/>
                </a:solidFill>
              </a:rPr>
              <a:t>５</a:t>
            </a:r>
            <a:r>
              <a:rPr lang="ja" sz="1300">
                <a:solidFill>
                  <a:schemeClr val="dk1"/>
                </a:solidFill>
              </a:rPr>
              <a:t>日間どうぞよろしくお願い致します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300">
                <a:solidFill>
                  <a:schemeClr val="dk1"/>
                </a:solidFill>
              </a:rPr>
              <a:t>＜</a:t>
            </a:r>
            <a:r>
              <a:rPr lang="ja" sz="1300">
                <a:solidFill>
                  <a:schemeClr val="dk1"/>
                </a:solidFill>
              </a:rPr>
              <a:t>洋子さん</a:t>
            </a:r>
            <a:r>
              <a:rPr lang="ja" sz="1300">
                <a:solidFill>
                  <a:schemeClr val="dk1"/>
                </a:solidFill>
              </a:rPr>
              <a:t>へ＞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0" name="Google Shape;320;g34e9a475d13_0_10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g34e9a475d13_0_19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9" name="Google Shape;329;g34e9a475d13_0_19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0" name="Google Shape;330;g34e9a475d13_0_19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g34e9a475d13_0_2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7" name="Google Shape;347;g34e9a475d13_0_21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8" name="Google Shape;348;g34e9a475d13_0_21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g34e9a475d13_0_30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2" name="Google Shape;362;g34e9a475d13_0_30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3" name="Google Shape;363;g34e9a475d13_0_30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g34e9a475d13_0_39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0" name="Google Shape;370;g34e9a475d13_0_39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1200"/>
              <a:t>まず初めに　</a:t>
            </a:r>
            <a:endParaRPr sz="12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200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そもそも</a:t>
            </a:r>
            <a:r>
              <a:rPr lang="ja" sz="1200">
                <a:solidFill>
                  <a:srgbClr val="FF00FF"/>
                </a:solidFill>
                <a:latin typeface="Kosugi Maru"/>
                <a:ea typeface="Kosugi Maru"/>
                <a:cs typeface="Kosugi Maru"/>
                <a:sym typeface="Kosugi Maru"/>
              </a:rPr>
              <a:t>"育脳"</a:t>
            </a:r>
            <a:r>
              <a:rPr lang="ja" sz="1200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とは</a:t>
            </a:r>
            <a:endParaRPr sz="1200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200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なんでしょう？</a:t>
            </a:r>
            <a:endParaRPr sz="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1200"/>
              <a:t>ここを抑えないと・・・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300"/>
              <a:t>　子どもがXXしたら、こうすべき　</a:t>
            </a:r>
            <a:r>
              <a:rPr lang="ja" sz="1300"/>
              <a:t>とか</a:t>
            </a:r>
            <a:endParaRPr sz="1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300"/>
              <a:t>　子どもがXXしなくて困る時は、こうすべき　</a:t>
            </a:r>
            <a:r>
              <a:rPr lang="ja" sz="1300"/>
              <a:t>とか</a:t>
            </a:r>
            <a:endParaRPr sz="1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1300"/>
              <a:t>そんな感じで・・・無限の困りごとに</a:t>
            </a:r>
            <a:endParaRPr sz="1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300"/>
              <a:t>無限の対処法を考えることになります</a:t>
            </a:r>
            <a:endParaRPr sz="1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1300"/>
              <a:t>		</a:t>
            </a:r>
            <a:endParaRPr sz="1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300">
                <a:solidFill>
                  <a:schemeClr val="dk1"/>
                </a:solidFill>
              </a:rPr>
              <a:t>でも、</a:t>
            </a:r>
            <a:r>
              <a:rPr lang="ja" sz="1300">
                <a:solidFill>
                  <a:schemeClr val="dk1"/>
                </a:solidFill>
              </a:rPr>
              <a:t>子供はみんな違いますから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300"/>
              <a:t>当てはまることも</a:t>
            </a:r>
            <a:endParaRPr sz="1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300"/>
              <a:t>当てはまらないことも、ありますよね！</a:t>
            </a:r>
            <a:endParaRPr sz="1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/>
          </a:p>
        </p:txBody>
      </p:sp>
      <p:sp>
        <p:nvSpPr>
          <p:cNvPr id="371" name="Google Shape;371;g34e9a475d13_0_39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g34e9a475d13_0_40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9" name="Google Shape;379;g34e9a475d13_0_40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、、、</a:t>
            </a:r>
            <a:endParaRPr/>
          </a:p>
        </p:txBody>
      </p:sp>
      <p:sp>
        <p:nvSpPr>
          <p:cNvPr id="380" name="Google Shape;380;g34e9a475d13_0_40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g34e9a475d13_0_4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9" name="Google Shape;389;g34e9a475d13_0_41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0" name="Google Shape;390;g34e9a475d13_0_41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g34e9a475d13_0_4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9" name="Google Shape;399;g34e9a475d13_0_41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300">
                <a:solidFill>
                  <a:schemeClr val="dk1"/>
                </a:solidFill>
              </a:rPr>
              <a:t>脳のシナプス生成は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300">
                <a:solidFill>
                  <a:schemeClr val="dk1"/>
                </a:solidFill>
              </a:rPr>
              <a:t>3歳までに80％、6歳までに90％完成</a:t>
            </a:r>
            <a:r>
              <a:rPr lang="ja" sz="1300">
                <a:solidFill>
                  <a:schemeClr val="dk1"/>
                </a:solidFill>
              </a:rPr>
              <a:t>する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1300">
                <a:solidFill>
                  <a:schemeClr val="dk1"/>
                </a:solidFill>
              </a:rPr>
              <a:t>と言うことで6歳までにほぼ決まります（これは研究で証明されています）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1300">
                <a:solidFill>
                  <a:schemeClr val="dk1"/>
                </a:solidFill>
              </a:rPr>
              <a:t>だから6歳までの育脳子育てはとっても重要なんです！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1300">
                <a:solidFill>
                  <a:schemeClr val="dk1"/>
                </a:solidFill>
              </a:rPr>
              <a:t>早い時期に脳の発達を促せると・・・賢い子ども、心が豊かな子どもに成長します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1300">
                <a:solidFill>
                  <a:schemeClr val="dk1"/>
                </a:solidFill>
              </a:rPr>
              <a:t>そして、あとの子育てがどんどんラクになる！だからママ達に喜ばれるんです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400" name="Google Shape;400;g34e9a475d13_0_41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g34e9a475d13_0_5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9" name="Google Shape;409;g34e9a475d13_0_51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/>
          </a:p>
        </p:txBody>
      </p:sp>
      <p:sp>
        <p:nvSpPr>
          <p:cNvPr id="410" name="Google Shape;410;g34e9a475d13_0_51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g34e9a475d13_0_5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8" name="Google Shape;418;g34e9a475d13_0_52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/>
              <a:t>、、、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300"/>
              <a:t>そんなハッピー関係で支えられるお仕事です。</a:t>
            </a:r>
            <a:endParaRPr sz="1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9" name="Google Shape;419;g34e9a475d13_0_52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6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g34b9f3b0dab_1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8" name="Google Shape;428;g34b9f3b0dab_1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、、、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/>
              <a:t>	</a:t>
            </a:r>
            <a:endParaRPr/>
          </a:p>
        </p:txBody>
      </p:sp>
      <p:sp>
        <p:nvSpPr>
          <p:cNvPr id="429" name="Google Shape;429;g34b9f3b0dab_1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6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g34e9a475d13_0_53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8" name="Google Shape;438;g34e9a475d13_0_53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1000"/>
              <a:t>では、、、</a:t>
            </a:r>
            <a:endParaRPr sz="1000"/>
          </a:p>
        </p:txBody>
      </p:sp>
      <p:sp>
        <p:nvSpPr>
          <p:cNvPr id="439" name="Google Shape;439;g34e9a475d13_0_53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5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g34e9a475d13_0_5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7" name="Google Shape;447;g34e9a475d13_0_5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/>
              <a:t>、、、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/>
              <a:t>なぜ注目？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/>
              <a:t>他のお教室系サービスと比べてみると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/>
              <a:t>理由は明らかです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2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g34e9a475d13_0_5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4" name="Google Shape;454;g34e9a475d13_0_5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200">
                <a:solidFill>
                  <a:schemeClr val="dk1"/>
                </a:solidFill>
                <a:latin typeface="Kosugi Maru"/>
                <a:ea typeface="Kosugi Maru"/>
                <a:cs typeface="Kosugi Maru"/>
                <a:sym typeface="Kosugi Maru"/>
              </a:rPr>
              <a:t>お受験塾やスポーツ塾の早期教育では、</a:t>
            </a:r>
            <a:endParaRPr sz="1200">
              <a:solidFill>
                <a:schemeClr val="dk1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>
                <a:solidFill>
                  <a:schemeClr val="dk1"/>
                </a:solidFill>
                <a:latin typeface="Kosugi Maru"/>
                <a:ea typeface="Kosugi Maru"/>
                <a:cs typeface="Kosugi Maru"/>
                <a:sym typeface="Kosugi Maru"/>
              </a:rPr>
              <a:t>・将来的には</a:t>
            </a:r>
            <a:r>
              <a:rPr b="1" lang="ja">
                <a:solidFill>
                  <a:srgbClr val="4472C4"/>
                </a:solidFill>
                <a:latin typeface="Kosugi Maru"/>
                <a:ea typeface="Kosugi Maru"/>
                <a:cs typeface="Kosugi Maru"/>
                <a:sym typeface="Kosugi Maru"/>
              </a:rPr>
              <a:t>行き詰まる</a:t>
            </a:r>
            <a:r>
              <a:rPr lang="ja">
                <a:solidFill>
                  <a:schemeClr val="dk1"/>
                </a:solidFill>
                <a:latin typeface="Kosugi Maru"/>
                <a:ea typeface="Kosugi Maru"/>
                <a:cs typeface="Kosugi Maru"/>
                <a:sym typeface="Kosugi Maru"/>
              </a:rPr>
              <a:t>ことが多い</a:t>
            </a:r>
            <a:endParaRPr>
              <a:solidFill>
                <a:schemeClr val="dk1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>
                <a:solidFill>
                  <a:schemeClr val="dk1"/>
                </a:solidFill>
                <a:latin typeface="Kosugi Maru"/>
                <a:ea typeface="Kosugi Maru"/>
                <a:cs typeface="Kosugi Maru"/>
                <a:sym typeface="Kosugi Maru"/>
              </a:rPr>
              <a:t>・知識や技術の詰め込み型だから</a:t>
            </a:r>
            <a:endParaRPr>
              <a:solidFill>
                <a:schemeClr val="dk1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>
                <a:solidFill>
                  <a:schemeClr val="dk1"/>
                </a:solidFill>
                <a:latin typeface="Kosugi Maru"/>
                <a:ea typeface="Kosugi Maru"/>
                <a:cs typeface="Kosugi Maru"/>
                <a:sym typeface="Kosugi Maru"/>
              </a:rPr>
              <a:t>　</a:t>
            </a:r>
            <a:r>
              <a:rPr b="1" lang="ja">
                <a:solidFill>
                  <a:srgbClr val="4472C4"/>
                </a:solidFill>
                <a:latin typeface="Kosugi Maru"/>
                <a:ea typeface="Kosugi Maru"/>
                <a:cs typeface="Kosugi Maru"/>
                <a:sym typeface="Kosugi Maru"/>
              </a:rPr>
              <a:t>応用が効き辛い</a:t>
            </a:r>
            <a:endParaRPr b="1">
              <a:solidFill>
                <a:srgbClr val="4472C4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>
                <a:solidFill>
                  <a:schemeClr val="dk1"/>
                </a:solidFill>
                <a:latin typeface="Kosugi Maru"/>
                <a:ea typeface="Kosugi Maru"/>
                <a:cs typeface="Kosugi Maru"/>
                <a:sym typeface="Kosugi Maru"/>
              </a:rPr>
              <a:t>・子どもは</a:t>
            </a:r>
            <a:r>
              <a:rPr b="1" lang="ja">
                <a:solidFill>
                  <a:srgbClr val="4472C4"/>
                </a:solidFill>
                <a:latin typeface="Kosugi Maru"/>
                <a:ea typeface="Kosugi Maru"/>
                <a:cs typeface="Kosugi Maru"/>
                <a:sym typeface="Kosugi Maru"/>
              </a:rPr>
              <a:t>詰め込み学習が好きではない</a:t>
            </a:r>
            <a:endParaRPr>
              <a:solidFill>
                <a:schemeClr val="dk1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>
                <a:solidFill>
                  <a:schemeClr val="dk1"/>
                </a:solidFill>
                <a:latin typeface="Kosugi Maru"/>
                <a:ea typeface="Kosugi Maru"/>
                <a:cs typeface="Kosugi Maru"/>
                <a:sym typeface="Kosugi Maru"/>
              </a:rPr>
              <a:t>・このスタイルで学ぶこと、身につける</a:t>
            </a:r>
            <a:endParaRPr>
              <a:solidFill>
                <a:schemeClr val="dk1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>
                <a:solidFill>
                  <a:schemeClr val="dk1"/>
                </a:solidFill>
                <a:latin typeface="Kosugi Maru"/>
                <a:ea typeface="Kosugi Maru"/>
                <a:cs typeface="Kosugi Maru"/>
                <a:sym typeface="Kosugi Maru"/>
              </a:rPr>
              <a:t>　ことが</a:t>
            </a:r>
            <a:r>
              <a:rPr b="1" lang="ja">
                <a:solidFill>
                  <a:srgbClr val="4472C4"/>
                </a:solidFill>
                <a:latin typeface="Kosugi Maru"/>
                <a:ea typeface="Kosugi Maru"/>
                <a:cs typeface="Kosugi Maru"/>
                <a:sym typeface="Kosugi Maru"/>
              </a:rPr>
              <a:t>つまらない</a:t>
            </a:r>
            <a:r>
              <a:rPr lang="ja">
                <a:solidFill>
                  <a:schemeClr val="dk1"/>
                </a:solidFill>
                <a:latin typeface="Kosugi Maru"/>
                <a:ea typeface="Kosugi Maru"/>
                <a:cs typeface="Kosugi Maru"/>
                <a:sym typeface="Kosugi Maru"/>
              </a:rPr>
              <a:t>から途中でやめる、</a:t>
            </a:r>
            <a:endParaRPr>
              <a:solidFill>
                <a:schemeClr val="dk1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>
                <a:solidFill>
                  <a:schemeClr val="dk1"/>
                </a:solidFill>
                <a:latin typeface="Kosugi Maru"/>
                <a:ea typeface="Kosugi Maru"/>
                <a:cs typeface="Kosugi Maru"/>
                <a:sym typeface="Kosugi Maru"/>
              </a:rPr>
              <a:t>　</a:t>
            </a:r>
            <a:r>
              <a:rPr b="1" lang="ja">
                <a:solidFill>
                  <a:srgbClr val="4472C4"/>
                </a:solidFill>
                <a:latin typeface="Kosugi Maru"/>
                <a:ea typeface="Kosugi Maru"/>
                <a:cs typeface="Kosugi Maru"/>
                <a:sym typeface="Kosugi Maru"/>
              </a:rPr>
              <a:t>嫌になる</a:t>
            </a:r>
            <a:endParaRPr b="1">
              <a:solidFill>
                <a:srgbClr val="4472C4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>
                <a:solidFill>
                  <a:schemeClr val="dk1"/>
                </a:solidFill>
                <a:latin typeface="Kosugi Maru"/>
                <a:ea typeface="Kosugi Maru"/>
                <a:cs typeface="Kosugi Maru"/>
                <a:sym typeface="Kosugi Maru"/>
              </a:rPr>
              <a:t>　＝</a:t>
            </a:r>
            <a:r>
              <a:rPr b="1" lang="ja">
                <a:solidFill>
                  <a:srgbClr val="4472C4"/>
                </a:solidFill>
                <a:latin typeface="Kosugi Maru"/>
                <a:ea typeface="Kosugi Maru"/>
                <a:cs typeface="Kosugi Maru"/>
                <a:sym typeface="Kosugi Maru"/>
              </a:rPr>
              <a:t>やらされでは続かないんですね。</a:t>
            </a:r>
            <a:endParaRPr b="1">
              <a:solidFill>
                <a:srgbClr val="4472C4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4472C4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4472C4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>
                <a:solidFill>
                  <a:schemeClr val="dk1"/>
                </a:solidFill>
                <a:latin typeface="Kosugi Maru"/>
                <a:ea typeface="Kosugi Maru"/>
                <a:cs typeface="Kosugi Maru"/>
                <a:sym typeface="Kosugi Maru"/>
              </a:rPr>
              <a:t>育脳子育てカウンセラーは、</a:t>
            </a:r>
            <a:endParaRPr b="1">
              <a:solidFill>
                <a:schemeClr val="dk1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4472C4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>
                <a:solidFill>
                  <a:schemeClr val="dk1"/>
                </a:solidFill>
                <a:latin typeface="Kosugi Maru"/>
                <a:ea typeface="Kosugi Maru"/>
                <a:cs typeface="Kosugi Maru"/>
                <a:sym typeface="Kosugi Maru"/>
              </a:rPr>
              <a:t>・将来の道を子どもが</a:t>
            </a:r>
            <a:r>
              <a:rPr b="1" lang="ja">
                <a:solidFill>
                  <a:srgbClr val="EF84C9"/>
                </a:solidFill>
                <a:latin typeface="Kosugi Maru"/>
                <a:ea typeface="Kosugi Maru"/>
                <a:cs typeface="Kosugi Maru"/>
                <a:sym typeface="Kosugi Maru"/>
              </a:rPr>
              <a:t>自分で切り開く</a:t>
            </a:r>
            <a:r>
              <a:rPr lang="ja">
                <a:solidFill>
                  <a:schemeClr val="dk1"/>
                </a:solidFill>
                <a:latin typeface="Kosugi Maru"/>
                <a:ea typeface="Kosugi Maru"/>
                <a:cs typeface="Kosugi Maru"/>
                <a:sym typeface="Kosugi Maru"/>
              </a:rPr>
              <a:t>こと　ができる</a:t>
            </a:r>
            <a:endParaRPr>
              <a:solidFill>
                <a:schemeClr val="dk1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>
                <a:solidFill>
                  <a:schemeClr val="dk1"/>
                </a:solidFill>
                <a:latin typeface="Kosugi Maru"/>
                <a:ea typeface="Kosugi Maru"/>
                <a:cs typeface="Kosugi Maru"/>
                <a:sym typeface="Kosugi Maru"/>
              </a:rPr>
              <a:t>・脳の発達を促すことを軸とする</a:t>
            </a:r>
            <a:endParaRPr>
              <a:solidFill>
                <a:schemeClr val="dk1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>
                <a:solidFill>
                  <a:schemeClr val="dk1"/>
                </a:solidFill>
                <a:latin typeface="Kosugi Maru"/>
                <a:ea typeface="Kosugi Maru"/>
                <a:cs typeface="Kosugi Maru"/>
                <a:sym typeface="Kosugi Maru"/>
              </a:rPr>
              <a:t>・6歳までに脳の90％が完成する</a:t>
            </a:r>
            <a:endParaRPr>
              <a:solidFill>
                <a:schemeClr val="dk1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>
                <a:solidFill>
                  <a:schemeClr val="dk1"/>
                </a:solidFill>
                <a:latin typeface="Kosugi Maru"/>
                <a:ea typeface="Kosugi Maru"/>
                <a:cs typeface="Kosugi Maru"/>
                <a:sym typeface="Kosugi Maru"/>
              </a:rPr>
              <a:t>　→</a:t>
            </a:r>
            <a:r>
              <a:rPr b="1" lang="ja">
                <a:solidFill>
                  <a:srgbClr val="EF84C9"/>
                </a:solidFill>
                <a:latin typeface="Kosugi Maru"/>
                <a:ea typeface="Kosugi Maru"/>
                <a:cs typeface="Kosugi Maru"/>
                <a:sym typeface="Kosugi Maru"/>
              </a:rPr>
              <a:t>学ぶことが楽しく</a:t>
            </a:r>
            <a:r>
              <a:rPr lang="ja">
                <a:solidFill>
                  <a:schemeClr val="dk1"/>
                </a:solidFill>
                <a:latin typeface="Kosugi Maru"/>
                <a:ea typeface="Kosugi Maru"/>
                <a:cs typeface="Kosugi Maru"/>
                <a:sym typeface="Kosugi Maru"/>
              </a:rPr>
              <a:t>なり</a:t>
            </a:r>
            <a:endParaRPr>
              <a:solidFill>
                <a:schemeClr val="dk1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>
                <a:solidFill>
                  <a:schemeClr val="dk1"/>
                </a:solidFill>
                <a:latin typeface="Kosugi Maru"/>
                <a:ea typeface="Kosugi Maru"/>
                <a:cs typeface="Kosugi Maru"/>
                <a:sym typeface="Kosugi Maru"/>
              </a:rPr>
              <a:t>　→どんどん</a:t>
            </a:r>
            <a:r>
              <a:rPr b="1" lang="ja">
                <a:solidFill>
                  <a:srgbClr val="EF84C9"/>
                </a:solidFill>
                <a:latin typeface="Kosugi Maru"/>
                <a:ea typeface="Kosugi Maru"/>
                <a:cs typeface="Kosugi Maru"/>
                <a:sym typeface="Kosugi Maru"/>
              </a:rPr>
              <a:t>自分から学ぶようになります</a:t>
            </a:r>
            <a:endParaRPr b="1">
              <a:solidFill>
                <a:srgbClr val="EF84C9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>
                <a:solidFill>
                  <a:schemeClr val="dk1"/>
                </a:solidFill>
                <a:latin typeface="Kosugi Maru"/>
                <a:ea typeface="Kosugi Maru"/>
                <a:cs typeface="Kosugi Maru"/>
                <a:sym typeface="Kosugi Maru"/>
              </a:rPr>
              <a:t>・将来を</a:t>
            </a:r>
            <a:r>
              <a:rPr b="1" lang="ja">
                <a:solidFill>
                  <a:srgbClr val="EF84C9"/>
                </a:solidFill>
                <a:latin typeface="Kosugi Maru"/>
                <a:ea typeface="Kosugi Maru"/>
                <a:cs typeface="Kosugi Maru"/>
                <a:sym typeface="Kosugi Maru"/>
              </a:rPr>
              <a:t>自分で切り開く</a:t>
            </a:r>
            <a:r>
              <a:rPr lang="ja">
                <a:solidFill>
                  <a:schemeClr val="dk1"/>
                </a:solidFill>
                <a:latin typeface="Kosugi Maru"/>
                <a:ea typeface="Kosugi Maru"/>
                <a:cs typeface="Kosugi Maru"/>
                <a:sym typeface="Kosugi Maru"/>
              </a:rPr>
              <a:t>子どもが育ちます</a:t>
            </a:r>
            <a:endParaRPr>
              <a:solidFill>
                <a:schemeClr val="dk1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>
                <a:solidFill>
                  <a:schemeClr val="dk1"/>
                </a:solidFill>
                <a:latin typeface="Kosugi Maru"/>
                <a:ea typeface="Kosugi Maru"/>
                <a:cs typeface="Kosugi Maru"/>
                <a:sym typeface="Kosugi Maru"/>
              </a:rPr>
              <a:t>・子どもへの投資としては</a:t>
            </a:r>
            <a:r>
              <a:rPr b="1" lang="ja">
                <a:solidFill>
                  <a:srgbClr val="EF84C9"/>
                </a:solidFill>
                <a:latin typeface="Kosugi Maru"/>
                <a:ea typeface="Kosugi Maru"/>
                <a:cs typeface="Kosugi Maru"/>
                <a:sym typeface="Kosugi Maru"/>
              </a:rPr>
              <a:t>最高の贈り物なんです</a:t>
            </a:r>
            <a:endParaRPr b="1">
              <a:solidFill>
                <a:srgbClr val="EF84C9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200">
              <a:solidFill>
                <a:srgbClr val="4472C4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6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g34e9a475d13_0_5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8" name="Google Shape;468;g34e9a475d13_0_5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、、、</a:t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3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g34e9a475d13_0_5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5" name="Google Shape;475;g34e9a475d13_0_5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200">
                <a:solidFill>
                  <a:schemeClr val="dk1"/>
                </a:solidFill>
                <a:latin typeface="Kosugi Maru"/>
                <a:ea typeface="Kosugi Maru"/>
                <a:cs typeface="Kosugi Maru"/>
                <a:sym typeface="Kosugi Maru"/>
              </a:rPr>
              <a:t>一般的な起業・副業では、</a:t>
            </a:r>
            <a:endParaRPr sz="500">
              <a:solidFill>
                <a:schemeClr val="dk1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200">
                <a:solidFill>
                  <a:schemeClr val="dk1"/>
                </a:solidFill>
                <a:latin typeface="Kosugi Maru"/>
                <a:ea typeface="Kosugi Maru"/>
                <a:cs typeface="Kosugi Maru"/>
                <a:sym typeface="Kosugi Maru"/>
              </a:rPr>
              <a:t>・基本的に</a:t>
            </a:r>
            <a:r>
              <a:rPr b="1" lang="ja" sz="1200">
                <a:solidFill>
                  <a:srgbClr val="4472C4"/>
                </a:solidFill>
                <a:latin typeface="Kosugi Maru"/>
                <a:ea typeface="Kosugi Maru"/>
                <a:cs typeface="Kosugi Maru"/>
                <a:sym typeface="Kosugi Maru"/>
              </a:rPr>
              <a:t>”ゼロ”から学ぶ</a:t>
            </a:r>
            <a:r>
              <a:rPr lang="ja" sz="1200">
                <a:solidFill>
                  <a:schemeClr val="dk1"/>
                </a:solidFill>
                <a:latin typeface="Kosugi Maru"/>
                <a:ea typeface="Kosugi Maru"/>
                <a:cs typeface="Kosugi Maru"/>
                <a:sym typeface="Kosugi Maru"/>
              </a:rPr>
              <a:t>ものが多いんです</a:t>
            </a:r>
            <a:endParaRPr sz="1200">
              <a:solidFill>
                <a:schemeClr val="dk1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200">
                <a:solidFill>
                  <a:schemeClr val="dk1"/>
                </a:solidFill>
                <a:latin typeface="Kosugi Maru"/>
                <a:ea typeface="Kosugi Maru"/>
                <a:cs typeface="Kosugi Maru"/>
                <a:sym typeface="Kosugi Maru"/>
              </a:rPr>
              <a:t>・自分で実績を出していないのに</a:t>
            </a:r>
            <a:endParaRPr sz="1200">
              <a:solidFill>
                <a:schemeClr val="dk1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200">
                <a:solidFill>
                  <a:schemeClr val="dk1"/>
                </a:solidFill>
                <a:latin typeface="Kosugi Maru"/>
                <a:ea typeface="Kosugi Maru"/>
                <a:cs typeface="Kosugi Maru"/>
                <a:sym typeface="Kosugi Maru"/>
              </a:rPr>
              <a:t>　</a:t>
            </a:r>
            <a:r>
              <a:rPr b="1" lang="ja" sz="1200">
                <a:solidFill>
                  <a:srgbClr val="4472C4"/>
                </a:solidFill>
                <a:latin typeface="Kosugi Maru"/>
                <a:ea typeface="Kosugi Maru"/>
                <a:cs typeface="Kosugi Maru"/>
                <a:sym typeface="Kosugi Maru"/>
              </a:rPr>
              <a:t>ﾉｳﾊｳ情報のみ</a:t>
            </a:r>
            <a:r>
              <a:rPr lang="ja" sz="1200">
                <a:solidFill>
                  <a:schemeClr val="dk1"/>
                </a:solidFill>
                <a:latin typeface="Kosugi Maru"/>
                <a:ea typeface="Kosugi Maru"/>
                <a:cs typeface="Kosugi Maru"/>
                <a:sym typeface="Kosugi Maru"/>
              </a:rPr>
              <a:t>を伝えるサービスが乱しています</a:t>
            </a:r>
            <a:endParaRPr sz="1200">
              <a:solidFill>
                <a:schemeClr val="dk1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200">
                <a:solidFill>
                  <a:schemeClr val="dk1"/>
                </a:solidFill>
                <a:latin typeface="Kosugi Maru"/>
                <a:ea typeface="Kosugi Maru"/>
                <a:cs typeface="Kosugi Maru"/>
                <a:sym typeface="Kosugi Maru"/>
              </a:rPr>
              <a:t>　↑何年か経験を積まないと</a:t>
            </a:r>
            <a:endParaRPr sz="1200">
              <a:solidFill>
                <a:schemeClr val="dk1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200">
                <a:solidFill>
                  <a:schemeClr val="dk1"/>
                </a:solidFill>
                <a:latin typeface="Kosugi Maru"/>
                <a:ea typeface="Kosugi Maru"/>
                <a:cs typeface="Kosugi Maru"/>
                <a:sym typeface="Kosugi Maru"/>
              </a:rPr>
              <a:t>　　その塾が適切なことを教えているか</a:t>
            </a:r>
            <a:r>
              <a:rPr b="1" lang="ja" sz="1200">
                <a:solidFill>
                  <a:srgbClr val="4472C4"/>
                </a:solidFill>
                <a:latin typeface="Kosugi Maru"/>
                <a:ea typeface="Kosugi Maru"/>
                <a:cs typeface="Kosugi Maru"/>
                <a:sym typeface="Kosugi Maru"/>
              </a:rPr>
              <a:t>判断できないんです</a:t>
            </a:r>
            <a:endParaRPr b="1" sz="1200">
              <a:solidFill>
                <a:srgbClr val="4472C4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200">
              <a:solidFill>
                <a:srgbClr val="4472C4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200">
                <a:solidFill>
                  <a:schemeClr val="dk1"/>
                </a:solidFill>
                <a:latin typeface="Kosugi Maru"/>
                <a:ea typeface="Kosugi Maru"/>
                <a:cs typeface="Kosugi Maru"/>
                <a:sym typeface="Kosugi Maru"/>
              </a:rPr>
              <a:t>・体系化が不十分で</a:t>
            </a:r>
            <a:r>
              <a:rPr b="1" lang="ja" sz="1200">
                <a:solidFill>
                  <a:srgbClr val="4472C4"/>
                </a:solidFill>
                <a:latin typeface="Kosugi Maru"/>
                <a:ea typeface="Kosugi Maru"/>
                <a:cs typeface="Kosugi Maru"/>
                <a:sym typeface="Kosugi Maru"/>
              </a:rPr>
              <a:t>再現性がとても低い</a:t>
            </a:r>
            <a:endParaRPr b="1" sz="1200">
              <a:solidFill>
                <a:srgbClr val="4472C4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200">
                <a:solidFill>
                  <a:schemeClr val="dk1"/>
                </a:solidFill>
                <a:latin typeface="Kosugi Maru"/>
                <a:ea typeface="Kosugi Maru"/>
                <a:cs typeface="Kosugi Maru"/>
                <a:sym typeface="Kosugi Maru"/>
              </a:rPr>
              <a:t>・ゼロから学んで学ぶ内容も確かなものか　どうか自分では判断がつかないんです</a:t>
            </a:r>
            <a:endParaRPr sz="1200">
              <a:solidFill>
                <a:schemeClr val="dk1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200">
                <a:solidFill>
                  <a:schemeClr val="dk1"/>
                </a:solidFill>
                <a:latin typeface="Kosugi Maru"/>
                <a:ea typeface="Kosugi Maru"/>
                <a:cs typeface="Kosugi Maru"/>
                <a:sym typeface="Kosugi Maru"/>
              </a:rPr>
              <a:t>　再現性が低いものも多いんですね</a:t>
            </a:r>
            <a:endParaRPr sz="1200">
              <a:solidFill>
                <a:schemeClr val="dk1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200">
                <a:solidFill>
                  <a:schemeClr val="dk1"/>
                </a:solidFill>
                <a:latin typeface="Kosugi Maru"/>
                <a:ea typeface="Kosugi Maru"/>
                <a:cs typeface="Kosugi Maru"/>
                <a:sym typeface="Kosugi Maru"/>
              </a:rPr>
              <a:t>→では、そんな状態で成功できると思いますか？</a:t>
            </a:r>
            <a:endParaRPr sz="1200">
              <a:solidFill>
                <a:schemeClr val="dk1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1200">
                <a:solidFill>
                  <a:schemeClr val="dk1"/>
                </a:solidFill>
                <a:latin typeface="Kosugi Maru"/>
                <a:ea typeface="Kosugi Maru"/>
                <a:cs typeface="Kosugi Maru"/>
                <a:sym typeface="Kosugi Maru"/>
              </a:rPr>
              <a:t>・結果、失敗しやすいお金も時間も無駄に</a:t>
            </a:r>
            <a:endParaRPr sz="1200">
              <a:solidFill>
                <a:schemeClr val="dk1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1200">
                <a:solidFill>
                  <a:schemeClr val="dk1"/>
                </a:solidFill>
                <a:latin typeface="Kosugi Maru"/>
                <a:ea typeface="Kosugi Maru"/>
                <a:cs typeface="Kosugi Maru"/>
                <a:sym typeface="Kosugi Maru"/>
              </a:rPr>
              <a:t>育脳子育てカウンセラーは、</a:t>
            </a:r>
            <a:endParaRPr sz="1200">
              <a:solidFill>
                <a:schemeClr val="dk1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1200">
                <a:solidFill>
                  <a:schemeClr val="dk1"/>
                </a:solidFill>
                <a:latin typeface="Kosugi Maru"/>
                <a:ea typeface="Kosugi Maru"/>
                <a:cs typeface="Kosugi Maru"/>
                <a:sym typeface="Kosugi Maru"/>
              </a:rPr>
              <a:t>・子育ての</a:t>
            </a:r>
            <a:r>
              <a:rPr b="1" lang="ja" sz="1200">
                <a:solidFill>
                  <a:srgbClr val="EF84C9"/>
                </a:solidFill>
                <a:latin typeface="Kosugi Maru"/>
                <a:ea typeface="Kosugi Maru"/>
                <a:cs typeface="Kosugi Maru"/>
                <a:sym typeface="Kosugi Maru"/>
              </a:rPr>
              <a:t>経験がそのまま活きる</a:t>
            </a:r>
            <a:endParaRPr b="1" sz="1200">
              <a:solidFill>
                <a:srgbClr val="EF84C9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1200">
                <a:solidFill>
                  <a:schemeClr val="dk1"/>
                </a:solidFill>
                <a:latin typeface="Kosugi Maru"/>
                <a:ea typeface="Kosugi Maru"/>
                <a:cs typeface="Kosugi Maru"/>
                <a:sym typeface="Kosugi Maru"/>
              </a:rPr>
              <a:t>・実経験があるから</a:t>
            </a:r>
            <a:r>
              <a:rPr b="1" lang="ja" sz="1200">
                <a:solidFill>
                  <a:srgbClr val="EF84C9"/>
                </a:solidFill>
                <a:latin typeface="Kosugi Maru"/>
                <a:ea typeface="Kosugi Maru"/>
                <a:cs typeface="Kosugi Maru"/>
                <a:sym typeface="Kosugi Maru"/>
              </a:rPr>
              <a:t>対処法が分かる</a:t>
            </a:r>
            <a:endParaRPr b="1" sz="1200">
              <a:solidFill>
                <a:srgbClr val="EF84C9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1200">
                <a:solidFill>
                  <a:schemeClr val="dk1"/>
                </a:solidFill>
                <a:latin typeface="Kosugi Maru"/>
                <a:ea typeface="Kosugi Maru"/>
                <a:cs typeface="Kosugi Maru"/>
                <a:sym typeface="Kosugi Maru"/>
              </a:rPr>
              <a:t>・ママの気持ちがよく分かる</a:t>
            </a:r>
            <a:endParaRPr sz="1200">
              <a:solidFill>
                <a:schemeClr val="dk1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1200">
                <a:solidFill>
                  <a:schemeClr val="dk1"/>
                </a:solidFill>
                <a:latin typeface="Kosugi Maru"/>
                <a:ea typeface="Kosugi Maru"/>
                <a:cs typeface="Kosugi Maru"/>
                <a:sym typeface="Kosugi Maru"/>
              </a:rPr>
              <a:t>「ネットを調べても情報がありすぎて</a:t>
            </a:r>
            <a:endParaRPr sz="1200">
              <a:solidFill>
                <a:schemeClr val="dk1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1200">
                <a:solidFill>
                  <a:schemeClr val="dk1"/>
                </a:solidFill>
                <a:latin typeface="Kosugi Maru"/>
                <a:ea typeface="Kosugi Maru"/>
                <a:cs typeface="Kosugi Maru"/>
                <a:sym typeface="Kosugi Maru"/>
              </a:rPr>
              <a:t>　何が正解かわからない。</a:t>
            </a:r>
            <a:endParaRPr sz="1200">
              <a:solidFill>
                <a:schemeClr val="dk1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1200">
                <a:solidFill>
                  <a:schemeClr val="dk1"/>
                </a:solidFill>
                <a:latin typeface="Kosugi Maru"/>
                <a:ea typeface="Kosugi Maru"/>
                <a:cs typeface="Kosugi Maru"/>
                <a:sym typeface="Kosugi Maru"/>
              </a:rPr>
              <a:t>　信頼できる人に直接相談したい！」</a:t>
            </a:r>
            <a:endParaRPr sz="1200">
              <a:solidFill>
                <a:schemeClr val="dk1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1200">
                <a:solidFill>
                  <a:schemeClr val="dk1"/>
                </a:solidFill>
                <a:latin typeface="Kosugi Maru"/>
                <a:ea typeface="Kosugi Maru"/>
                <a:cs typeface="Kosugi Maru"/>
                <a:sym typeface="Kosugi Maru"/>
              </a:rPr>
              <a:t>　その</a:t>
            </a:r>
            <a:r>
              <a:rPr lang="ja" sz="1200">
                <a:solidFill>
                  <a:srgbClr val="EF84C9"/>
                </a:solidFill>
                <a:latin typeface="Kosugi Maru"/>
                <a:ea typeface="Kosugi Maru"/>
                <a:cs typeface="Kosugi Maru"/>
                <a:sym typeface="Kosugi Maru"/>
              </a:rPr>
              <a:t>気持ちが痛いほどよく分かります</a:t>
            </a:r>
            <a:endParaRPr sz="1200">
              <a:solidFill>
                <a:srgbClr val="EF84C9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1200">
                <a:solidFill>
                  <a:schemeClr val="dk1"/>
                </a:solidFill>
                <a:latin typeface="Kosugi Maru"/>
                <a:ea typeface="Kosugi Maru"/>
                <a:cs typeface="Kosugi Maru"/>
                <a:sym typeface="Kosugi Maru"/>
              </a:rPr>
              <a:t>・カウンセラーとして重要な気持ちの</a:t>
            </a:r>
            <a:endParaRPr sz="1200">
              <a:solidFill>
                <a:schemeClr val="dk1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1200">
                <a:solidFill>
                  <a:schemeClr val="dk1"/>
                </a:solidFill>
                <a:latin typeface="Kosugi Maru"/>
                <a:ea typeface="Kosugi Maru"/>
                <a:cs typeface="Kosugi Maru"/>
                <a:sym typeface="Kosugi Maru"/>
              </a:rPr>
              <a:t>　</a:t>
            </a:r>
            <a:r>
              <a:rPr b="1" lang="ja" sz="1200">
                <a:solidFill>
                  <a:srgbClr val="EF84C9"/>
                </a:solidFill>
                <a:latin typeface="Kosugi Maru"/>
                <a:ea typeface="Kosugi Maru"/>
                <a:cs typeface="Kosugi Maru"/>
                <a:sym typeface="Kosugi Maru"/>
              </a:rPr>
              <a:t>寄り添いの部分が既に身に付いているんですね</a:t>
            </a:r>
            <a:endParaRPr b="1" sz="1200">
              <a:solidFill>
                <a:srgbClr val="EF84C9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1200">
                <a:solidFill>
                  <a:schemeClr val="dk1"/>
                </a:solidFill>
                <a:latin typeface="Kosugi Maru"/>
                <a:ea typeface="Kosugi Maru"/>
                <a:cs typeface="Kosugi Maru"/>
                <a:sym typeface="Kosugi Maru"/>
              </a:rPr>
              <a:t>→結果ママに</a:t>
            </a:r>
            <a:r>
              <a:rPr b="1" lang="ja" sz="1200">
                <a:solidFill>
                  <a:srgbClr val="EF84C9"/>
                </a:solidFill>
                <a:latin typeface="Kosugi Maru"/>
                <a:ea typeface="Kosugi Maru"/>
                <a:cs typeface="Kosugi Maru"/>
                <a:sym typeface="Kosugi Maru"/>
              </a:rPr>
              <a:t>信頼されるので</a:t>
            </a:r>
            <a:endParaRPr b="1" sz="1200">
              <a:solidFill>
                <a:srgbClr val="EF84C9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1200">
                <a:solidFill>
                  <a:schemeClr val="dk1"/>
                </a:solidFill>
                <a:latin typeface="Kosugi Maru"/>
                <a:ea typeface="Kosugi Maru"/>
                <a:cs typeface="Kosugi Maru"/>
                <a:sym typeface="Kosugi Maru"/>
              </a:rPr>
              <a:t>→カウンセラーとして</a:t>
            </a:r>
            <a:r>
              <a:rPr b="1" lang="ja" sz="1200">
                <a:solidFill>
                  <a:srgbClr val="EF84C9"/>
                </a:solidFill>
                <a:latin typeface="Kosugi Maru"/>
                <a:ea typeface="Kosugi Maru"/>
                <a:cs typeface="Kosugi Maru"/>
                <a:sym typeface="Kosugi Maru"/>
              </a:rPr>
              <a:t>成功しやすいんです</a:t>
            </a:r>
            <a:endParaRPr sz="1200">
              <a:solidFill>
                <a:schemeClr val="dk1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1200"/>
              <a:t>つまり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200"/>
              <a:t>成功しやすい土台が整ったところから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200"/>
              <a:t>スタートできるということになります。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8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g34e9a475d13_0_5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0" name="Google Shape;490;g34e9a475d13_0_5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5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Google Shape;496;g34e9a475d13_0_5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7" name="Google Shape;497;g34e9a475d13_0_5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1200"/>
              <a:t>一般的なカウンセラーは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200">
                <a:solidFill>
                  <a:schemeClr val="dk1"/>
                </a:solidFill>
                <a:latin typeface="Kosugi Maru"/>
                <a:ea typeface="Kosugi Maru"/>
                <a:cs typeface="Kosugi Maru"/>
                <a:sym typeface="Kosugi Maru"/>
              </a:rPr>
              <a:t>・人の</a:t>
            </a:r>
            <a:r>
              <a:rPr lang="ja" sz="1200">
                <a:solidFill>
                  <a:srgbClr val="4472C4"/>
                </a:solidFill>
                <a:latin typeface="Kosugi Maru"/>
                <a:ea typeface="Kosugi Maru"/>
                <a:cs typeface="Kosugi Maru"/>
                <a:sym typeface="Kosugi Maru"/>
              </a:rPr>
              <a:t>メンタルを扱う</a:t>
            </a:r>
            <a:endParaRPr sz="1200">
              <a:solidFill>
                <a:srgbClr val="4472C4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200">
                <a:solidFill>
                  <a:schemeClr val="dk1"/>
                </a:solidFill>
                <a:latin typeface="Kosugi Maru"/>
                <a:ea typeface="Kosugi Maru"/>
                <a:cs typeface="Kosugi Maru"/>
                <a:sym typeface="Kosugi Maru"/>
              </a:rPr>
              <a:t>　　悩みを聞いたり、沈んだ気持ちを傾聴</a:t>
            </a:r>
            <a:endParaRPr sz="1200">
              <a:solidFill>
                <a:schemeClr val="dk1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200">
                <a:solidFill>
                  <a:schemeClr val="dk1"/>
                </a:solidFill>
                <a:latin typeface="Kosugi Maru"/>
                <a:ea typeface="Kosugi Maru"/>
                <a:cs typeface="Kosugi Maru"/>
                <a:sym typeface="Kosugi Maru"/>
              </a:rPr>
              <a:t>・基本的には</a:t>
            </a:r>
            <a:r>
              <a:rPr lang="ja" sz="1200">
                <a:solidFill>
                  <a:srgbClr val="4472C4"/>
                </a:solidFill>
                <a:latin typeface="Kosugi Maru"/>
                <a:ea typeface="Kosugi Maru"/>
                <a:cs typeface="Kosugi Maru"/>
                <a:sym typeface="Kosugi Maru"/>
              </a:rPr>
              <a:t>下がったメンタル</a:t>
            </a:r>
            <a:r>
              <a:rPr lang="ja" sz="1200">
                <a:solidFill>
                  <a:schemeClr val="dk1"/>
                </a:solidFill>
                <a:latin typeface="Kosugi Maru"/>
                <a:ea typeface="Kosugi Maru"/>
                <a:cs typeface="Kosugi Maru"/>
                <a:sym typeface="Kosugi Maru"/>
              </a:rPr>
              <a:t>を</a:t>
            </a:r>
            <a:endParaRPr sz="1200">
              <a:solidFill>
                <a:schemeClr val="dk1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200">
                <a:solidFill>
                  <a:schemeClr val="dk1"/>
                </a:solidFill>
                <a:latin typeface="Kosugi Maru"/>
                <a:ea typeface="Kosugi Maru"/>
                <a:cs typeface="Kosugi Maru"/>
                <a:sym typeface="Kosugi Maru"/>
              </a:rPr>
              <a:t>　通常状態に戻して完了</a:t>
            </a:r>
            <a:endParaRPr sz="1200">
              <a:solidFill>
                <a:schemeClr val="dk1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200">
                <a:solidFill>
                  <a:schemeClr val="dk1"/>
                </a:solidFill>
                <a:latin typeface="Kosugi Maru"/>
                <a:ea typeface="Kosugi Maru"/>
                <a:cs typeface="Kosugi Maru"/>
                <a:sym typeface="Kosugi Maru"/>
              </a:rPr>
              <a:t>・「正常なﾒﾝﾀﾙを取り戻せて良かった」</a:t>
            </a:r>
            <a:endParaRPr sz="1200">
              <a:solidFill>
                <a:schemeClr val="dk1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200">
                <a:solidFill>
                  <a:schemeClr val="dk1"/>
                </a:solidFill>
                <a:latin typeface="Kosugi Maru"/>
                <a:ea typeface="Kosugi Maru"/>
                <a:cs typeface="Kosugi Maru"/>
                <a:sym typeface="Kosugi Maru"/>
              </a:rPr>
              <a:t>　「ﾏｲﾅｽから通常状態に戻せて良かった」</a:t>
            </a:r>
            <a:endParaRPr sz="1200">
              <a:solidFill>
                <a:schemeClr val="dk1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200">
                <a:solidFill>
                  <a:schemeClr val="dk1"/>
                </a:solidFill>
                <a:latin typeface="Kosugi Maru"/>
                <a:ea typeface="Kosugi Maru"/>
                <a:cs typeface="Kosugi Maru"/>
                <a:sym typeface="Kosugi Maru"/>
              </a:rPr>
              <a:t>・どうやって声をかけて良いかわからない　ケースもあり、</a:t>
            </a:r>
            <a:r>
              <a:rPr lang="ja" sz="1200">
                <a:solidFill>
                  <a:srgbClr val="4472C4"/>
                </a:solidFill>
                <a:latin typeface="Kosugi Maru"/>
                <a:ea typeface="Kosugi Maru"/>
                <a:cs typeface="Kosugi Maru"/>
                <a:sym typeface="Kosugi Maru"/>
              </a:rPr>
              <a:t>神経がすり減る</a:t>
            </a:r>
            <a:endParaRPr sz="1200">
              <a:solidFill>
                <a:srgbClr val="4472C4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rgbClr val="4472C4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200">
                <a:solidFill>
                  <a:schemeClr val="dk1"/>
                </a:solidFill>
                <a:latin typeface="Kosugi Maru"/>
                <a:ea typeface="Kosugi Maru"/>
                <a:cs typeface="Kosugi Maru"/>
                <a:sym typeface="Kosugi Maru"/>
              </a:rPr>
              <a:t>・ﾒﾝﾀﾙが落ちているクライアントからの</a:t>
            </a:r>
            <a:endParaRPr sz="1200">
              <a:solidFill>
                <a:schemeClr val="dk1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200">
                <a:solidFill>
                  <a:schemeClr val="dk1"/>
                </a:solidFill>
                <a:latin typeface="Kosugi Maru"/>
                <a:ea typeface="Kosugi Maru"/>
                <a:cs typeface="Kosugi Maru"/>
                <a:sym typeface="Kosugi Maru"/>
              </a:rPr>
              <a:t>　</a:t>
            </a:r>
            <a:r>
              <a:rPr lang="ja" sz="1200">
                <a:solidFill>
                  <a:srgbClr val="4472C4"/>
                </a:solidFill>
                <a:latin typeface="Kosugi Maru"/>
                <a:ea typeface="Kosugi Maru"/>
                <a:cs typeface="Kosugi Maru"/>
                <a:sym typeface="Kosugi Maru"/>
              </a:rPr>
              <a:t>きつい言葉でこちらがメンタルにくる</a:t>
            </a:r>
            <a:endParaRPr sz="1200">
              <a:solidFill>
                <a:srgbClr val="4472C4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200">
                <a:solidFill>
                  <a:schemeClr val="dk1"/>
                </a:solidFill>
                <a:latin typeface="Kosugi Maru"/>
                <a:ea typeface="Kosugi Maru"/>
                <a:cs typeface="Kosugi Maru"/>
                <a:sym typeface="Kosugi Maru"/>
              </a:rPr>
              <a:t>・自分のメンタルが落ちている時でも</a:t>
            </a:r>
            <a:endParaRPr sz="1200">
              <a:solidFill>
                <a:schemeClr val="dk1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200">
                <a:solidFill>
                  <a:schemeClr val="dk1"/>
                </a:solidFill>
                <a:latin typeface="Kosugi Maru"/>
                <a:ea typeface="Kosugi Maru"/>
                <a:cs typeface="Kosugi Maru"/>
                <a:sym typeface="Kosugi Maru"/>
              </a:rPr>
              <a:t>　相手に尽くす必要がある</a:t>
            </a:r>
            <a:endParaRPr sz="1200">
              <a:solidFill>
                <a:schemeClr val="dk1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200">
                <a:solidFill>
                  <a:schemeClr val="dk1"/>
                </a:solidFill>
                <a:latin typeface="Kosugi Maru"/>
                <a:ea typeface="Kosugi Maru"/>
                <a:cs typeface="Kosugi Maru"/>
                <a:sym typeface="Kosugi Maru"/>
              </a:rPr>
              <a:t>・やりがいと共に</a:t>
            </a:r>
            <a:r>
              <a:rPr lang="ja" sz="1200">
                <a:solidFill>
                  <a:srgbClr val="4472C4"/>
                </a:solidFill>
                <a:latin typeface="Kosugi Maru"/>
                <a:ea typeface="Kosugi Maru"/>
                <a:cs typeface="Kosugi Maru"/>
                <a:sym typeface="Kosugi Maru"/>
              </a:rPr>
              <a:t>自分のﾒﾝﾀﾙとも常に戦う</a:t>
            </a:r>
            <a:endParaRPr sz="1200">
              <a:solidFill>
                <a:srgbClr val="4472C4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rgbClr val="4472C4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200">
                <a:solidFill>
                  <a:schemeClr val="dk1"/>
                </a:solidFill>
                <a:latin typeface="Kosugi Maru"/>
                <a:ea typeface="Kosugi Maru"/>
                <a:cs typeface="Kosugi Maru"/>
                <a:sym typeface="Kosugi Maru"/>
              </a:rPr>
              <a:t>育脳子育てカウンセラーは</a:t>
            </a:r>
            <a:endParaRPr sz="1200">
              <a:solidFill>
                <a:schemeClr val="dk1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1200">
                <a:solidFill>
                  <a:schemeClr val="dk1"/>
                </a:solidFill>
                <a:latin typeface="Kosugi Maru"/>
                <a:ea typeface="Kosugi Maru"/>
                <a:cs typeface="Kosugi Maru"/>
                <a:sym typeface="Kosugi Maru"/>
              </a:rPr>
              <a:t>ママとお子様の</a:t>
            </a:r>
            <a:endParaRPr sz="1200">
              <a:solidFill>
                <a:schemeClr val="dk1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1200">
                <a:solidFill>
                  <a:schemeClr val="dk1"/>
                </a:solidFill>
                <a:latin typeface="Kosugi Maru"/>
                <a:ea typeface="Kosugi Maru"/>
                <a:cs typeface="Kosugi Maru"/>
                <a:sym typeface="Kosugi Maru"/>
              </a:rPr>
              <a:t>コミュニケーションを扱う</a:t>
            </a:r>
            <a:endParaRPr sz="1200">
              <a:solidFill>
                <a:schemeClr val="dk1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1200">
                <a:solidFill>
                  <a:schemeClr val="dk1"/>
                </a:solidFill>
                <a:latin typeface="Kosugi Maru"/>
                <a:ea typeface="Kosugi Maru"/>
                <a:cs typeface="Kosugi Maru"/>
                <a:sym typeface="Kosugi Maru"/>
              </a:rPr>
              <a:t>	悩みを聞く</a:t>
            </a:r>
            <a:endParaRPr sz="1200">
              <a:solidFill>
                <a:schemeClr val="dk1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1200">
                <a:solidFill>
                  <a:schemeClr val="dk1"/>
                </a:solidFill>
                <a:latin typeface="Kosugi Maru"/>
                <a:ea typeface="Kosugi Maru"/>
                <a:cs typeface="Kosugi Maru"/>
                <a:sym typeface="Kosugi Maru"/>
              </a:rPr>
              <a:t>	お子様の様子を聞く</a:t>
            </a:r>
            <a:endParaRPr sz="1200">
              <a:solidFill>
                <a:schemeClr val="dk1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1200">
                <a:solidFill>
                  <a:schemeClr val="dk1"/>
                </a:solidFill>
                <a:latin typeface="Kosugi Maru"/>
                <a:ea typeface="Kosugi Maru"/>
                <a:cs typeface="Kosugi Maru"/>
                <a:sym typeface="Kosugi Maru"/>
              </a:rPr>
              <a:t>	触れ合いの様子を聞く</a:t>
            </a:r>
            <a:endParaRPr sz="1200">
              <a:solidFill>
                <a:schemeClr val="dk1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1200">
                <a:solidFill>
                  <a:schemeClr val="dk1"/>
                </a:solidFill>
                <a:latin typeface="Kosugi Maru"/>
                <a:ea typeface="Kosugi Maru"/>
                <a:cs typeface="Kosugi Maru"/>
                <a:sym typeface="Kosugi Maru"/>
              </a:rPr>
              <a:t>ママのイライラも解消</a:t>
            </a:r>
            <a:endParaRPr sz="1200">
              <a:solidFill>
                <a:schemeClr val="dk1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1200">
                <a:solidFill>
                  <a:schemeClr val="dk1"/>
                </a:solidFill>
                <a:latin typeface="Kosugi Maru"/>
                <a:ea typeface="Kosugi Maru"/>
                <a:cs typeface="Kosugi Maru"/>
                <a:sym typeface="Kosugi Maru"/>
              </a:rPr>
              <a:t>	子どものそれぞれの成長と共に</a:t>
            </a:r>
            <a:endParaRPr sz="1200">
              <a:solidFill>
                <a:schemeClr val="dk1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1200">
                <a:solidFill>
                  <a:schemeClr val="dk1"/>
                </a:solidFill>
                <a:latin typeface="Kosugi Maru"/>
                <a:ea typeface="Kosugi Maru"/>
                <a:cs typeface="Kosugi Maru"/>
                <a:sym typeface="Kosugi Maru"/>
              </a:rPr>
              <a:t>ママと子どもの関係が</a:t>
            </a:r>
            <a:endParaRPr sz="1200">
              <a:solidFill>
                <a:schemeClr val="dk1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1200">
                <a:solidFill>
                  <a:schemeClr val="dk1"/>
                </a:solidFill>
                <a:latin typeface="Kosugi Maru"/>
                <a:ea typeface="Kosugi Maru"/>
                <a:cs typeface="Kosugi Maru"/>
                <a:sym typeface="Kosugi Maru"/>
              </a:rPr>
              <a:t>どんどん良くなる</a:t>
            </a:r>
            <a:endParaRPr sz="1200">
              <a:solidFill>
                <a:schemeClr val="dk1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1200">
                <a:solidFill>
                  <a:schemeClr val="dk1"/>
                </a:solidFill>
                <a:latin typeface="Kosugi Maru"/>
                <a:ea typeface="Kosugi Maru"/>
                <a:cs typeface="Kosugi Maru"/>
                <a:sym typeface="Kosugi Maru"/>
              </a:rPr>
              <a:t>ママも子どもも笑顔が増える</a:t>
            </a:r>
            <a:endParaRPr sz="1200">
              <a:solidFill>
                <a:schemeClr val="dk1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1200">
                <a:solidFill>
                  <a:schemeClr val="dk1"/>
                </a:solidFill>
                <a:latin typeface="Kosugi Maru"/>
                <a:ea typeface="Kosugi Maru"/>
                <a:cs typeface="Kosugi Maru"/>
                <a:sym typeface="Kosugi Maru"/>
              </a:rPr>
              <a:t>感謝の声が届く</a:t>
            </a:r>
            <a:endParaRPr sz="1200">
              <a:solidFill>
                <a:schemeClr val="dk1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1200">
                <a:solidFill>
                  <a:schemeClr val="dk1"/>
                </a:solidFill>
                <a:latin typeface="Kosugi Maru"/>
                <a:ea typeface="Kosugi Maru"/>
                <a:cs typeface="Kosugi Maru"/>
                <a:sym typeface="Kosugi Maru"/>
              </a:rPr>
              <a:t>つまり、問題を抱えた状態から</a:t>
            </a:r>
            <a:endParaRPr sz="1200">
              <a:solidFill>
                <a:schemeClr val="dk1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1200">
                <a:solidFill>
                  <a:schemeClr val="dk1"/>
                </a:solidFill>
                <a:latin typeface="Kosugi Maru"/>
                <a:ea typeface="Kosugi Maru"/>
                <a:cs typeface="Kosugi Maru"/>
                <a:sym typeface="Kosugi Maru"/>
              </a:rPr>
              <a:t>ニュートラルではなく、</a:t>
            </a:r>
            <a:endParaRPr sz="1200">
              <a:solidFill>
                <a:schemeClr val="dk1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1200">
                <a:solidFill>
                  <a:schemeClr val="dk1"/>
                </a:solidFill>
                <a:latin typeface="Kosugi Maru"/>
                <a:ea typeface="Kosugi Maru"/>
                <a:cs typeface="Kosugi Maru"/>
                <a:sym typeface="Kosugi Maru"/>
              </a:rPr>
              <a:t>成長したプラスのレベルまで引き上げる</a:t>
            </a:r>
            <a:endParaRPr sz="1200">
              <a:solidFill>
                <a:schemeClr val="dk1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1200">
                <a:solidFill>
                  <a:schemeClr val="dk1"/>
                </a:solidFill>
                <a:latin typeface="Kosugi Maru"/>
                <a:ea typeface="Kosugi Maru"/>
                <a:cs typeface="Kosugi Maru"/>
                <a:sym typeface="Kosugi Maru"/>
              </a:rPr>
              <a:t>	例えば・・・</a:t>
            </a:r>
            <a:endParaRPr sz="1200">
              <a:solidFill>
                <a:schemeClr val="dk1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1200">
                <a:solidFill>
                  <a:schemeClr val="dk1"/>
                </a:solidFill>
                <a:latin typeface="Kosugi Maru"/>
                <a:ea typeface="Kosugi Maru"/>
                <a:cs typeface="Kosugi Maru"/>
                <a:sym typeface="Kosugi Maru"/>
              </a:rPr>
              <a:t>	サポート前のマイナス状態</a:t>
            </a:r>
            <a:endParaRPr sz="1200">
              <a:solidFill>
                <a:schemeClr val="dk1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1200">
                <a:solidFill>
                  <a:schemeClr val="dk1"/>
                </a:solidFill>
                <a:latin typeface="Kosugi Maru"/>
                <a:ea typeface="Kosugi Maru"/>
                <a:cs typeface="Kosugi Maru"/>
                <a:sym typeface="Kosugi Maru"/>
              </a:rPr>
              <a:t>		ママ：イライラ、自責</a:t>
            </a:r>
            <a:endParaRPr sz="1200">
              <a:solidFill>
                <a:schemeClr val="dk1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1200">
                <a:solidFill>
                  <a:schemeClr val="dk1"/>
                </a:solidFill>
                <a:latin typeface="Kosugi Maru"/>
                <a:ea typeface="Kosugi Maru"/>
                <a:cs typeface="Kosugi Maru"/>
                <a:sym typeface="Kosugi Maru"/>
              </a:rPr>
              <a:t>		子ども：イライラママの顔色が気になる</a:t>
            </a:r>
            <a:endParaRPr sz="1200">
              <a:solidFill>
                <a:schemeClr val="dk1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1200">
                <a:solidFill>
                  <a:schemeClr val="dk1"/>
                </a:solidFill>
                <a:latin typeface="Kosugi Maru"/>
                <a:ea typeface="Kosugi Maru"/>
                <a:cs typeface="Kosugi Maru"/>
                <a:sym typeface="Kosugi Maru"/>
              </a:rPr>
              <a:t>		コミュニケーション：不安定</a:t>
            </a:r>
            <a:endParaRPr sz="1200">
              <a:solidFill>
                <a:schemeClr val="dk1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1200">
                <a:solidFill>
                  <a:schemeClr val="dk1"/>
                </a:solidFill>
                <a:latin typeface="Kosugi Maru"/>
                <a:ea typeface="Kosugi Maru"/>
                <a:cs typeface="Kosugi Maru"/>
                <a:sym typeface="Kosugi Maru"/>
              </a:rPr>
              <a:t>	サポート後のプラス状態</a:t>
            </a:r>
            <a:endParaRPr sz="1200">
              <a:solidFill>
                <a:schemeClr val="dk1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1200">
                <a:solidFill>
                  <a:schemeClr val="dk1"/>
                </a:solidFill>
                <a:latin typeface="Kosugi Maru"/>
                <a:ea typeface="Kosugi Maru"/>
                <a:cs typeface="Kosugi Maru"/>
                <a:sym typeface="Kosugi Maru"/>
              </a:rPr>
              <a:t>		ママ：笑顔、子育てに自信が持てる</a:t>
            </a:r>
            <a:endParaRPr sz="1200">
              <a:solidFill>
                <a:schemeClr val="dk1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1200">
                <a:solidFill>
                  <a:schemeClr val="dk1"/>
                </a:solidFill>
                <a:latin typeface="Kosugi Maru"/>
                <a:ea typeface="Kosugi Maru"/>
                <a:cs typeface="Kosugi Maru"/>
                <a:sym typeface="Kosugi Maru"/>
              </a:rPr>
              <a:t>		子ども：笑顔、徐々に賢い子に成長</a:t>
            </a:r>
            <a:endParaRPr sz="1200">
              <a:solidFill>
                <a:schemeClr val="dk1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1200">
                <a:solidFill>
                  <a:schemeClr val="dk1"/>
                </a:solidFill>
                <a:latin typeface="Kosugi Maru"/>
                <a:ea typeface="Kosugi Maru"/>
                <a:cs typeface="Kosugi Maru"/>
                <a:sym typeface="Kosugi Maru"/>
              </a:rPr>
              <a:t>		コミュニケーション：笑顔で安定</a:t>
            </a:r>
            <a:endParaRPr sz="1200">
              <a:solidFill>
                <a:schemeClr val="dk1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1200">
                <a:solidFill>
                  <a:schemeClr val="dk1"/>
                </a:solidFill>
                <a:latin typeface="Kosugi Maru"/>
                <a:ea typeface="Kosugi Maru"/>
                <a:cs typeface="Kosugi Maru"/>
                <a:sym typeface="Kosugi Maru"/>
              </a:rPr>
              <a:t>		（※もちろん、これが全ての状態を表してはいません）</a:t>
            </a:r>
            <a:endParaRPr sz="1200">
              <a:solidFill>
                <a:schemeClr val="dk1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1200">
                <a:solidFill>
                  <a:schemeClr val="dk1"/>
                </a:solidFill>
                <a:latin typeface="Kosugi Maru"/>
                <a:ea typeface="Kosugi Maru"/>
                <a:cs typeface="Kosugi Maru"/>
                <a:sym typeface="Kosugi Maru"/>
              </a:rPr>
              <a:t>サポートする家族の成長に携われる</a:t>
            </a:r>
            <a:endParaRPr sz="1200">
              <a:solidFill>
                <a:schemeClr val="dk1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1200">
                <a:solidFill>
                  <a:schemeClr val="dk1"/>
                </a:solidFill>
                <a:latin typeface="Kosugi Maru"/>
                <a:ea typeface="Kosugi Maru"/>
                <a:cs typeface="Kosugi Maru"/>
                <a:sym typeface="Kosugi Maru"/>
              </a:rPr>
              <a:t>	成長を感じられた時は、</a:t>
            </a:r>
            <a:endParaRPr sz="1200">
              <a:solidFill>
                <a:schemeClr val="dk1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1200">
                <a:solidFill>
                  <a:schemeClr val="dk1"/>
                </a:solidFill>
                <a:latin typeface="Kosugi Maru"/>
                <a:ea typeface="Kosugi Maru"/>
                <a:cs typeface="Kosugi Maru"/>
                <a:sym typeface="Kosugi Maru"/>
              </a:rPr>
              <a:t>まるでそのご家族のママになったように喜べる</a:t>
            </a:r>
            <a:endParaRPr sz="1200">
              <a:solidFill>
                <a:schemeClr val="dk1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1200">
                <a:solidFill>
                  <a:schemeClr val="dk1"/>
                </a:solidFill>
                <a:latin typeface="Kosugi Maru"/>
                <a:ea typeface="Kosugi Maru"/>
                <a:cs typeface="Kosugi Maru"/>
                <a:sym typeface="Kosugi Maru"/>
              </a:rPr>
              <a:t>	ご家族の笑顔と共に、感謝の声をもらうと心から</a:t>
            </a:r>
            <a:endParaRPr sz="1200">
              <a:solidFill>
                <a:schemeClr val="dk1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1200">
                <a:solidFill>
                  <a:schemeClr val="dk1"/>
                </a:solidFill>
                <a:latin typeface="Kosugi Maru"/>
                <a:ea typeface="Kosugi Maru"/>
                <a:cs typeface="Kosugi Maru"/>
                <a:sym typeface="Kosugi Maru"/>
              </a:rPr>
              <a:t>「この仕事をやっていて良かった」と思える</a:t>
            </a:r>
            <a:endParaRPr sz="1200">
              <a:solidFill>
                <a:schemeClr val="dk1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1200">
                <a:solidFill>
                  <a:schemeClr val="dk1"/>
                </a:solidFill>
                <a:latin typeface="Kosugi Maru"/>
                <a:ea typeface="Kosugi Maru"/>
                <a:cs typeface="Kosugi Maru"/>
                <a:sym typeface="Kosugi Maru"/>
              </a:rPr>
              <a:t>	こんな見方もできる</a:t>
            </a:r>
            <a:endParaRPr sz="1200">
              <a:solidFill>
                <a:schemeClr val="dk1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1200">
                <a:solidFill>
                  <a:schemeClr val="dk1"/>
                </a:solidFill>
                <a:latin typeface="Kosugi Maru"/>
                <a:ea typeface="Kosugi Maru"/>
                <a:cs typeface="Kosugi Maru"/>
                <a:sym typeface="Kosugi Maru"/>
              </a:rPr>
              <a:t>		「日本の未来にあなたが貢献した種を残せる」</a:t>
            </a:r>
            <a:endParaRPr sz="1200">
              <a:solidFill>
                <a:schemeClr val="dk1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1200">
                <a:solidFill>
                  <a:schemeClr val="dk1"/>
                </a:solidFill>
                <a:latin typeface="Kosugi Maru"/>
                <a:ea typeface="Kosugi Maru"/>
                <a:cs typeface="Kosugi Maru"/>
                <a:sym typeface="Kosugi Maru"/>
              </a:rPr>
              <a:t>	この気持ちが「やりがい」に繋がる</a:t>
            </a:r>
            <a:endParaRPr sz="1200">
              <a:solidFill>
                <a:schemeClr val="dk1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7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Google Shape;508;g34e9a475d13_0_6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9" name="Google Shape;509;g34e9a475d13_0_6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4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g34e9a475d13_0_6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6" name="Google Shape;516;g34e9a475d13_0_6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、、、（全部読み終わってから）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/>
              <a:t>こんなシーンを想像してみてください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/>
              <a:t>・自分の子育てがラクになって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/>
              <a:t>・子どもも賢く育ってくれて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/>
              <a:t>・あの先生のサービスを受けて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/>
              <a:t>　本当に良かったな、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/>
              <a:t>と最高に信頼できる先生が居る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/>
              <a:t>そんな中、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/>
              <a:t>近くに子育てに困ったママ友がいたら・・・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	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/>
              <a:t>あなたならどうしますか？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/>
              <a:t>「あの先生を紹介してあげようかな？」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となりませんか？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/>
              <a:t>一度築いた信頼関係が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/>
              <a:t>次のお客様を繋げてくれる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/>
              <a:t>この信頼の繋がりを広げやすいも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この働き方の特徴</a:t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0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Google Shape;531;g34e9a475d13_0_6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2" name="Google Shape;532;g34e9a475d13_0_6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7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g34e9a475d13_0_6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9" name="Google Shape;539;g34e9a475d13_0_6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9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Google Shape;550;g34e9c2cf220_0_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1" name="Google Shape;551;g34e9c2cf220_0_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2" name="Google Shape;552;g34e9c2cf220_0_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7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g34e9c2cf220_0_9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9" name="Google Shape;559;g34e9c2cf220_0_9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0" name="Google Shape;560;g34e9c2cf220_0_9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5" name="Shape 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Google Shape;566;g34e9c2cf220_0_10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7" name="Google Shape;567;g34e9c2cf220_0_10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8" name="Google Shape;568;g34e9c2cf220_0_10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6" name="Shape 5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7" name="Google Shape;577;g34e9c2cf220_0_1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8" name="Google Shape;578;g34e9c2cf220_0_11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300">
                <a:solidFill>
                  <a:schemeClr val="dk1"/>
                </a:solidFill>
              </a:rPr>
              <a:t>起業のきっかけは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300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「なんでお母さん働かないの？」と長男に言われたことでした。</a:t>
            </a:r>
            <a:endParaRPr sz="1300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300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300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そこから色々資格を取得し、</a:t>
            </a:r>
            <a:r>
              <a:rPr lang="ja" sz="1300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ベビーマッサージ講師やベビー専門</a:t>
            </a:r>
            <a:endParaRPr sz="1300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300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フォトグラファーとして働き始めました</a:t>
            </a:r>
            <a:endParaRPr sz="100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/>
          </a:p>
        </p:txBody>
      </p:sp>
      <p:sp>
        <p:nvSpPr>
          <p:cNvPr id="579" name="Google Shape;579;g34e9c2cf220_0_11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7" name="Shape 5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8" name="Google Shape;588;g34e9c2cf220_0_1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9" name="Google Shape;589;g34e9c2cf220_0_12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おうち起業</a:t>
            </a:r>
            <a:endParaRPr/>
          </a:p>
        </p:txBody>
      </p:sp>
      <p:sp>
        <p:nvSpPr>
          <p:cNvPr id="590" name="Google Shape;590;g34e9c2cf220_0_12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8" name="Shape 5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9" name="Google Shape;599;g34e9c2cf220_0_13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0" name="Google Shape;600;g34e9c2cf220_0_13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300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はじめは”まみ式育て方”をそのまま伝えようとしたんですが</a:t>
            </a:r>
            <a:endParaRPr sz="1300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300">
                <a:solidFill>
                  <a:schemeClr val="dk1"/>
                </a:solidFill>
                <a:latin typeface="Kosugi Maru"/>
                <a:ea typeface="Kosugi Maru"/>
                <a:cs typeface="Kosugi Maru"/>
                <a:sym typeface="Kosugi Maru"/>
              </a:rPr>
              <a:t>ケースが当てはまらないことがたくさん出てきたんです💦</a:t>
            </a:r>
            <a:endParaRPr sz="1300">
              <a:solidFill>
                <a:schemeClr val="dk1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300">
                <a:solidFill>
                  <a:schemeClr val="dk1"/>
                </a:solidFill>
                <a:latin typeface="Kosugi Maru"/>
                <a:ea typeface="Kosugi Maru"/>
                <a:cs typeface="Kosugi Maru"/>
                <a:sym typeface="Kosugi Maru"/>
              </a:rPr>
              <a:t>それは、、、</a:t>
            </a:r>
            <a:endParaRPr sz="1300">
              <a:solidFill>
                <a:schemeClr val="dk1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300"/>
              <a:t>・働いているママはとにかく時間がないということから</a:t>
            </a:r>
            <a:endParaRPr sz="1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1300"/>
              <a:t>子供に申し訳なさや不安があったり</a:t>
            </a:r>
            <a:endParaRPr sz="1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300"/>
              <a:t>・専業主婦はずっと一緒なんですよね。</a:t>
            </a:r>
            <a:endParaRPr sz="1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300"/>
              <a:t>場所も一緒、相手も一緒なので、ループから抜け出せなかったり</a:t>
            </a:r>
            <a:endParaRPr sz="1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300"/>
              <a:t>何か新しいことを始める心の余裕がなかったりします</a:t>
            </a:r>
            <a:endParaRPr sz="1300"/>
          </a:p>
        </p:txBody>
      </p:sp>
      <p:sp>
        <p:nvSpPr>
          <p:cNvPr id="601" name="Google Shape;601;g34e9c2cf220_0_13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9" name="Shape 6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0" name="Google Shape;610;g34e9c2cf220_0_14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1" name="Google Shape;611;g34e9c2cf220_0_14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300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時間も心の余裕もない忙しいママに</a:t>
            </a:r>
            <a:endParaRPr sz="1300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1300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たくさんのこと伝えては駄目かもと思い</a:t>
            </a:r>
            <a:endParaRPr sz="1300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1500">
                <a:solidFill>
                  <a:srgbClr val="EF84C9"/>
                </a:solidFill>
                <a:latin typeface="Kosugi Maru"/>
                <a:ea typeface="Kosugi Maru"/>
                <a:cs typeface="Kosugi Maru"/>
                <a:sym typeface="Kosugi Maru"/>
              </a:rPr>
              <a:t>時間がなくてもできる</a:t>
            </a:r>
            <a:endParaRPr sz="1500">
              <a:solidFill>
                <a:srgbClr val="EF84C9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500">
                <a:solidFill>
                  <a:srgbClr val="EF84C9"/>
                </a:solidFill>
                <a:latin typeface="Kosugi Maru"/>
                <a:ea typeface="Kosugi Maru"/>
                <a:cs typeface="Kosugi Maru"/>
                <a:sym typeface="Kosugi Maru"/>
              </a:rPr>
              <a:t>ママが楽（ラク）になる方法を探した</a:t>
            </a:r>
            <a:endParaRPr sz="200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  <p:sp>
        <p:nvSpPr>
          <p:cNvPr id="612" name="Google Shape;612;g34e9c2cf220_0_14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2" name="Shape 6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3" name="Google Shape;623;g34e9c2cf220_0_15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4" name="Google Shape;624;g34e9c2cf220_0_15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5" name="Google Shape;625;g34e9c2cf220_0_15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1" name="Shape 6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2" name="Google Shape;632;g34e9c2cf220_0_16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3" name="Google Shape;633;g34e9c2cf220_0_16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300">
                <a:solidFill>
                  <a:schemeClr val="dk1"/>
                </a:solidFill>
              </a:rPr>
              <a:t>「簡単ですぐに効果が見える！」ということで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300">
                <a:solidFill>
                  <a:schemeClr val="dk1"/>
                </a:solidFill>
              </a:rPr>
              <a:t>自然とリピートも口コミも増えていきました。</a:t>
            </a:r>
            <a:endParaRPr sz="1000"/>
          </a:p>
        </p:txBody>
      </p:sp>
      <p:sp>
        <p:nvSpPr>
          <p:cNvPr id="634" name="Google Shape;634;g34e9c2cf220_0_16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6" name="Shape 6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7" name="Google Shape;647;g34e9c2cf220_0_17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8" name="Google Shape;648;g34e9c2cf220_0_17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9" name="Google Shape;649;g34e9c2cf220_0_17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7" name="Shape 6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8" name="Google Shape;658;g34e9c2cf220_0_18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9" name="Google Shape;659;g34e9c2cf220_0_18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300">
                <a:solidFill>
                  <a:schemeClr val="dk1"/>
                </a:solidFill>
                <a:latin typeface="Kosugi Maru"/>
                <a:ea typeface="Kosugi Maru"/>
                <a:cs typeface="Kosugi Maru"/>
                <a:sym typeface="Kosugi Maru"/>
              </a:rPr>
              <a:t>挑戦心、協調性、努力、</a:t>
            </a:r>
            <a:endParaRPr sz="1300">
              <a:solidFill>
                <a:schemeClr val="dk1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300">
                <a:solidFill>
                  <a:schemeClr val="dk1"/>
                </a:solidFill>
                <a:latin typeface="Kosugi Maru"/>
                <a:ea typeface="Kosugi Maru"/>
                <a:cs typeface="Kosugi Maru"/>
                <a:sym typeface="Kosugi Maru"/>
              </a:rPr>
              <a:t>自己肯定感、自制心</a:t>
            </a:r>
            <a:endParaRPr sz="1300">
              <a:solidFill>
                <a:schemeClr val="dk1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300">
                <a:solidFill>
                  <a:schemeClr val="dk1"/>
                </a:solidFill>
                <a:latin typeface="Kosugi Maru"/>
                <a:ea typeface="Kosugi Maru"/>
                <a:cs typeface="Kosugi Maru"/>
                <a:sym typeface="Kosugi Maru"/>
              </a:rPr>
              <a:t>これらのベースになるものです。</a:t>
            </a:r>
            <a:endParaRPr sz="1300">
              <a:solidFill>
                <a:schemeClr val="dk1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400">
              <a:solidFill>
                <a:schemeClr val="dk1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300">
                <a:solidFill>
                  <a:schemeClr val="dk1"/>
                </a:solidFill>
              </a:rPr>
              <a:t>「ウチはこれをやってきたから伸びたのかな？」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" sz="1300">
                <a:solidFill>
                  <a:schemeClr val="dk1"/>
                </a:solidFill>
              </a:rPr>
              <a:t>と思う項目がいくつもありました。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" sz="1300">
                <a:solidFill>
                  <a:schemeClr val="dk1"/>
                </a:solidFill>
              </a:rPr>
              <a:t>特にスキンシップは思うところがたくさんありましたし、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300">
                <a:solidFill>
                  <a:schemeClr val="dk1"/>
                </a:solidFill>
              </a:rPr>
              <a:t>”１秒育脳”と強く関係している部分です^^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300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他にも、絵本の読み聞かせ、スキンシップなど</a:t>
            </a:r>
            <a:endParaRPr sz="1300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300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簡単なもので効果あります　</a:t>
            </a:r>
            <a:endParaRPr sz="1300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300">
                <a:solidFill>
                  <a:schemeClr val="dk1"/>
                </a:solidFill>
                <a:latin typeface="Kosugi Maru"/>
                <a:ea typeface="Kosugi Maru"/>
                <a:cs typeface="Kosugi Maru"/>
                <a:sym typeface="Kosugi Maru"/>
              </a:rPr>
              <a:t>→詳しくはDay2以降で</a:t>
            </a:r>
            <a:r>
              <a:rPr lang="ja" sz="1300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お話ししますので、楽しみにしていてくださいね！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/>
          </a:p>
        </p:txBody>
      </p:sp>
      <p:sp>
        <p:nvSpPr>
          <p:cNvPr id="660" name="Google Shape;660;g34e9c2cf220_0_18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9" name="Shape 6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0" name="Google Shape;670;g34e9c2cf220_0_19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1" name="Google Shape;671;g34e9c2cf220_0_19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300">
                <a:solidFill>
                  <a:schemeClr val="dk1"/>
                </a:solidFill>
              </a:rPr>
              <a:t>・・・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300">
                <a:solidFill>
                  <a:schemeClr val="dk1"/>
                </a:solidFill>
              </a:rPr>
              <a:t>このメソッドを取り入れて5000組以上のお客様に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300">
                <a:solidFill>
                  <a:schemeClr val="dk1"/>
                </a:solidFill>
              </a:rPr>
              <a:t>クレームゼロでとても喜んでいただけるサービスを届けることができました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/>
          </a:p>
        </p:txBody>
      </p:sp>
      <p:sp>
        <p:nvSpPr>
          <p:cNvPr id="672" name="Google Shape;672;g34e9c2cf220_0_19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9" name="Shape 6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0" name="Google Shape;680;g34ba4ba4a2c_1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1" name="Google Shape;681;g34ba4ba4a2c_1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/>
          </a:p>
        </p:txBody>
      </p:sp>
      <p:sp>
        <p:nvSpPr>
          <p:cNvPr id="682" name="Google Shape;682;g34ba4ba4a2c_1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8" name="Shape 6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9" name="Google Shape;689;g34e9c2cf220_0_20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0" name="Google Shape;690;g34e9c2cf220_0_20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35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/>
          </a:p>
        </p:txBody>
      </p:sp>
      <p:sp>
        <p:nvSpPr>
          <p:cNvPr id="691" name="Google Shape;691;g34e9c2cf220_0_20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0" name="Shape 7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1" name="Google Shape;701;g34e9c2cf220_0_3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2" name="Google Shape;702;g34e9c2cf220_0_31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350">
                <a:solidFill>
                  <a:schemeClr val="dk1"/>
                </a:solidFill>
              </a:rPr>
              <a:t>発達遅れのお子さんに対して、希望となる（これによって希望が見える）</a:t>
            </a:r>
            <a:endParaRPr sz="135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/>
          </a:p>
        </p:txBody>
      </p:sp>
      <p:sp>
        <p:nvSpPr>
          <p:cNvPr id="703" name="Google Shape;703;g34e9c2cf220_0_31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2" name="Shape 7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3" name="Google Shape;713;g34e9c2cf220_0_3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4" name="Google Shape;714;g34e9c2cf220_0_32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350">
              <a:solidFill>
                <a:schemeClr val="dk1"/>
              </a:solidFill>
            </a:endParaRPr>
          </a:p>
        </p:txBody>
      </p:sp>
      <p:sp>
        <p:nvSpPr>
          <p:cNvPr id="715" name="Google Shape;715;g34e9c2cf220_0_32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4" name="Shape 7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5" name="Google Shape;725;g34ba4ba4a2c_1_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6" name="Google Shape;726;g34ba4ba4a2c_1_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/>
          </a:p>
        </p:txBody>
      </p:sp>
      <p:sp>
        <p:nvSpPr>
          <p:cNvPr id="727" name="Google Shape;727;g34ba4ba4a2c_1_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3" name="Shape 7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4" name="Google Shape;734;g34ba4ba4a2c_1_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5" name="Google Shape;735;g34ba4ba4a2c_1_1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95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650">
                <a:solidFill>
                  <a:srgbClr val="4472C4"/>
                </a:solidFill>
                <a:latin typeface="Kosugi Maru"/>
                <a:ea typeface="Kosugi Maru"/>
                <a:cs typeface="Kosugi Maru"/>
                <a:sym typeface="Kosugi Maru"/>
              </a:rPr>
              <a:t>迷った時に参照できる資料もある</a:t>
            </a:r>
            <a:endParaRPr sz="1650">
              <a:solidFill>
                <a:srgbClr val="4472C4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650">
                <a:solidFill>
                  <a:srgbClr val="4472C4"/>
                </a:solidFill>
                <a:latin typeface="Kosugi Maru"/>
                <a:ea typeface="Kosugi Maru"/>
                <a:cs typeface="Kosugi Maru"/>
                <a:sym typeface="Kosugi Maru"/>
              </a:rPr>
              <a:t>「これって育脳のためには良いかな？」と思ったら</a:t>
            </a:r>
            <a:endParaRPr sz="1650">
              <a:solidFill>
                <a:srgbClr val="4472C4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650">
                <a:solidFill>
                  <a:srgbClr val="4472C4"/>
                </a:solidFill>
                <a:latin typeface="Kosugi Maru"/>
                <a:ea typeface="Kosugi Maru"/>
                <a:cs typeface="Kosugi Maru"/>
                <a:sym typeface="Kosugi Maru"/>
              </a:rPr>
              <a:t>参照資料を調べられる</a:t>
            </a:r>
            <a:endParaRPr sz="600"/>
          </a:p>
        </p:txBody>
      </p:sp>
      <p:sp>
        <p:nvSpPr>
          <p:cNvPr id="736" name="Google Shape;736;g34ba4ba4a2c_1_1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2" name="Shape 7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3" name="Google Shape;743;g34ba4ba4a2c_1_3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4" name="Google Shape;744;g34ba4ba4a2c_1_3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35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/>
          </a:p>
        </p:txBody>
      </p:sp>
      <p:sp>
        <p:nvSpPr>
          <p:cNvPr id="745" name="Google Shape;745;g34ba4ba4a2c_1_3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1" name="Shape 7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2" name="Google Shape;752;g34ba4ba4a2c_1_4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3" name="Google Shape;753;g34ba4ba4a2c_1_4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350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  <p:sp>
        <p:nvSpPr>
          <p:cNvPr id="754" name="Google Shape;754;g34ba4ba4a2c_1_4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0" name="Shape 7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1" name="Google Shape;761;g34ba4ba4a2c_1_7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2" name="Google Shape;762;g34ba4ba4a2c_1_7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" sz="1150">
                <a:solidFill>
                  <a:schemeClr val="dk1"/>
                </a:solidFill>
              </a:rPr>
              <a:t>育脳子育てカウンセラーが増えることで</a:t>
            </a:r>
            <a:endParaRPr sz="115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" sz="1150">
                <a:solidFill>
                  <a:schemeClr val="dk1"/>
                </a:solidFill>
              </a:rPr>
              <a:t>自分の夢が近づくと考えている</a:t>
            </a:r>
            <a:endParaRPr sz="115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50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  <p:sp>
        <p:nvSpPr>
          <p:cNvPr id="763" name="Google Shape;763;g34ba4ba4a2c_1_7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6" name="Shape 7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7" name="Google Shape;767;g34ba4ba4a2c_1_5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8" name="Google Shape;768;g34ba4ba4a2c_1_5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  <p:sp>
        <p:nvSpPr>
          <p:cNvPr id="769" name="Google Shape;769;g34ba4ba4a2c_1_5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5" name="Shape 7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6" name="Google Shape;776;g34ba4ba4a2c_1_6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7" name="Google Shape;777;g34ba4ba4a2c_1_6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  <p:sp>
        <p:nvSpPr>
          <p:cNvPr id="778" name="Google Shape;778;g34ba4ba4a2c_1_6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4" name="Shape 7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5" name="Google Shape;785;g3becb218a91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6" name="Google Shape;786;g3becb218a91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" sz="1350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私1人が頑張っても</a:t>
            </a:r>
            <a:endParaRPr sz="1350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" sz="1350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年間せいぜい100組の親子しかサポートできない</a:t>
            </a:r>
            <a:endParaRPr sz="1350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" sz="1350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でも、</a:t>
            </a:r>
            <a:r>
              <a:rPr lang="ja" sz="1450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100人のカウンセラーがいたら</a:t>
            </a:r>
            <a:endParaRPr sz="1450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" sz="1450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　10,000組の親子をサポートできる</a:t>
            </a:r>
            <a:endParaRPr sz="1450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450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  <p:sp>
        <p:nvSpPr>
          <p:cNvPr id="787" name="Google Shape;787;g3becb218a91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3" name="Shape 7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4" name="Google Shape;794;g34ba4ba4a2c_1_5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5" name="Google Shape;795;g34ba4ba4a2c_1_5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150">
                <a:solidFill>
                  <a:schemeClr val="dk1"/>
                </a:solidFill>
              </a:rPr>
              <a:t>まとめると</a:t>
            </a:r>
            <a:endParaRPr sz="115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5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150">
                <a:solidFill>
                  <a:schemeClr val="dk1"/>
                </a:solidFill>
              </a:rPr>
              <a:t>先程の私の夢を叶えるために</a:t>
            </a:r>
            <a:endParaRPr sz="115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>
                <a:solidFill>
                  <a:schemeClr val="dk1"/>
                </a:solidFill>
                <a:highlight>
                  <a:schemeClr val="lt1"/>
                </a:highlight>
                <a:latin typeface="Kosugi Maru"/>
                <a:ea typeface="Kosugi Maru"/>
                <a:cs typeface="Kosugi Maru"/>
                <a:sym typeface="Kosugi Maru"/>
              </a:rPr>
              <a:t>育児に関わりながら</a:t>
            </a:r>
            <a:endParaRPr>
              <a:solidFill>
                <a:schemeClr val="dk1"/>
              </a:solidFill>
              <a:highlight>
                <a:schemeClr val="lt1"/>
              </a:highlight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>
                <a:solidFill>
                  <a:schemeClr val="dk1"/>
                </a:solidFill>
                <a:highlight>
                  <a:schemeClr val="lt1"/>
                </a:highlight>
                <a:latin typeface="Kosugi Maru"/>
                <a:ea typeface="Kosugi Maru"/>
                <a:cs typeface="Kosugi Maru"/>
                <a:sym typeface="Kosugi Maru"/>
              </a:rPr>
              <a:t>希望的な未来に繋がることを願って</a:t>
            </a:r>
            <a:endParaRPr>
              <a:solidFill>
                <a:schemeClr val="dk1"/>
              </a:solidFill>
              <a:highlight>
                <a:schemeClr val="lt1"/>
              </a:highlight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>
                <a:solidFill>
                  <a:schemeClr val="dk1"/>
                </a:solidFill>
                <a:highlight>
                  <a:schemeClr val="lt1"/>
                </a:highlight>
                <a:latin typeface="Kosugi Maru"/>
                <a:ea typeface="Kosugi Maru"/>
                <a:cs typeface="Kosugi Maru"/>
                <a:sym typeface="Kosugi Maru"/>
              </a:rPr>
              <a:t>カウンセラーを養成しています</a:t>
            </a:r>
            <a:endParaRPr>
              <a:solidFill>
                <a:schemeClr val="dk1"/>
              </a:solidFill>
              <a:highlight>
                <a:schemeClr val="lt1"/>
              </a:highlight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50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  <p:sp>
        <p:nvSpPr>
          <p:cNvPr id="796" name="Google Shape;796;g34ba4ba4a2c_1_5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0" name="Shape 8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1" name="Google Shape;801;g34e9c2cf220_0_22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2" name="Google Shape;802;g34e9c2cf220_0_22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" sz="1150">
                <a:solidFill>
                  <a:schemeClr val="dk1"/>
                </a:solidFill>
              </a:rPr>
              <a:t>５日間トレーニングしましょう！</a:t>
            </a:r>
            <a:endParaRPr sz="115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5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150">
                <a:solidFill>
                  <a:schemeClr val="dk1"/>
                </a:solidFill>
              </a:rPr>
              <a:t>そのための５日間のイベントになります！</a:t>
            </a:r>
            <a:endParaRPr sz="115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3" name="Google Shape;803;g34e9c2cf220_0_22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9" name="Shape 8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0" name="Google Shape;810;g34ba4ba4a2c_1_9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1" name="Google Shape;811;g34ba4ba4a2c_1_9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" sz="1350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、、、</a:t>
            </a:r>
            <a:endParaRPr sz="1350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" sz="1350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この中でどれに興味がある？</a:t>
            </a:r>
            <a:endParaRPr sz="1350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  <p:sp>
        <p:nvSpPr>
          <p:cNvPr id="812" name="Google Shape;812;g34ba4ba4a2c_1_9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7" name="Shape 8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8" name="Google Shape;818;g34ba4ba4a2c_1_10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9" name="Google Shape;819;g34ba4ba4a2c_1_10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  <p:sp>
        <p:nvSpPr>
          <p:cNvPr id="820" name="Google Shape;820;g34ba4ba4a2c_1_10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5" name="Shape 8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6" name="Google Shape;826;g34bab338198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7" name="Google Shape;827;g34bab338198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  <p:sp>
        <p:nvSpPr>
          <p:cNvPr id="828" name="Google Shape;828;g34bab338198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3" name="Shape 8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4" name="Google Shape;834;g34bab338198_0_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5" name="Google Shape;835;g34bab338198_0_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/>
              <a:t>初日、参加してみてどうでしたか？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/>
              <a:t>知らなかったー、ということもあるでしょうし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/>
              <a:t>同じような悩みを持つママがこんなにいるんだ、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/>
              <a:t>私は一人じゃない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/>
              <a:t>そんなふうに感じられた方もいらっしゃると思います</a:t>
            </a:r>
            <a:r>
              <a:rPr lang="ja"/>
              <a:t>。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/>
              <a:t>また、子育てが終わった方は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/>
              <a:t>新しい子育ての情報があったのではないかと思います。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これからまだ4日間ありますので、</a:t>
            </a:r>
            <a:r>
              <a:rPr lang="ja"/>
              <a:t>みんなで成長していきましょう！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>
                <a:solidFill>
                  <a:schemeClr val="dk1"/>
                </a:solidFill>
              </a:rPr>
              <a:t>課題というのが毎回出ます。</a:t>
            </a:r>
            <a:endParaRPr/>
          </a:p>
        </p:txBody>
      </p:sp>
      <p:sp>
        <p:nvSpPr>
          <p:cNvPr id="836" name="Google Shape;836;g34bab338198_0_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1" name="Shape 8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2" name="Google Shape;842;g34bab338198_0_9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3" name="Google Shape;843;g34bab338198_0_9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45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4" name="Google Shape;844;g34bab338198_0_9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2" name="Shape 8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3" name="Google Shape;853;g34bab338198_0_19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4" name="Google Shape;854;g34bab338198_0_19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5" name="Google Shape;855;g34bab338198_0_19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4" name="Shape 8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5" name="Google Shape;865;g34bab338198_0_18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6" name="Google Shape;866;g34bab338198_0_18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000">
                <a:solidFill>
                  <a:schemeClr val="dk1"/>
                </a:solidFill>
              </a:rPr>
              <a:t>【Day1リアルタイム参加特典】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000">
                <a:solidFill>
                  <a:schemeClr val="dk1"/>
                </a:solidFill>
              </a:rPr>
              <a:t>子育てわくわくシート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000" u="sng">
                <a:solidFill>
                  <a:schemeClr val="hlink"/>
                </a:solidFill>
                <a:hlinkClick r:id="rId2"/>
              </a:rPr>
              <a:t>https://drive.google.com/file/d/1_j_hrMFYtPIh4LJWE3-bcT8YnC3VMgLL/view?usp=sharing</a:t>
            </a:r>
            <a:endParaRPr sz="1000" u="sng">
              <a:solidFill>
                <a:schemeClr val="hlink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000">
                <a:solidFill>
                  <a:schemeClr val="dk1"/>
                </a:solidFill>
              </a:rPr>
              <a:t>記入例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000" u="sng">
                <a:solidFill>
                  <a:schemeClr val="hlink"/>
                </a:solidFill>
                <a:hlinkClick r:id="rId3"/>
              </a:rPr>
              <a:t>https://drive.google.com/file/d/17PWK1oKd7fNa3ChIEbPrgYjwdPAZo3zl/view?usp=sharing</a:t>
            </a:r>
            <a:endParaRPr sz="1000" u="sng">
              <a:solidFill>
                <a:schemeClr val="hlink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000">
                <a:solidFill>
                  <a:schemeClr val="dk1"/>
                </a:solidFill>
              </a:rPr>
              <a:t>解説動画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1000" u="sng">
                <a:solidFill>
                  <a:schemeClr val="hlink"/>
                </a:solidFill>
                <a:hlinkClick r:id="rId4"/>
              </a:rPr>
              <a:t>https://drive.google.com/file/d/1-6r8y8zILp-Ovyni-M_EXwm6EWTv3Gmj/view?usp=sharing</a:t>
            </a:r>
            <a:endParaRPr/>
          </a:p>
        </p:txBody>
      </p:sp>
      <p:sp>
        <p:nvSpPr>
          <p:cNvPr id="867" name="Google Shape;867;g34bab338198_0_18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4" name="Shape 8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5" name="Google Shape;875;g34bab338198_0_20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6" name="Google Shape;876;g34bab338198_0_20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7" name="Google Shape;877;g34bab338198_0_20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2" name="Shape 8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3" name="Google Shape;883;g36bec45382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4" name="Google Shape;884;g36bec45382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1300"/>
              <a:t>どちらもまみ先生が考案された</a:t>
            </a:r>
            <a:endParaRPr sz="1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200">
                <a:solidFill>
                  <a:schemeClr val="dk1"/>
                </a:solidFill>
              </a:rPr>
              <a:t>育脳子育てカウンセラー(第１期卒業生)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200">
                <a:solidFill>
                  <a:schemeClr val="dk1"/>
                </a:solidFill>
              </a:rPr>
              <a:t>楽育ベビーマッサージインストラクター</a:t>
            </a:r>
            <a:endParaRPr sz="300"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タイトル スライド" type="title">
  <p:cSld name="TITLE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/>
          <p:nvPr>
            <p:ph type="ctrTitle"/>
          </p:nvPr>
        </p:nvSpPr>
        <p:spPr>
          <a:xfrm>
            <a:off x="685800" y="841772"/>
            <a:ext cx="77724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39550" lIns="79125" spcFirstLastPara="1" rIns="79125" wrap="square" tIns="3955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Calibri"/>
              <a:buNone/>
              <a:defRPr sz="5200"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58" name="Google Shape;58;p14"/>
          <p:cNvSpPr txBox="1"/>
          <p:nvPr>
            <p:ph idx="1" type="subTitle"/>
          </p:nvPr>
        </p:nvSpPr>
        <p:spPr>
          <a:xfrm>
            <a:off x="1143000" y="2701528"/>
            <a:ext cx="6858000" cy="1241700"/>
          </a:xfrm>
          <a:prstGeom prst="rect">
            <a:avLst/>
          </a:prstGeom>
          <a:noFill/>
          <a:ln>
            <a:noFill/>
          </a:ln>
        </p:spPr>
        <p:txBody>
          <a:bodyPr anchorCtr="0" anchor="t" bIns="39550" lIns="79125" spcFirstLastPara="1" rIns="79125" wrap="square" tIns="39550">
            <a:normAutofit/>
          </a:bodyPr>
          <a:lstStyle>
            <a:lvl1pPr lvl="0" algn="ctr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700"/>
              <a:buNone/>
              <a:defRPr sz="17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9pPr>
          </a:lstStyle>
          <a:p/>
        </p:txBody>
      </p:sp>
      <p:sp>
        <p:nvSpPr>
          <p:cNvPr id="59" name="Google Shape;59;p14"/>
          <p:cNvSpPr txBox="1"/>
          <p:nvPr>
            <p:ph idx="10" type="dt"/>
          </p:nvPr>
        </p:nvSpPr>
        <p:spPr>
          <a:xfrm>
            <a:off x="628650" y="4767264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60" name="Google Shape;60;p14"/>
          <p:cNvSpPr txBox="1"/>
          <p:nvPr>
            <p:ph idx="11" type="ftr"/>
          </p:nvPr>
        </p:nvSpPr>
        <p:spPr>
          <a:xfrm>
            <a:off x="3028950" y="4767264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61" name="Google Shape;61;p14"/>
          <p:cNvSpPr txBox="1"/>
          <p:nvPr>
            <p:ph idx="12" type="sldNum"/>
          </p:nvPr>
        </p:nvSpPr>
        <p:spPr>
          <a:xfrm>
            <a:off x="6457951" y="4767264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タイトルとコンテンツ" type="obj">
  <p:cSld name="OBJEC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5"/>
          <p:cNvSpPr txBox="1"/>
          <p:nvPr>
            <p:ph type="title"/>
          </p:nvPr>
        </p:nvSpPr>
        <p:spPr>
          <a:xfrm>
            <a:off x="628650" y="273845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64" name="Google Shape;64;p15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9550" lIns="79125" spcFirstLastPara="1" rIns="79125" wrap="square" tIns="39550">
            <a:normAutofit/>
          </a:bodyPr>
          <a:lstStyle>
            <a:lvl1pPr indent="-330200" lvl="0" marL="45720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1pPr>
            <a:lvl2pPr indent="-3302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2pPr>
            <a:lvl3pPr indent="-3302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3pPr>
            <a:lvl4pPr indent="-3302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4pPr>
            <a:lvl5pPr indent="-3302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5pPr>
            <a:lvl6pPr indent="-3302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6pPr>
            <a:lvl7pPr indent="-3302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7pPr>
            <a:lvl8pPr indent="-3302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8pPr>
            <a:lvl9pPr indent="-3302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9pPr>
          </a:lstStyle>
          <a:p/>
        </p:txBody>
      </p:sp>
      <p:sp>
        <p:nvSpPr>
          <p:cNvPr id="65" name="Google Shape;65;p15"/>
          <p:cNvSpPr txBox="1"/>
          <p:nvPr>
            <p:ph idx="10" type="dt"/>
          </p:nvPr>
        </p:nvSpPr>
        <p:spPr>
          <a:xfrm>
            <a:off x="628650" y="4767264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66" name="Google Shape;66;p15"/>
          <p:cNvSpPr txBox="1"/>
          <p:nvPr>
            <p:ph idx="11" type="ftr"/>
          </p:nvPr>
        </p:nvSpPr>
        <p:spPr>
          <a:xfrm>
            <a:off x="3028950" y="4767264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67" name="Google Shape;67;p15"/>
          <p:cNvSpPr txBox="1"/>
          <p:nvPr>
            <p:ph idx="12" type="sldNum"/>
          </p:nvPr>
        </p:nvSpPr>
        <p:spPr>
          <a:xfrm>
            <a:off x="6457951" y="4767264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白紙" type="blank">
  <p:cSld name="BLANK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6"/>
          <p:cNvSpPr txBox="1"/>
          <p:nvPr>
            <p:ph idx="10" type="dt"/>
          </p:nvPr>
        </p:nvSpPr>
        <p:spPr>
          <a:xfrm>
            <a:off x="628650" y="4767264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70" name="Google Shape;70;p16"/>
          <p:cNvSpPr txBox="1"/>
          <p:nvPr>
            <p:ph idx="11" type="ftr"/>
          </p:nvPr>
        </p:nvSpPr>
        <p:spPr>
          <a:xfrm>
            <a:off x="3028950" y="4767264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71" name="Google Shape;71;p16"/>
          <p:cNvSpPr txBox="1"/>
          <p:nvPr>
            <p:ph idx="12" type="sldNum"/>
          </p:nvPr>
        </p:nvSpPr>
        <p:spPr>
          <a:xfrm>
            <a:off x="6457951" y="4767264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セクション見出し" type="secHead">
  <p:cSld name="SECTION_HEADER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7"/>
          <p:cNvSpPr txBox="1"/>
          <p:nvPr>
            <p:ph type="title"/>
          </p:nvPr>
        </p:nvSpPr>
        <p:spPr>
          <a:xfrm>
            <a:off x="623888" y="1282305"/>
            <a:ext cx="7886700" cy="2139600"/>
          </a:xfrm>
          <a:prstGeom prst="rect">
            <a:avLst/>
          </a:prstGeom>
          <a:noFill/>
          <a:ln>
            <a:noFill/>
          </a:ln>
        </p:spPr>
        <p:txBody>
          <a:bodyPr anchorCtr="0" anchor="b" bIns="39550" lIns="79125" spcFirstLastPara="1" rIns="79125" wrap="square" tIns="3955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Calibri"/>
              <a:buNone/>
              <a:defRPr sz="5200"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74" name="Google Shape;74;p17"/>
          <p:cNvSpPr txBox="1"/>
          <p:nvPr>
            <p:ph idx="1" type="body"/>
          </p:nvPr>
        </p:nvSpPr>
        <p:spPr>
          <a:xfrm>
            <a:off x="623888" y="3442099"/>
            <a:ext cx="7886700" cy="1125300"/>
          </a:xfrm>
          <a:prstGeom prst="rect">
            <a:avLst/>
          </a:prstGeom>
          <a:noFill/>
          <a:ln>
            <a:noFill/>
          </a:ln>
        </p:spPr>
        <p:txBody>
          <a:bodyPr anchorCtr="0" anchor="t" bIns="39550" lIns="79125" spcFirstLastPara="1" rIns="79125" wrap="square" tIns="3955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700"/>
              <a:buNone/>
              <a:defRPr sz="17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75" name="Google Shape;75;p17"/>
          <p:cNvSpPr txBox="1"/>
          <p:nvPr>
            <p:ph idx="10" type="dt"/>
          </p:nvPr>
        </p:nvSpPr>
        <p:spPr>
          <a:xfrm>
            <a:off x="628650" y="4767264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76" name="Google Shape;76;p17"/>
          <p:cNvSpPr txBox="1"/>
          <p:nvPr>
            <p:ph idx="11" type="ftr"/>
          </p:nvPr>
        </p:nvSpPr>
        <p:spPr>
          <a:xfrm>
            <a:off x="3028950" y="4767264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77" name="Google Shape;77;p17"/>
          <p:cNvSpPr txBox="1"/>
          <p:nvPr>
            <p:ph idx="12" type="sldNum"/>
          </p:nvPr>
        </p:nvSpPr>
        <p:spPr>
          <a:xfrm>
            <a:off x="6457951" y="4767264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 つのコンテンツ" type="twoObj">
  <p:cSld name="TWO_OBJECTS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8"/>
          <p:cNvSpPr txBox="1"/>
          <p:nvPr>
            <p:ph type="title"/>
          </p:nvPr>
        </p:nvSpPr>
        <p:spPr>
          <a:xfrm>
            <a:off x="628650" y="273845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80" name="Google Shape;80;p18"/>
          <p:cNvSpPr txBox="1"/>
          <p:nvPr>
            <p:ph idx="1" type="body"/>
          </p:nvPr>
        </p:nvSpPr>
        <p:spPr>
          <a:xfrm>
            <a:off x="628650" y="1369219"/>
            <a:ext cx="38862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9550" lIns="79125" spcFirstLastPara="1" rIns="79125" wrap="square" tIns="39550">
            <a:normAutofit/>
          </a:bodyPr>
          <a:lstStyle>
            <a:lvl1pPr indent="-330200" lvl="0" marL="45720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1pPr>
            <a:lvl2pPr indent="-3302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2pPr>
            <a:lvl3pPr indent="-3302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3pPr>
            <a:lvl4pPr indent="-3302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4pPr>
            <a:lvl5pPr indent="-3302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5pPr>
            <a:lvl6pPr indent="-3302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6pPr>
            <a:lvl7pPr indent="-3302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7pPr>
            <a:lvl8pPr indent="-3302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8pPr>
            <a:lvl9pPr indent="-3302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9pPr>
          </a:lstStyle>
          <a:p/>
        </p:txBody>
      </p:sp>
      <p:sp>
        <p:nvSpPr>
          <p:cNvPr id="81" name="Google Shape;81;p18"/>
          <p:cNvSpPr txBox="1"/>
          <p:nvPr>
            <p:ph idx="2" type="body"/>
          </p:nvPr>
        </p:nvSpPr>
        <p:spPr>
          <a:xfrm>
            <a:off x="4629150" y="1369219"/>
            <a:ext cx="38862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9550" lIns="79125" spcFirstLastPara="1" rIns="79125" wrap="square" tIns="39550">
            <a:normAutofit/>
          </a:bodyPr>
          <a:lstStyle>
            <a:lvl1pPr indent="-330200" lvl="0" marL="45720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1pPr>
            <a:lvl2pPr indent="-3302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2pPr>
            <a:lvl3pPr indent="-3302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3pPr>
            <a:lvl4pPr indent="-3302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4pPr>
            <a:lvl5pPr indent="-3302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5pPr>
            <a:lvl6pPr indent="-3302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6pPr>
            <a:lvl7pPr indent="-3302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7pPr>
            <a:lvl8pPr indent="-3302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8pPr>
            <a:lvl9pPr indent="-3302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9pPr>
          </a:lstStyle>
          <a:p/>
        </p:txBody>
      </p:sp>
      <p:sp>
        <p:nvSpPr>
          <p:cNvPr id="82" name="Google Shape;82;p18"/>
          <p:cNvSpPr txBox="1"/>
          <p:nvPr>
            <p:ph idx="10" type="dt"/>
          </p:nvPr>
        </p:nvSpPr>
        <p:spPr>
          <a:xfrm>
            <a:off x="628650" y="4767264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83" name="Google Shape;83;p18"/>
          <p:cNvSpPr txBox="1"/>
          <p:nvPr>
            <p:ph idx="11" type="ftr"/>
          </p:nvPr>
        </p:nvSpPr>
        <p:spPr>
          <a:xfrm>
            <a:off x="3028950" y="4767264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84" name="Google Shape;84;p18"/>
          <p:cNvSpPr txBox="1"/>
          <p:nvPr>
            <p:ph idx="12" type="sldNum"/>
          </p:nvPr>
        </p:nvSpPr>
        <p:spPr>
          <a:xfrm>
            <a:off x="6457951" y="4767264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比較" type="twoTxTwoObj">
  <p:cSld name="TWO_OBJECTS_WITH_TEXT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9"/>
          <p:cNvSpPr txBox="1"/>
          <p:nvPr>
            <p:ph type="title"/>
          </p:nvPr>
        </p:nvSpPr>
        <p:spPr>
          <a:xfrm>
            <a:off x="629841" y="273845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87" name="Google Shape;87;p19"/>
          <p:cNvSpPr txBox="1"/>
          <p:nvPr>
            <p:ph idx="1" type="body"/>
          </p:nvPr>
        </p:nvSpPr>
        <p:spPr>
          <a:xfrm>
            <a:off x="629842" y="1260872"/>
            <a:ext cx="3868200" cy="618000"/>
          </a:xfrm>
          <a:prstGeom prst="rect">
            <a:avLst/>
          </a:prstGeom>
          <a:noFill/>
          <a:ln>
            <a:noFill/>
          </a:ln>
        </p:spPr>
        <p:txBody>
          <a:bodyPr anchorCtr="0" anchor="b" bIns="39550" lIns="79125" spcFirstLastPara="1" rIns="79125" wrap="square" tIns="3955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b="1" sz="21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700"/>
              <a:buNone/>
              <a:defRPr b="1" sz="17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9pPr>
          </a:lstStyle>
          <a:p/>
        </p:txBody>
      </p:sp>
      <p:sp>
        <p:nvSpPr>
          <p:cNvPr id="88" name="Google Shape;88;p19"/>
          <p:cNvSpPr txBox="1"/>
          <p:nvPr>
            <p:ph idx="2" type="body"/>
          </p:nvPr>
        </p:nvSpPr>
        <p:spPr>
          <a:xfrm>
            <a:off x="629842" y="1878806"/>
            <a:ext cx="3868200" cy="27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39550" lIns="79125" spcFirstLastPara="1" rIns="79125" wrap="square" tIns="39550">
            <a:normAutofit/>
          </a:bodyPr>
          <a:lstStyle>
            <a:lvl1pPr indent="-330200" lvl="0" marL="45720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1pPr>
            <a:lvl2pPr indent="-3302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2pPr>
            <a:lvl3pPr indent="-3302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3pPr>
            <a:lvl4pPr indent="-3302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4pPr>
            <a:lvl5pPr indent="-3302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5pPr>
            <a:lvl6pPr indent="-3302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6pPr>
            <a:lvl7pPr indent="-3302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7pPr>
            <a:lvl8pPr indent="-3302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8pPr>
            <a:lvl9pPr indent="-3302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9pPr>
          </a:lstStyle>
          <a:p/>
        </p:txBody>
      </p:sp>
      <p:sp>
        <p:nvSpPr>
          <p:cNvPr id="89" name="Google Shape;89;p19"/>
          <p:cNvSpPr txBox="1"/>
          <p:nvPr>
            <p:ph idx="3" type="body"/>
          </p:nvPr>
        </p:nvSpPr>
        <p:spPr>
          <a:xfrm>
            <a:off x="4629150" y="1260872"/>
            <a:ext cx="3887400" cy="618000"/>
          </a:xfrm>
          <a:prstGeom prst="rect">
            <a:avLst/>
          </a:prstGeom>
          <a:noFill/>
          <a:ln>
            <a:noFill/>
          </a:ln>
        </p:spPr>
        <p:txBody>
          <a:bodyPr anchorCtr="0" anchor="b" bIns="39550" lIns="79125" spcFirstLastPara="1" rIns="79125" wrap="square" tIns="3955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b="1" sz="21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700"/>
              <a:buNone/>
              <a:defRPr b="1" sz="17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9pPr>
          </a:lstStyle>
          <a:p/>
        </p:txBody>
      </p:sp>
      <p:sp>
        <p:nvSpPr>
          <p:cNvPr id="90" name="Google Shape;90;p19"/>
          <p:cNvSpPr txBox="1"/>
          <p:nvPr>
            <p:ph idx="4" type="body"/>
          </p:nvPr>
        </p:nvSpPr>
        <p:spPr>
          <a:xfrm>
            <a:off x="4629150" y="1878806"/>
            <a:ext cx="3887400" cy="27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39550" lIns="79125" spcFirstLastPara="1" rIns="79125" wrap="square" tIns="39550">
            <a:normAutofit/>
          </a:bodyPr>
          <a:lstStyle>
            <a:lvl1pPr indent="-330200" lvl="0" marL="45720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1pPr>
            <a:lvl2pPr indent="-3302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2pPr>
            <a:lvl3pPr indent="-3302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3pPr>
            <a:lvl4pPr indent="-3302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4pPr>
            <a:lvl5pPr indent="-3302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5pPr>
            <a:lvl6pPr indent="-3302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6pPr>
            <a:lvl7pPr indent="-3302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7pPr>
            <a:lvl8pPr indent="-3302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8pPr>
            <a:lvl9pPr indent="-3302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9pPr>
          </a:lstStyle>
          <a:p/>
        </p:txBody>
      </p:sp>
      <p:sp>
        <p:nvSpPr>
          <p:cNvPr id="91" name="Google Shape;91;p19"/>
          <p:cNvSpPr txBox="1"/>
          <p:nvPr>
            <p:ph idx="10" type="dt"/>
          </p:nvPr>
        </p:nvSpPr>
        <p:spPr>
          <a:xfrm>
            <a:off x="628650" y="4767264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92" name="Google Shape;92;p19"/>
          <p:cNvSpPr txBox="1"/>
          <p:nvPr>
            <p:ph idx="11" type="ftr"/>
          </p:nvPr>
        </p:nvSpPr>
        <p:spPr>
          <a:xfrm>
            <a:off x="3028950" y="4767264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93" name="Google Shape;93;p19"/>
          <p:cNvSpPr txBox="1"/>
          <p:nvPr>
            <p:ph idx="12" type="sldNum"/>
          </p:nvPr>
        </p:nvSpPr>
        <p:spPr>
          <a:xfrm>
            <a:off x="6457951" y="4767264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タイトルのみ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0"/>
          <p:cNvSpPr txBox="1"/>
          <p:nvPr>
            <p:ph type="title"/>
          </p:nvPr>
        </p:nvSpPr>
        <p:spPr>
          <a:xfrm>
            <a:off x="628650" y="273845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96" name="Google Shape;96;p20"/>
          <p:cNvSpPr txBox="1"/>
          <p:nvPr>
            <p:ph idx="10" type="dt"/>
          </p:nvPr>
        </p:nvSpPr>
        <p:spPr>
          <a:xfrm>
            <a:off x="628650" y="4767264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97" name="Google Shape;97;p20"/>
          <p:cNvSpPr txBox="1"/>
          <p:nvPr>
            <p:ph idx="11" type="ftr"/>
          </p:nvPr>
        </p:nvSpPr>
        <p:spPr>
          <a:xfrm>
            <a:off x="3028950" y="4767264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98" name="Google Shape;98;p20"/>
          <p:cNvSpPr txBox="1"/>
          <p:nvPr>
            <p:ph idx="12" type="sldNum"/>
          </p:nvPr>
        </p:nvSpPr>
        <p:spPr>
          <a:xfrm>
            <a:off x="6457951" y="4767264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タイトル付きのコンテンツ" type="objTx">
  <p:cSld name="OBJECT_WITH_CAPTION_TEXT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1"/>
          <p:cNvSpPr txBox="1"/>
          <p:nvPr>
            <p:ph type="title"/>
          </p:nvPr>
        </p:nvSpPr>
        <p:spPr>
          <a:xfrm>
            <a:off x="629841" y="342900"/>
            <a:ext cx="2949300" cy="1200300"/>
          </a:xfrm>
          <a:prstGeom prst="rect">
            <a:avLst/>
          </a:prstGeom>
          <a:noFill/>
          <a:ln>
            <a:noFill/>
          </a:ln>
        </p:spPr>
        <p:txBody>
          <a:bodyPr anchorCtr="0" anchor="b" bIns="39550" lIns="79125" spcFirstLastPara="1" rIns="79125" wrap="square" tIns="3955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  <a:defRPr sz="2800"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01" name="Google Shape;101;p21"/>
          <p:cNvSpPr txBox="1"/>
          <p:nvPr>
            <p:ph idx="1" type="body"/>
          </p:nvPr>
        </p:nvSpPr>
        <p:spPr>
          <a:xfrm>
            <a:off x="3887391" y="740570"/>
            <a:ext cx="4629000" cy="36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39550" lIns="79125" spcFirstLastPara="1" rIns="79125" wrap="square" tIns="39550">
            <a:normAutofit/>
          </a:bodyPr>
          <a:lstStyle>
            <a:lvl1pPr indent="-406400" lvl="0" marL="45720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2pPr>
            <a:lvl3pPr indent="-36195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3pPr>
            <a:lvl4pPr indent="-3365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700"/>
              <a:buChar char="•"/>
              <a:defRPr sz="1700"/>
            </a:lvl4pPr>
            <a:lvl5pPr indent="-3365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700"/>
              <a:buChar char="•"/>
              <a:defRPr sz="1700"/>
            </a:lvl5pPr>
            <a:lvl6pPr indent="-3365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700"/>
              <a:buChar char="•"/>
              <a:defRPr sz="1700"/>
            </a:lvl6pPr>
            <a:lvl7pPr indent="-3365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700"/>
              <a:buChar char="•"/>
              <a:defRPr sz="1700"/>
            </a:lvl7pPr>
            <a:lvl8pPr indent="-33655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700"/>
              <a:buChar char="•"/>
              <a:defRPr sz="1700"/>
            </a:lvl8pPr>
            <a:lvl9pPr indent="-33655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700"/>
              <a:buChar char="•"/>
              <a:defRPr sz="1700"/>
            </a:lvl9pPr>
          </a:lstStyle>
          <a:p/>
        </p:txBody>
      </p:sp>
      <p:sp>
        <p:nvSpPr>
          <p:cNvPr id="102" name="Google Shape;102;p21"/>
          <p:cNvSpPr txBox="1"/>
          <p:nvPr>
            <p:ph idx="2" type="body"/>
          </p:nvPr>
        </p:nvSpPr>
        <p:spPr>
          <a:xfrm>
            <a:off x="629841" y="1543050"/>
            <a:ext cx="2949300" cy="28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39550" lIns="79125" spcFirstLastPara="1" rIns="79125" wrap="square" tIns="3955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103" name="Google Shape;103;p21"/>
          <p:cNvSpPr txBox="1"/>
          <p:nvPr>
            <p:ph idx="10" type="dt"/>
          </p:nvPr>
        </p:nvSpPr>
        <p:spPr>
          <a:xfrm>
            <a:off x="628650" y="4767264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04" name="Google Shape;104;p21"/>
          <p:cNvSpPr txBox="1"/>
          <p:nvPr>
            <p:ph idx="11" type="ftr"/>
          </p:nvPr>
        </p:nvSpPr>
        <p:spPr>
          <a:xfrm>
            <a:off x="3028950" y="4767264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05" name="Google Shape;105;p21"/>
          <p:cNvSpPr txBox="1"/>
          <p:nvPr>
            <p:ph idx="12" type="sldNum"/>
          </p:nvPr>
        </p:nvSpPr>
        <p:spPr>
          <a:xfrm>
            <a:off x="6457951" y="4767264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タイトル付きの図" type="picTx">
  <p:cSld name="PICTURE_WITH_CAPTION_TEXT"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2"/>
          <p:cNvSpPr txBox="1"/>
          <p:nvPr>
            <p:ph type="title"/>
          </p:nvPr>
        </p:nvSpPr>
        <p:spPr>
          <a:xfrm>
            <a:off x="629841" y="342900"/>
            <a:ext cx="2949300" cy="1200300"/>
          </a:xfrm>
          <a:prstGeom prst="rect">
            <a:avLst/>
          </a:prstGeom>
          <a:noFill/>
          <a:ln>
            <a:noFill/>
          </a:ln>
        </p:spPr>
        <p:txBody>
          <a:bodyPr anchorCtr="0" anchor="b" bIns="39550" lIns="79125" spcFirstLastPara="1" rIns="79125" wrap="square" tIns="3955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  <a:defRPr sz="2800"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08" name="Google Shape;108;p22"/>
          <p:cNvSpPr/>
          <p:nvPr>
            <p:ph idx="2" type="pic"/>
          </p:nvPr>
        </p:nvSpPr>
        <p:spPr>
          <a:xfrm>
            <a:off x="3887391" y="740570"/>
            <a:ext cx="4629000" cy="36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39550" lIns="79125" spcFirstLastPara="1" rIns="79125" wrap="square" tIns="39550">
            <a:noAutofit/>
          </a:bodyPr>
          <a:lstStyle>
            <a:lvl1pPr lvl="0" marR="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None/>
              <a:defRPr b="0" i="0" sz="1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None/>
              <a:defRPr b="0" i="0" sz="1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None/>
              <a:defRPr b="0" i="0" sz="1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None/>
              <a:defRPr b="0" i="0" sz="1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None/>
              <a:defRPr b="0" i="0" sz="1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None/>
              <a:defRPr b="0" i="0" sz="1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9" name="Google Shape;109;p22"/>
          <p:cNvSpPr txBox="1"/>
          <p:nvPr>
            <p:ph idx="1" type="body"/>
          </p:nvPr>
        </p:nvSpPr>
        <p:spPr>
          <a:xfrm>
            <a:off x="629841" y="1543050"/>
            <a:ext cx="2949300" cy="28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39550" lIns="79125" spcFirstLastPara="1" rIns="79125" wrap="square" tIns="3955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110" name="Google Shape;110;p22"/>
          <p:cNvSpPr txBox="1"/>
          <p:nvPr>
            <p:ph idx="10" type="dt"/>
          </p:nvPr>
        </p:nvSpPr>
        <p:spPr>
          <a:xfrm>
            <a:off x="628650" y="4767264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11" name="Google Shape;111;p22"/>
          <p:cNvSpPr txBox="1"/>
          <p:nvPr>
            <p:ph idx="11" type="ftr"/>
          </p:nvPr>
        </p:nvSpPr>
        <p:spPr>
          <a:xfrm>
            <a:off x="3028950" y="4767264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6457951" y="4767264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タイトルと縦書きテキスト" type="vertTx">
  <p:cSld name="VERTICAL_TEXT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type="title"/>
          </p:nvPr>
        </p:nvSpPr>
        <p:spPr>
          <a:xfrm>
            <a:off x="628650" y="273845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 rot="5400000">
            <a:off x="2940301" y="-942431"/>
            <a:ext cx="3263400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9550" lIns="79125" spcFirstLastPara="1" rIns="79125" wrap="square" tIns="39550">
            <a:normAutofit/>
          </a:bodyPr>
          <a:lstStyle>
            <a:lvl1pPr indent="-330200" lvl="0" marL="45720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1pPr>
            <a:lvl2pPr indent="-3302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2pPr>
            <a:lvl3pPr indent="-3302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3pPr>
            <a:lvl4pPr indent="-3302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4pPr>
            <a:lvl5pPr indent="-3302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5pPr>
            <a:lvl6pPr indent="-3302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6pPr>
            <a:lvl7pPr indent="-3302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7pPr>
            <a:lvl8pPr indent="-3302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8pPr>
            <a:lvl9pPr indent="-3302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0" type="dt"/>
          </p:nvPr>
        </p:nvSpPr>
        <p:spPr>
          <a:xfrm>
            <a:off x="628650" y="4767264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17" name="Google Shape;117;p23"/>
          <p:cNvSpPr txBox="1"/>
          <p:nvPr>
            <p:ph idx="11" type="ftr"/>
          </p:nvPr>
        </p:nvSpPr>
        <p:spPr>
          <a:xfrm>
            <a:off x="3028950" y="4767264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18" name="Google Shape;118;p23"/>
          <p:cNvSpPr txBox="1"/>
          <p:nvPr>
            <p:ph idx="12" type="sldNum"/>
          </p:nvPr>
        </p:nvSpPr>
        <p:spPr>
          <a:xfrm>
            <a:off x="6457951" y="4767264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縦書きタイトルと&#10;縦書きテキスト" type="vertTitleAndTx">
  <p:cSld name="VERTICAL_TITLE_AND_VERTICAL_TEXT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4"/>
          <p:cNvSpPr txBox="1"/>
          <p:nvPr>
            <p:ph type="title"/>
          </p:nvPr>
        </p:nvSpPr>
        <p:spPr>
          <a:xfrm rot="5400000">
            <a:off x="5350051" y="1467544"/>
            <a:ext cx="4359000" cy="19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21" name="Google Shape;121;p24"/>
          <p:cNvSpPr txBox="1"/>
          <p:nvPr>
            <p:ph idx="1" type="body"/>
          </p:nvPr>
        </p:nvSpPr>
        <p:spPr>
          <a:xfrm rot="5400000">
            <a:off x="1349476" y="-447056"/>
            <a:ext cx="4359000" cy="58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39550" lIns="79125" spcFirstLastPara="1" rIns="79125" wrap="square" tIns="39550">
            <a:normAutofit/>
          </a:bodyPr>
          <a:lstStyle>
            <a:lvl1pPr indent="-330200" lvl="0" marL="45720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1pPr>
            <a:lvl2pPr indent="-3302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2pPr>
            <a:lvl3pPr indent="-3302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3pPr>
            <a:lvl4pPr indent="-3302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4pPr>
            <a:lvl5pPr indent="-3302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5pPr>
            <a:lvl6pPr indent="-3302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6pPr>
            <a:lvl7pPr indent="-3302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7pPr>
            <a:lvl8pPr indent="-3302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8pPr>
            <a:lvl9pPr indent="-3302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9pPr>
          </a:lstStyle>
          <a:p/>
        </p:txBody>
      </p:sp>
      <p:sp>
        <p:nvSpPr>
          <p:cNvPr id="122" name="Google Shape;122;p24"/>
          <p:cNvSpPr txBox="1"/>
          <p:nvPr>
            <p:ph idx="10" type="dt"/>
          </p:nvPr>
        </p:nvSpPr>
        <p:spPr>
          <a:xfrm>
            <a:off x="628650" y="4767264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23" name="Google Shape;123;p24"/>
          <p:cNvSpPr txBox="1"/>
          <p:nvPr>
            <p:ph idx="11" type="ftr"/>
          </p:nvPr>
        </p:nvSpPr>
        <p:spPr>
          <a:xfrm>
            <a:off x="3028950" y="4767264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24" name="Google Shape;124;p24"/>
          <p:cNvSpPr txBox="1"/>
          <p:nvPr>
            <p:ph idx="12" type="sldNum"/>
          </p:nvPr>
        </p:nvSpPr>
        <p:spPr>
          <a:xfrm>
            <a:off x="6457951" y="4767264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39550" lIns="79125" spcFirstLastPara="1" rIns="79125" wrap="square" tIns="3955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27" name="Google Shape;127;p2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39550" lIns="79125" spcFirstLastPara="1" rIns="79125" wrap="square" tIns="39550">
            <a:normAutofit/>
          </a:bodyPr>
          <a:lstStyle>
            <a:lvl1pPr indent="-381000" lvl="0" marL="457200">
              <a:spcBef>
                <a:spcPts val="900"/>
              </a:spcBef>
              <a:spcAft>
                <a:spcPts val="0"/>
              </a:spcAft>
              <a:buSzPts val="2400"/>
              <a:buChar char="•"/>
              <a:defRPr/>
            </a:lvl1pPr>
            <a:lvl2pPr indent="-361950" lvl="1" marL="914400">
              <a:spcBef>
                <a:spcPts val="400"/>
              </a:spcBef>
              <a:spcAft>
                <a:spcPts val="0"/>
              </a:spcAft>
              <a:buSzPts val="2100"/>
              <a:buChar char="•"/>
              <a:defRPr/>
            </a:lvl2pPr>
            <a:lvl3pPr indent="-336550" lvl="2" marL="1371600">
              <a:spcBef>
                <a:spcPts val="400"/>
              </a:spcBef>
              <a:spcAft>
                <a:spcPts val="0"/>
              </a:spcAft>
              <a:buSzPts val="1700"/>
              <a:buChar char="•"/>
              <a:defRPr/>
            </a:lvl3pPr>
            <a:lvl4pPr indent="-330200" lvl="3" marL="1828800">
              <a:spcBef>
                <a:spcPts val="400"/>
              </a:spcBef>
              <a:spcAft>
                <a:spcPts val="0"/>
              </a:spcAft>
              <a:buSzPts val="1600"/>
              <a:buChar char="•"/>
              <a:defRPr/>
            </a:lvl4pPr>
            <a:lvl5pPr indent="-330200" lvl="4" marL="2286000">
              <a:spcBef>
                <a:spcPts val="400"/>
              </a:spcBef>
              <a:spcAft>
                <a:spcPts val="0"/>
              </a:spcAft>
              <a:buSzPts val="1600"/>
              <a:buChar char="•"/>
              <a:defRPr/>
            </a:lvl5pPr>
            <a:lvl6pPr indent="-330200" lvl="5" marL="2743200">
              <a:spcBef>
                <a:spcPts val="400"/>
              </a:spcBef>
              <a:spcAft>
                <a:spcPts val="0"/>
              </a:spcAft>
              <a:buSzPts val="1600"/>
              <a:buChar char="•"/>
              <a:defRPr/>
            </a:lvl6pPr>
            <a:lvl7pPr indent="-330200" lvl="6" marL="3200400">
              <a:spcBef>
                <a:spcPts val="400"/>
              </a:spcBef>
              <a:spcAft>
                <a:spcPts val="0"/>
              </a:spcAft>
              <a:buSzPts val="1600"/>
              <a:buChar char="•"/>
              <a:defRPr/>
            </a:lvl7pPr>
            <a:lvl8pPr indent="-330200" lvl="7" marL="3657600">
              <a:spcBef>
                <a:spcPts val="400"/>
              </a:spcBef>
              <a:spcAft>
                <a:spcPts val="0"/>
              </a:spcAft>
              <a:buSzPts val="1600"/>
              <a:buChar char="•"/>
              <a:defRPr/>
            </a:lvl8pPr>
            <a:lvl9pPr indent="-330200" lvl="8" marL="4114800">
              <a:spcBef>
                <a:spcPts val="400"/>
              </a:spcBef>
              <a:spcAft>
                <a:spcPts val="0"/>
              </a:spcAft>
              <a:buSzPts val="1600"/>
              <a:buChar char="•"/>
              <a:defRPr/>
            </a:lvl9pPr>
          </a:lstStyle>
          <a:p/>
        </p:txBody>
      </p:sp>
      <p:sp>
        <p:nvSpPr>
          <p:cNvPr id="128" name="Google Shape;128;p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39550" lIns="79125" spcFirstLastPara="1" rIns="79125" wrap="square" tIns="3955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1.xml"/><Relationship Id="rId10" Type="http://schemas.openxmlformats.org/officeDocument/2006/relationships/slideLayout" Target="../slideLayouts/slideLayout20.xml"/><Relationship Id="rId13" Type="http://schemas.openxmlformats.org/officeDocument/2006/relationships/slideLayout" Target="../slideLayouts/slideLayout23.xml"/><Relationship Id="rId12" Type="http://schemas.openxmlformats.org/officeDocument/2006/relationships/slideLayout" Target="../slideLayouts/slideLayout22.xml"/><Relationship Id="rId1" Type="http://schemas.openxmlformats.org/officeDocument/2006/relationships/image" Target="../media/image38.png"/><Relationship Id="rId2" Type="http://schemas.openxmlformats.org/officeDocument/2006/relationships/slideLayout" Target="../slideLayouts/slideLayout12.xml"/><Relationship Id="rId3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4.xml"/><Relationship Id="rId9" Type="http://schemas.openxmlformats.org/officeDocument/2006/relationships/slideLayout" Target="../slideLayouts/slideLayout19.xml"/><Relationship Id="rId14" Type="http://schemas.openxmlformats.org/officeDocument/2006/relationships/theme" Target="../theme/theme3.xml"/><Relationship Id="rId5" Type="http://schemas.openxmlformats.org/officeDocument/2006/relationships/slideLayout" Target="../slideLayouts/slideLayout15.xml"/><Relationship Id="rId6" Type="http://schemas.openxmlformats.org/officeDocument/2006/relationships/slideLayout" Target="../slideLayouts/slideLayout16.xml"/><Relationship Id="rId7" Type="http://schemas.openxmlformats.org/officeDocument/2006/relationships/slideLayout" Target="../slideLayouts/slideLayout17.xml"/><Relationship Id="rId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628650" y="273845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rm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Calibri"/>
              <a:buNone/>
              <a:defRPr b="0" i="0" sz="3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9550" lIns="79125" spcFirstLastPara="1" rIns="79125" wrap="square" tIns="39550">
            <a:normAutofit/>
          </a:bodyPr>
          <a:lstStyle>
            <a:lvl1pPr indent="-381000" lvl="0" marL="457200" marR="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61950" lvl="1" marL="914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36550" lvl="2" marL="1371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•"/>
              <a:defRPr b="0" i="0" sz="1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30200" lvl="3" marL="1828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30200" lvl="4" marL="22860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30200" lvl="5" marL="27432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30200" lvl="6" marL="3200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30200" lvl="7" marL="3657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30200" lvl="8" marL="4114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0" type="dt"/>
          </p:nvPr>
        </p:nvSpPr>
        <p:spPr>
          <a:xfrm>
            <a:off x="628650" y="4767264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4" name="Google Shape;54;p13"/>
          <p:cNvSpPr txBox="1"/>
          <p:nvPr>
            <p:ph idx="11" type="ftr"/>
          </p:nvPr>
        </p:nvSpPr>
        <p:spPr>
          <a:xfrm>
            <a:off x="3028950" y="4767264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Autofit/>
          </a:bodyPr>
          <a:lstStyle>
            <a:lvl1pPr lvl="0" marR="0" algn="ctr"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5" name="Google Shape;55;p13"/>
          <p:cNvSpPr txBox="1"/>
          <p:nvPr>
            <p:ph idx="12" type="sldNum"/>
          </p:nvPr>
        </p:nvSpPr>
        <p:spPr>
          <a:xfrm>
            <a:off x="6457951" y="4767264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2"/>
    <p:sldLayoutId id="2147483660" r:id="rId3"/>
    <p:sldLayoutId id="2147483661" r:id="rId4"/>
    <p:sldLayoutId id="2147483662" r:id="rId5"/>
    <p:sldLayoutId id="2147483663" r:id="rId6"/>
    <p:sldLayoutId id="2147483664" r:id="rId7"/>
    <p:sldLayoutId id="2147483665" r:id="rId8"/>
    <p:sldLayoutId id="2147483666" r:id="rId9"/>
    <p:sldLayoutId id="2147483667" r:id="rId10"/>
    <p:sldLayoutId id="2147483668" r:id="rId11"/>
    <p:sldLayoutId id="2147483669" r:id="rId12"/>
    <p:sldLayoutId id="2147483670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Relationship Id="rId4" Type="http://schemas.openxmlformats.org/officeDocument/2006/relationships/image" Target="../media/image7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2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2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7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0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1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2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6.jp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3.jp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4.png"/><Relationship Id="rId4" Type="http://schemas.openxmlformats.org/officeDocument/2006/relationships/image" Target="../media/image8.png"/><Relationship Id="rId5" Type="http://schemas.openxmlformats.org/officeDocument/2006/relationships/image" Target="../media/image10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.jpg"/><Relationship Id="rId4" Type="http://schemas.openxmlformats.org/officeDocument/2006/relationships/image" Target="../media/image9.jp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5.jp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32.jp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5.jp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15.jp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36.jpg"/><Relationship Id="rId4" Type="http://schemas.openxmlformats.org/officeDocument/2006/relationships/image" Target="../media/image16.jpg"/><Relationship Id="rId5" Type="http://schemas.openxmlformats.org/officeDocument/2006/relationships/image" Target="../media/image17.jpg"/><Relationship Id="rId6" Type="http://schemas.openxmlformats.org/officeDocument/2006/relationships/image" Target="../media/image18.jp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24.jp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29.jpg"/><Relationship Id="rId4" Type="http://schemas.openxmlformats.org/officeDocument/2006/relationships/image" Target="../media/image35.jp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20.jpg"/><Relationship Id="rId4" Type="http://schemas.openxmlformats.org/officeDocument/2006/relationships/image" Target="../media/image19.jpg"/><Relationship Id="rId5" Type="http://schemas.openxmlformats.org/officeDocument/2006/relationships/image" Target="../media/image28.jpg"/><Relationship Id="rId6" Type="http://schemas.openxmlformats.org/officeDocument/2006/relationships/image" Target="../media/image27.jpg"/><Relationship Id="rId7" Type="http://schemas.openxmlformats.org/officeDocument/2006/relationships/image" Target="../media/image21.jp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33.jpg"/><Relationship Id="rId4" Type="http://schemas.openxmlformats.org/officeDocument/2006/relationships/image" Target="../media/image34.jp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22.jpg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23.jpg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25.jpg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5.xml"/><Relationship Id="rId3" Type="http://schemas.openxmlformats.org/officeDocument/2006/relationships/image" Target="../media/image26.jpg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6.xml"/><Relationship Id="rId3" Type="http://schemas.openxmlformats.org/officeDocument/2006/relationships/image" Target="../media/image31.jpg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7.xml"/><Relationship Id="rId3" Type="http://schemas.openxmlformats.org/officeDocument/2006/relationships/image" Target="../media/image40.png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62.xml"/></Relationships>
</file>

<file path=ppt/slides/_rels/slide6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63.xml"/></Relationships>
</file>

<file path=ppt/slides/_rels/slide6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64.xml"/></Relationships>
</file>

<file path=ppt/slides/_rels/slide6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65.xml"/></Relationships>
</file>

<file path=ppt/slides/_rels/slide6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66.xml"/></Relationships>
</file>

<file path=ppt/slides/_rels/slide6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67.xml"/><Relationship Id="rId3" Type="http://schemas.openxmlformats.org/officeDocument/2006/relationships/image" Target="../media/image5.jpg"/></Relationships>
</file>

<file path=ppt/slides/_rels/slide6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68.xml"/></Relationships>
</file>

<file path=ppt/slides/_rels/slide6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69.xml"/></Relationships>
</file>

<file path=ppt/slides/_rels/slide7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70.xml"/></Relationships>
</file>

<file path=ppt/slides/_rels/slide7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71.xml"/></Relationships>
</file>

<file path=ppt/slides/_rels/slide7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72.xml"/></Relationships>
</file>

<file path=ppt/slides/_rels/slide7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73.xml"/></Relationships>
</file>

<file path=ppt/slides/_rels/slide7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74.xml"/></Relationships>
</file>

<file path=ppt/slides/_rels/slide7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75.xml"/></Relationships>
</file>

<file path=ppt/slides/_rels/slide7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76.xml"/><Relationship Id="rId3" Type="http://schemas.openxmlformats.org/officeDocument/2006/relationships/image" Target="../media/image39.png"/><Relationship Id="rId4" Type="http://schemas.openxmlformats.org/officeDocument/2006/relationships/image" Target="../media/image41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6"/>
          <p:cNvSpPr txBox="1"/>
          <p:nvPr>
            <p:ph idx="12" type="sldNum"/>
          </p:nvPr>
        </p:nvSpPr>
        <p:spPr>
          <a:xfrm>
            <a:off x="6457951" y="4767264"/>
            <a:ext cx="2057400" cy="273900"/>
          </a:xfrm>
          <a:prstGeom prst="rect">
            <a:avLst/>
          </a:prstGeom>
        </p:spPr>
        <p:txBody>
          <a:bodyPr anchorCtr="0" anchor="ctr" bIns="39550" lIns="79125" spcFirstLastPara="1" rIns="79125" wrap="square" tIns="3955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  <p:sp>
        <p:nvSpPr>
          <p:cNvPr id="135" name="Google Shape;135;p26"/>
          <p:cNvSpPr txBox="1"/>
          <p:nvPr/>
        </p:nvSpPr>
        <p:spPr>
          <a:xfrm>
            <a:off x="215425" y="3896950"/>
            <a:ext cx="5298300" cy="714000"/>
          </a:xfrm>
          <a:prstGeom prst="rect">
            <a:avLst/>
          </a:prstGeom>
          <a:noFill/>
          <a:ln>
            <a:noFill/>
          </a:ln>
        </p:spPr>
        <p:txBody>
          <a:bodyPr anchorCtr="0" anchor="t" bIns="79125" lIns="79125" spcFirstLastPara="1" rIns="79125" wrap="square" tIns="79125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3600">
                <a:solidFill>
                  <a:srgbClr val="EF84C9"/>
                </a:solidFill>
                <a:latin typeface="Kosugi Maru"/>
                <a:ea typeface="Kosugi Maru"/>
                <a:cs typeface="Kosugi Maru"/>
                <a:sym typeface="Kosugi Maru"/>
              </a:rPr>
              <a:t>５日間チャレンジ</a:t>
            </a:r>
            <a:endParaRPr b="1" sz="2000">
              <a:solidFill>
                <a:srgbClr val="EF84C9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  <p:sp>
        <p:nvSpPr>
          <p:cNvPr id="136" name="Google Shape;136;p26"/>
          <p:cNvSpPr txBox="1"/>
          <p:nvPr>
            <p:ph idx="11" type="ftr"/>
          </p:nvPr>
        </p:nvSpPr>
        <p:spPr>
          <a:xfrm>
            <a:off x="3028948" y="4817889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>
                <a:latin typeface="M PLUS Rounded 1c Light"/>
                <a:ea typeface="M PLUS Rounded 1c Light"/>
                <a:cs typeface="M PLUS Rounded 1c Light"/>
                <a:sym typeface="M PLUS Rounded 1c Light"/>
              </a:rPr>
              <a:t>©︎2025日本ママアカデミー協会</a:t>
            </a:r>
            <a:endParaRPr>
              <a:latin typeface="M PLUS Rounded 1c Light"/>
              <a:ea typeface="M PLUS Rounded 1c Light"/>
              <a:cs typeface="M PLUS Rounded 1c Light"/>
              <a:sym typeface="M PLUS Rounded 1c Light"/>
            </a:endParaRPr>
          </a:p>
        </p:txBody>
      </p:sp>
      <p:sp>
        <p:nvSpPr>
          <p:cNvPr id="137" name="Google Shape;137;p26"/>
          <p:cNvSpPr txBox="1"/>
          <p:nvPr/>
        </p:nvSpPr>
        <p:spPr>
          <a:xfrm>
            <a:off x="5236800" y="3670900"/>
            <a:ext cx="3086100" cy="1006500"/>
          </a:xfrm>
          <a:prstGeom prst="rect">
            <a:avLst/>
          </a:prstGeom>
          <a:noFill/>
          <a:ln>
            <a:noFill/>
          </a:ln>
        </p:spPr>
        <p:txBody>
          <a:bodyPr anchorCtr="0" anchor="t" bIns="79125" lIns="79125" spcFirstLastPara="1" rIns="79125" wrap="square" tIns="79125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5500" u="sng">
                <a:solidFill>
                  <a:srgbClr val="EF84C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ＤＡＹ１</a:t>
            </a:r>
            <a:endParaRPr b="1" sz="5500" u="sng">
              <a:solidFill>
                <a:srgbClr val="EF84C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38" name="Google Shape;138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7075" y="713675"/>
            <a:ext cx="4484925" cy="2413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" name="Google Shape;139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62800" y="713675"/>
            <a:ext cx="4382500" cy="2375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7"/>
          <p:cNvSpPr txBox="1"/>
          <p:nvPr/>
        </p:nvSpPr>
        <p:spPr>
          <a:xfrm>
            <a:off x="0" y="78838"/>
            <a:ext cx="91440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" sz="3200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子育てサービスでお仕事？</a:t>
            </a:r>
            <a:endParaRPr sz="3200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  <p:cxnSp>
        <p:nvCxnSpPr>
          <p:cNvPr id="146" name="Google Shape;146;p27"/>
          <p:cNvCxnSpPr/>
          <p:nvPr/>
        </p:nvCxnSpPr>
        <p:spPr>
          <a:xfrm>
            <a:off x="828425" y="712750"/>
            <a:ext cx="7487100" cy="0"/>
          </a:xfrm>
          <a:prstGeom prst="straightConnector1">
            <a:avLst/>
          </a:prstGeom>
          <a:noFill/>
          <a:ln cap="flat" cmpd="sng" w="28575">
            <a:solidFill>
              <a:srgbClr val="EF84C9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47" name="Google Shape;147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53025" y="2960397"/>
            <a:ext cx="2057400" cy="1729678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27"/>
          <p:cNvSpPr txBox="1"/>
          <p:nvPr/>
        </p:nvSpPr>
        <p:spPr>
          <a:xfrm>
            <a:off x="1203475" y="1559075"/>
            <a:ext cx="6895800" cy="11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" sz="2800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通信講座で色々学んだけど</a:t>
            </a:r>
            <a:endParaRPr sz="2800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" sz="2800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これでお仕事ってどうしたらいいの？？</a:t>
            </a:r>
            <a:endParaRPr sz="2800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8"/>
          <p:cNvSpPr txBox="1"/>
          <p:nvPr/>
        </p:nvSpPr>
        <p:spPr>
          <a:xfrm>
            <a:off x="0" y="78838"/>
            <a:ext cx="91440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" sz="3200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流行りのSNS</a:t>
            </a:r>
            <a:r>
              <a:rPr lang="ja" sz="3200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でお仕事？</a:t>
            </a:r>
            <a:endParaRPr sz="3200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  <p:cxnSp>
        <p:nvCxnSpPr>
          <p:cNvPr id="155" name="Google Shape;155;p28"/>
          <p:cNvCxnSpPr/>
          <p:nvPr/>
        </p:nvCxnSpPr>
        <p:spPr>
          <a:xfrm>
            <a:off x="828425" y="712750"/>
            <a:ext cx="7487100" cy="0"/>
          </a:xfrm>
          <a:prstGeom prst="straightConnector1">
            <a:avLst/>
          </a:prstGeom>
          <a:noFill/>
          <a:ln cap="flat" cmpd="sng" w="28575">
            <a:solidFill>
              <a:srgbClr val="EF84C9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56" name="Google Shape;156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78150" y="3211697"/>
            <a:ext cx="2057400" cy="1729678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28"/>
          <p:cNvSpPr txBox="1"/>
          <p:nvPr/>
        </p:nvSpPr>
        <p:spPr>
          <a:xfrm>
            <a:off x="1203475" y="1391550"/>
            <a:ext cx="6895800" cy="309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" sz="2800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インスタとかFacebookとか、</a:t>
            </a:r>
            <a:endParaRPr sz="2800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" sz="2800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毎日ヘトヘトに疲れるくらい投稿してるけど、全然お客様に繋がらない💦</a:t>
            </a:r>
            <a:endParaRPr sz="2800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" sz="2800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　　　　　　なんで？？？</a:t>
            </a:r>
            <a:endParaRPr sz="2800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9"/>
          <p:cNvSpPr txBox="1"/>
          <p:nvPr/>
        </p:nvSpPr>
        <p:spPr>
          <a:xfrm>
            <a:off x="0" y="78838"/>
            <a:ext cx="91440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" sz="3200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世の中の流れは？</a:t>
            </a:r>
            <a:endParaRPr sz="3200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  <p:cxnSp>
        <p:nvCxnSpPr>
          <p:cNvPr id="164" name="Google Shape;164;p29"/>
          <p:cNvCxnSpPr/>
          <p:nvPr/>
        </p:nvCxnSpPr>
        <p:spPr>
          <a:xfrm>
            <a:off x="828425" y="712750"/>
            <a:ext cx="7487100" cy="0"/>
          </a:xfrm>
          <a:prstGeom prst="straightConnector1">
            <a:avLst/>
          </a:prstGeom>
          <a:noFill/>
          <a:ln cap="flat" cmpd="sng" w="28575">
            <a:solidFill>
              <a:srgbClr val="EF84C9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65" name="Google Shape;165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10063" y="836426"/>
            <a:ext cx="6523825" cy="4192550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29"/>
          <p:cNvSpPr txBox="1"/>
          <p:nvPr/>
        </p:nvSpPr>
        <p:spPr>
          <a:xfrm>
            <a:off x="6678150" y="4364175"/>
            <a:ext cx="1724700" cy="323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" sz="900">
                <a:solidFill>
                  <a:schemeClr val="dk1"/>
                </a:solidFill>
              </a:rPr>
              <a:t>総務省資料より引用</a:t>
            </a:r>
            <a:endParaRPr sz="9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30"/>
          <p:cNvSpPr txBox="1"/>
          <p:nvPr>
            <p:ph idx="12" type="sldNum"/>
          </p:nvPr>
        </p:nvSpPr>
        <p:spPr>
          <a:xfrm>
            <a:off x="6457951" y="4767264"/>
            <a:ext cx="2057400" cy="273900"/>
          </a:xfrm>
          <a:prstGeom prst="rect">
            <a:avLst/>
          </a:prstGeom>
        </p:spPr>
        <p:txBody>
          <a:bodyPr anchorCtr="0" anchor="ctr" bIns="39550" lIns="79125" spcFirstLastPara="1" rIns="79125" wrap="square" tIns="3955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  <p:sp>
        <p:nvSpPr>
          <p:cNvPr id="173" name="Google Shape;173;p30"/>
          <p:cNvSpPr txBox="1"/>
          <p:nvPr>
            <p:ph idx="11" type="ftr"/>
          </p:nvPr>
        </p:nvSpPr>
        <p:spPr>
          <a:xfrm>
            <a:off x="3028973" y="4817889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>
                <a:latin typeface="M PLUS Rounded 1c Light"/>
                <a:ea typeface="M PLUS Rounded 1c Light"/>
                <a:cs typeface="M PLUS Rounded 1c Light"/>
                <a:sym typeface="M PLUS Rounded 1c Light"/>
              </a:rPr>
              <a:t>©︎2025日本ママアカデミー協会</a:t>
            </a:r>
            <a:endParaRPr>
              <a:latin typeface="M PLUS Rounded 1c Light"/>
              <a:ea typeface="M PLUS Rounded 1c Light"/>
              <a:cs typeface="M PLUS Rounded 1c Light"/>
              <a:sym typeface="M PLUS Rounded 1c Light"/>
            </a:endParaRPr>
          </a:p>
        </p:txBody>
      </p:sp>
      <p:sp>
        <p:nvSpPr>
          <p:cNvPr id="174" name="Google Shape;174;p30"/>
          <p:cNvSpPr txBox="1"/>
          <p:nvPr/>
        </p:nvSpPr>
        <p:spPr>
          <a:xfrm>
            <a:off x="0" y="61288"/>
            <a:ext cx="91440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" sz="3200" u="sng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このチャレンジの目的</a:t>
            </a:r>
            <a:endParaRPr sz="3200" u="sng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  <p:sp>
        <p:nvSpPr>
          <p:cNvPr id="175" name="Google Shape;175;p30"/>
          <p:cNvSpPr txBox="1"/>
          <p:nvPr/>
        </p:nvSpPr>
        <p:spPr>
          <a:xfrm>
            <a:off x="695800" y="898650"/>
            <a:ext cx="7974300" cy="40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79125" lIns="79125" spcFirstLastPara="1" rIns="79125" wrap="square" tIns="791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" sz="2000">
                <a:solidFill>
                  <a:srgbClr val="666666"/>
                </a:solidFill>
                <a:latin typeface="Kosugi Maru"/>
                <a:ea typeface="Kosugi Maru"/>
                <a:cs typeface="Kosugi Maru"/>
                <a:sym typeface="Kosugi Maru"/>
              </a:rPr>
              <a:t>目的１</a:t>
            </a:r>
            <a:endParaRPr sz="2000">
              <a:solidFill>
                <a:srgbClr val="666666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" sz="2000">
                <a:solidFill>
                  <a:srgbClr val="EF84C9"/>
                </a:solidFill>
                <a:latin typeface="Kosugi Maru"/>
                <a:ea typeface="Kosugi Maru"/>
                <a:cs typeface="Kosugi Maru"/>
                <a:sym typeface="Kosugi Maru"/>
              </a:rPr>
              <a:t>　育脳について正しい知識を身につける</a:t>
            </a:r>
            <a:endParaRPr sz="2000">
              <a:solidFill>
                <a:srgbClr val="EF84C9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EF84C9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" sz="2000">
                <a:solidFill>
                  <a:srgbClr val="666666"/>
                </a:solidFill>
                <a:latin typeface="Kosugi Maru"/>
                <a:ea typeface="Kosugi Maru"/>
                <a:cs typeface="Kosugi Maru"/>
                <a:sym typeface="Kosugi Maru"/>
              </a:rPr>
              <a:t>目的２</a:t>
            </a:r>
            <a:endParaRPr sz="2000">
              <a:solidFill>
                <a:srgbClr val="666666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" sz="2000">
                <a:solidFill>
                  <a:srgbClr val="EF84C9"/>
                </a:solidFill>
                <a:latin typeface="Kosugi Maru"/>
                <a:ea typeface="Kosugi Maru"/>
                <a:cs typeface="Kosugi Maru"/>
                <a:sym typeface="Kosugi Maru"/>
              </a:rPr>
              <a:t>　世の中のママ達をサポートすることで</a:t>
            </a:r>
            <a:endParaRPr sz="2000">
              <a:solidFill>
                <a:srgbClr val="EF84C9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" sz="2000">
                <a:solidFill>
                  <a:srgbClr val="EF84C9"/>
                </a:solidFill>
                <a:latin typeface="Kosugi Maru"/>
                <a:ea typeface="Kosugi Maru"/>
                <a:cs typeface="Kosugi Maru"/>
                <a:sym typeface="Kosugi Maru"/>
              </a:rPr>
              <a:t>　成り立つカウンセラーのお仕事の可能性を学ぶ</a:t>
            </a:r>
            <a:endParaRPr sz="2000">
              <a:solidFill>
                <a:srgbClr val="EF84C9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EF84C9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" sz="2000">
                <a:solidFill>
                  <a:srgbClr val="44546A"/>
                </a:solidFill>
                <a:latin typeface="Kosugi Maru"/>
                <a:ea typeface="Kosugi Maru"/>
                <a:cs typeface="Kosugi Maru"/>
                <a:sym typeface="Kosugi Maru"/>
              </a:rPr>
              <a:t>目的３</a:t>
            </a:r>
            <a:endParaRPr sz="2000">
              <a:solidFill>
                <a:srgbClr val="44546A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2000">
                <a:solidFill>
                  <a:schemeClr val="dk1"/>
                </a:solidFill>
              </a:rPr>
              <a:t>　</a:t>
            </a:r>
            <a:r>
              <a:rPr lang="ja" sz="2000">
                <a:solidFill>
                  <a:srgbClr val="EF84C9"/>
                </a:solidFill>
                <a:latin typeface="Kosugi Maru"/>
                <a:ea typeface="Kosugi Maru"/>
                <a:cs typeface="Kosugi Maru"/>
                <a:sym typeface="Kosugi Maru"/>
              </a:rPr>
              <a:t>子育てママやお教室のお仕事からどのようにステップを進めたら</a:t>
            </a:r>
            <a:endParaRPr sz="2000">
              <a:solidFill>
                <a:srgbClr val="EF84C9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2000">
                <a:solidFill>
                  <a:srgbClr val="EF84C9"/>
                </a:solidFill>
                <a:latin typeface="Kosugi Maru"/>
                <a:ea typeface="Kosugi Maru"/>
                <a:cs typeface="Kosugi Maru"/>
                <a:sym typeface="Kosugi Maru"/>
              </a:rPr>
              <a:t>　”育脳子育てカウンセラー”になれるかを学ぶ</a:t>
            </a:r>
            <a:endParaRPr sz="2000">
              <a:solidFill>
                <a:srgbClr val="EF84C9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EF84C9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31"/>
          <p:cNvSpPr txBox="1"/>
          <p:nvPr>
            <p:ph idx="12" type="sldNum"/>
          </p:nvPr>
        </p:nvSpPr>
        <p:spPr>
          <a:xfrm>
            <a:off x="6457951" y="4767264"/>
            <a:ext cx="2057400" cy="273900"/>
          </a:xfrm>
          <a:prstGeom prst="rect">
            <a:avLst/>
          </a:prstGeom>
        </p:spPr>
        <p:txBody>
          <a:bodyPr anchorCtr="0" anchor="ctr" bIns="39550" lIns="79125" spcFirstLastPara="1" rIns="79125" wrap="square" tIns="3955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  <p:sp>
        <p:nvSpPr>
          <p:cNvPr id="182" name="Google Shape;182;p31"/>
          <p:cNvSpPr txBox="1"/>
          <p:nvPr>
            <p:ph idx="11" type="ftr"/>
          </p:nvPr>
        </p:nvSpPr>
        <p:spPr>
          <a:xfrm>
            <a:off x="3028973" y="4817889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>
                <a:latin typeface="M PLUS Rounded 1c Light"/>
                <a:ea typeface="M PLUS Rounded 1c Light"/>
                <a:cs typeface="M PLUS Rounded 1c Light"/>
                <a:sym typeface="M PLUS Rounded 1c Light"/>
              </a:rPr>
              <a:t>©︎2025日本ママアカデミー協会</a:t>
            </a:r>
            <a:endParaRPr>
              <a:latin typeface="M PLUS Rounded 1c Light"/>
              <a:ea typeface="M PLUS Rounded 1c Light"/>
              <a:cs typeface="M PLUS Rounded 1c Light"/>
              <a:sym typeface="M PLUS Rounded 1c Light"/>
            </a:endParaRPr>
          </a:p>
        </p:txBody>
      </p:sp>
      <p:sp>
        <p:nvSpPr>
          <p:cNvPr id="183" name="Google Shape;183;p31"/>
          <p:cNvSpPr txBox="1"/>
          <p:nvPr/>
        </p:nvSpPr>
        <p:spPr>
          <a:xfrm>
            <a:off x="0" y="442288"/>
            <a:ext cx="91440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" sz="3200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さらに・・・</a:t>
            </a:r>
            <a:endParaRPr sz="3200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  <p:sp>
        <p:nvSpPr>
          <p:cNvPr id="184" name="Google Shape;184;p31"/>
          <p:cNvSpPr txBox="1"/>
          <p:nvPr/>
        </p:nvSpPr>
        <p:spPr>
          <a:xfrm>
            <a:off x="1195100" y="1148588"/>
            <a:ext cx="8337300" cy="358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" sz="2800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・「確かにそういうサポートは</a:t>
            </a:r>
            <a:endParaRPr sz="2800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2800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　　世の中に必要だよね」</a:t>
            </a:r>
            <a:endParaRPr sz="2800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2800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・「育脳ってお子様だけでなく、</a:t>
            </a:r>
            <a:endParaRPr sz="2800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2800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　　ママにとっても大事なのね」</a:t>
            </a:r>
            <a:endParaRPr sz="2800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2800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・「これならお仕事として成立するよね」</a:t>
            </a:r>
            <a:endParaRPr sz="2800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2800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・「自分にもできるかも！」</a:t>
            </a:r>
            <a:endParaRPr sz="2800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" sz="2800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・「やってみたい」</a:t>
            </a:r>
            <a:endParaRPr sz="2800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  <p:pic>
        <p:nvPicPr>
          <p:cNvPr id="185" name="Google Shape;185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6690546" y="96800"/>
            <a:ext cx="2158400" cy="2618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32"/>
          <p:cNvSpPr txBox="1"/>
          <p:nvPr>
            <p:ph idx="12" type="sldNum"/>
          </p:nvPr>
        </p:nvSpPr>
        <p:spPr>
          <a:xfrm>
            <a:off x="6457951" y="4767264"/>
            <a:ext cx="2057400" cy="273900"/>
          </a:xfrm>
          <a:prstGeom prst="rect">
            <a:avLst/>
          </a:prstGeom>
        </p:spPr>
        <p:txBody>
          <a:bodyPr anchorCtr="0" anchor="ctr" bIns="39550" lIns="79125" spcFirstLastPara="1" rIns="79125" wrap="square" tIns="3955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  <p:sp>
        <p:nvSpPr>
          <p:cNvPr id="192" name="Google Shape;192;p32"/>
          <p:cNvSpPr txBox="1"/>
          <p:nvPr>
            <p:ph idx="11" type="ftr"/>
          </p:nvPr>
        </p:nvSpPr>
        <p:spPr>
          <a:xfrm>
            <a:off x="3028973" y="4817889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>
                <a:latin typeface="M PLUS Rounded 1c Light"/>
                <a:ea typeface="M PLUS Rounded 1c Light"/>
                <a:cs typeface="M PLUS Rounded 1c Light"/>
                <a:sym typeface="M PLUS Rounded 1c Light"/>
              </a:rPr>
              <a:t>©︎2025日本ママアカデミー協会</a:t>
            </a:r>
            <a:endParaRPr>
              <a:latin typeface="M PLUS Rounded 1c Light"/>
              <a:ea typeface="M PLUS Rounded 1c Light"/>
              <a:cs typeface="M PLUS Rounded 1c Light"/>
              <a:sym typeface="M PLUS Rounded 1c Light"/>
            </a:endParaRPr>
          </a:p>
        </p:txBody>
      </p:sp>
      <p:sp>
        <p:nvSpPr>
          <p:cNvPr id="193" name="Google Shape;193;p32"/>
          <p:cNvSpPr txBox="1"/>
          <p:nvPr/>
        </p:nvSpPr>
        <p:spPr>
          <a:xfrm>
            <a:off x="706875" y="1962200"/>
            <a:ext cx="7974300" cy="1083300"/>
          </a:xfrm>
          <a:prstGeom prst="rect">
            <a:avLst/>
          </a:prstGeom>
          <a:noFill/>
          <a:ln>
            <a:noFill/>
          </a:ln>
        </p:spPr>
        <p:txBody>
          <a:bodyPr anchorCtr="0" anchor="t" bIns="79125" lIns="79125" spcFirstLastPara="1" rIns="79125" wrap="square" tIns="791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" sz="6000">
                <a:solidFill>
                  <a:srgbClr val="666666"/>
                </a:solidFill>
                <a:latin typeface="Kosugi Maru"/>
                <a:ea typeface="Kosugi Maru"/>
                <a:cs typeface="Kosugi Maru"/>
                <a:sym typeface="Kosugi Maru"/>
              </a:rPr>
              <a:t>講師紹介</a:t>
            </a:r>
            <a:endParaRPr sz="6000">
              <a:solidFill>
                <a:srgbClr val="EF84C9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33"/>
          <p:cNvSpPr/>
          <p:nvPr/>
        </p:nvSpPr>
        <p:spPr>
          <a:xfrm rot="-290056">
            <a:off x="280100" y="435960"/>
            <a:ext cx="3577627" cy="4271597"/>
          </a:xfrm>
          <a:prstGeom prst="frame">
            <a:avLst>
              <a:gd fmla="val 4953" name="adj1"/>
            </a:avLst>
          </a:prstGeom>
          <a:solidFill>
            <a:srgbClr val="FFE5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33"/>
          <p:cNvSpPr txBox="1"/>
          <p:nvPr>
            <p:ph idx="12" type="sldNum"/>
          </p:nvPr>
        </p:nvSpPr>
        <p:spPr>
          <a:xfrm>
            <a:off x="6457951" y="4767264"/>
            <a:ext cx="2057400" cy="273900"/>
          </a:xfrm>
          <a:prstGeom prst="rect">
            <a:avLst/>
          </a:prstGeom>
        </p:spPr>
        <p:txBody>
          <a:bodyPr anchorCtr="0" anchor="ctr" bIns="39550" lIns="79125" spcFirstLastPara="1" rIns="79125" wrap="square" tIns="3955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  <p:sp>
        <p:nvSpPr>
          <p:cNvPr id="201" name="Google Shape;201;p33"/>
          <p:cNvSpPr txBox="1"/>
          <p:nvPr>
            <p:ph idx="11" type="ftr"/>
          </p:nvPr>
        </p:nvSpPr>
        <p:spPr>
          <a:xfrm>
            <a:off x="3028973" y="4817889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>
                <a:latin typeface="M PLUS Rounded 1c Light"/>
                <a:ea typeface="M PLUS Rounded 1c Light"/>
                <a:cs typeface="M PLUS Rounded 1c Light"/>
                <a:sym typeface="M PLUS Rounded 1c Light"/>
              </a:rPr>
              <a:t>©︎2025日本ママアカデミー協会</a:t>
            </a:r>
            <a:endParaRPr>
              <a:latin typeface="M PLUS Rounded 1c Light"/>
              <a:ea typeface="M PLUS Rounded 1c Light"/>
              <a:cs typeface="M PLUS Rounded 1c Light"/>
              <a:sym typeface="M PLUS Rounded 1c Light"/>
            </a:endParaRPr>
          </a:p>
        </p:txBody>
      </p:sp>
      <p:sp>
        <p:nvSpPr>
          <p:cNvPr id="202" name="Google Shape;202;p33"/>
          <p:cNvSpPr txBox="1"/>
          <p:nvPr/>
        </p:nvSpPr>
        <p:spPr>
          <a:xfrm>
            <a:off x="3985250" y="292800"/>
            <a:ext cx="4795800" cy="178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ja" sz="2400">
                <a:latin typeface="Kosugi Maru"/>
                <a:ea typeface="Kosugi Maru"/>
                <a:cs typeface="Kosugi Maru"/>
                <a:sym typeface="Kosugi Maru"/>
              </a:rPr>
              <a:t>株式会社ママアカ　代表取締役</a:t>
            </a:r>
            <a:endParaRPr sz="2400"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ja" sz="2400">
                <a:latin typeface="Kosugi Maru"/>
                <a:ea typeface="Kosugi Maru"/>
                <a:cs typeface="Kosugi Maru"/>
                <a:sym typeface="Kosugi Maru"/>
              </a:rPr>
              <a:t>日本ママアカデミー協会代表</a:t>
            </a:r>
            <a:endParaRPr sz="2400"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ja" sz="3600">
                <a:latin typeface="HiraMinPro-W3"/>
                <a:ea typeface="HiraMinPro-W3"/>
                <a:cs typeface="HiraMinPro-W3"/>
                <a:sym typeface="HiraMinPro-W3"/>
              </a:rPr>
              <a:t>永瀬 まみ</a:t>
            </a:r>
            <a:endParaRPr b="1" sz="3600">
              <a:latin typeface="HiraMinPro-W3"/>
              <a:ea typeface="HiraMinPro-W3"/>
              <a:cs typeface="HiraMinPro-W3"/>
              <a:sym typeface="HiraMinPro-W3"/>
            </a:endParaRPr>
          </a:p>
        </p:txBody>
      </p:sp>
      <p:sp>
        <p:nvSpPr>
          <p:cNvPr id="203" name="Google Shape;203;p33"/>
          <p:cNvSpPr txBox="1"/>
          <p:nvPr/>
        </p:nvSpPr>
        <p:spPr>
          <a:xfrm>
            <a:off x="4638725" y="2386075"/>
            <a:ext cx="4275300" cy="179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ja" sz="2400" u="sng">
                <a:latin typeface="Kosugi Maru"/>
                <a:ea typeface="Kosugi Maru"/>
                <a:cs typeface="Kosugi Maru"/>
                <a:sym typeface="Kosugi Maru"/>
              </a:rPr>
              <a:t>経歴</a:t>
            </a:r>
            <a:endParaRPr sz="2400" u="sng"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rtl="0" algn="l">
              <a:lnSpc>
                <a:spcPct val="7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ja" sz="2400">
                <a:latin typeface="Kosugi Maru"/>
                <a:ea typeface="Kosugi Maru"/>
                <a:cs typeface="Kosugi Maru"/>
                <a:sym typeface="Kosugi Maru"/>
              </a:rPr>
              <a:t>普通の主婦から起業。</a:t>
            </a:r>
            <a:endParaRPr sz="2400"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rtl="0" algn="l">
              <a:lnSpc>
                <a:spcPct val="7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ja" sz="2400">
                <a:latin typeface="Kosugi Maru"/>
                <a:ea typeface="Kosugi Maru"/>
                <a:cs typeface="Kosugi Maru"/>
                <a:sym typeface="Kosugi Maru"/>
              </a:rPr>
              <a:t>18</a:t>
            </a:r>
            <a:r>
              <a:rPr lang="ja" sz="2400">
                <a:latin typeface="Kosugi Maru"/>
                <a:ea typeface="Kosugi Maru"/>
                <a:cs typeface="Kosugi Maru"/>
                <a:sym typeface="Kosugi Maru"/>
              </a:rPr>
              <a:t>年</a:t>
            </a:r>
            <a:r>
              <a:rPr lang="ja" sz="2400">
                <a:latin typeface="Kosugi Maru"/>
                <a:ea typeface="Kosugi Maru"/>
                <a:cs typeface="Kosugi Maru"/>
                <a:sym typeface="Kosugi Maru"/>
              </a:rPr>
              <a:t>目</a:t>
            </a:r>
            <a:r>
              <a:rPr lang="ja" sz="2400">
                <a:latin typeface="Kosugi Maru"/>
                <a:ea typeface="Kosugi Maru"/>
                <a:cs typeface="Kosugi Maru"/>
                <a:sym typeface="Kosugi Maru"/>
              </a:rPr>
              <a:t>で</a:t>
            </a:r>
            <a:r>
              <a:rPr lang="ja" sz="2400">
                <a:latin typeface="Kosugi Maru"/>
                <a:ea typeface="Kosugi Maru"/>
                <a:cs typeface="Kosugi Maru"/>
                <a:sym typeface="Kosugi Maru"/>
              </a:rPr>
              <a:t>5000組</a:t>
            </a:r>
            <a:r>
              <a:rPr lang="ja" sz="2400">
                <a:latin typeface="Kosugi Maru"/>
                <a:ea typeface="Kosugi Maru"/>
                <a:cs typeface="Kosugi Maru"/>
                <a:sym typeface="Kosugi Maru"/>
              </a:rPr>
              <a:t>のご家庭を</a:t>
            </a:r>
            <a:endParaRPr sz="2400"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rtl="0" algn="l">
              <a:lnSpc>
                <a:spcPct val="7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ja" sz="2400">
                <a:latin typeface="Kosugi Maru"/>
                <a:ea typeface="Kosugi Maru"/>
                <a:cs typeface="Kosugi Maru"/>
                <a:sym typeface="Kosugi Maru"/>
              </a:rPr>
              <a:t>ノークレームでサポート。</a:t>
            </a:r>
            <a:endParaRPr sz="2400">
              <a:latin typeface="Kosugi Maru"/>
              <a:ea typeface="Kosugi Maru"/>
              <a:cs typeface="Kosugi Maru"/>
              <a:sym typeface="Kosugi Maru"/>
            </a:endParaRPr>
          </a:p>
        </p:txBody>
      </p:sp>
      <p:pic>
        <p:nvPicPr>
          <p:cNvPr id="204" name="Google Shape;204;p33" title="まみさんプロフィール写真.JPEG"/>
          <p:cNvPicPr preferRelativeResize="0"/>
          <p:nvPr/>
        </p:nvPicPr>
        <p:blipFill rotWithShape="1">
          <a:blip r:embed="rId3">
            <a:alphaModFix/>
          </a:blip>
          <a:srcRect b="8252" l="0" r="24964" t="13824"/>
          <a:stretch/>
        </p:blipFill>
        <p:spPr>
          <a:xfrm>
            <a:off x="280500" y="483725"/>
            <a:ext cx="3576852" cy="40082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34"/>
          <p:cNvSpPr txBox="1"/>
          <p:nvPr/>
        </p:nvSpPr>
        <p:spPr>
          <a:xfrm>
            <a:off x="25" y="342613"/>
            <a:ext cx="91440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" sz="3200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最近の活動</a:t>
            </a:r>
            <a:endParaRPr sz="3200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  <p:cxnSp>
        <p:nvCxnSpPr>
          <p:cNvPr id="210" name="Google Shape;210;p34"/>
          <p:cNvCxnSpPr/>
          <p:nvPr/>
        </p:nvCxnSpPr>
        <p:spPr>
          <a:xfrm>
            <a:off x="828450" y="976525"/>
            <a:ext cx="7487100" cy="0"/>
          </a:xfrm>
          <a:prstGeom prst="straightConnector1">
            <a:avLst/>
          </a:prstGeom>
          <a:noFill/>
          <a:ln cap="flat" cmpd="sng" w="28575">
            <a:solidFill>
              <a:srgbClr val="EF84C9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211" name="Google Shape;211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95475" y="1310925"/>
            <a:ext cx="5220200" cy="3456350"/>
          </a:xfrm>
          <a:prstGeom prst="rect">
            <a:avLst/>
          </a:prstGeom>
          <a:noFill/>
          <a:ln>
            <a:noFill/>
          </a:ln>
        </p:spPr>
      </p:pic>
      <p:sp>
        <p:nvSpPr>
          <p:cNvPr id="212" name="Google Shape;212;p34"/>
          <p:cNvSpPr txBox="1"/>
          <p:nvPr/>
        </p:nvSpPr>
        <p:spPr>
          <a:xfrm>
            <a:off x="4970500" y="4309125"/>
            <a:ext cx="2057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" sz="1200">
                <a:solidFill>
                  <a:srgbClr val="FFFFFF"/>
                </a:solidFill>
                <a:latin typeface="Kosugi Maru"/>
                <a:ea typeface="Kosugi Maru"/>
                <a:cs typeface="Kosugi Maru"/>
                <a:sym typeface="Kosugi Maru"/>
              </a:rPr>
              <a:t>ＡＩ画像ではありません^^</a:t>
            </a:r>
            <a:endParaRPr sz="1200">
              <a:solidFill>
                <a:srgbClr val="FFFFFF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7" name="Google Shape;217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74025" y="952715"/>
            <a:ext cx="6795930" cy="378287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18" name="Google Shape;218;p35"/>
          <p:cNvCxnSpPr/>
          <p:nvPr/>
        </p:nvCxnSpPr>
        <p:spPr>
          <a:xfrm>
            <a:off x="828450" y="844816"/>
            <a:ext cx="7487100" cy="0"/>
          </a:xfrm>
          <a:prstGeom prst="straightConnector1">
            <a:avLst/>
          </a:prstGeom>
          <a:noFill/>
          <a:ln cap="flat" cmpd="sng" w="28575">
            <a:solidFill>
              <a:srgbClr val="EF84C9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19" name="Google Shape;219;p35"/>
          <p:cNvSpPr txBox="1"/>
          <p:nvPr/>
        </p:nvSpPr>
        <p:spPr>
          <a:xfrm>
            <a:off x="138400" y="223900"/>
            <a:ext cx="88131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" sz="3000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企業が選ぶ</a:t>
            </a:r>
            <a:r>
              <a:rPr b="1" lang="ja" sz="3000">
                <a:solidFill>
                  <a:schemeClr val="lt1"/>
                </a:solidFill>
                <a:highlight>
                  <a:srgbClr val="EF84C9"/>
                </a:highlight>
                <a:latin typeface="Kosugi Maru"/>
                <a:ea typeface="Kosugi Maru"/>
                <a:cs typeface="Kosugi Maru"/>
                <a:sym typeface="Kosugi Maru"/>
              </a:rPr>
              <a:t>子育てクリエイター</a:t>
            </a:r>
            <a:r>
              <a:rPr lang="ja" sz="3000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に選出されました</a:t>
            </a:r>
            <a:endParaRPr sz="3000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  <p:sp>
        <p:nvSpPr>
          <p:cNvPr id="220" name="Google Shape;220;p35"/>
          <p:cNvSpPr txBox="1"/>
          <p:nvPr/>
        </p:nvSpPr>
        <p:spPr>
          <a:xfrm>
            <a:off x="6500325" y="4735600"/>
            <a:ext cx="2578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" sz="1200">
                <a:solidFill>
                  <a:srgbClr val="000000"/>
                </a:solidFill>
                <a:latin typeface="Kosugi Maru"/>
                <a:ea typeface="Kosugi Maru"/>
                <a:cs typeface="Kosugi Maru"/>
                <a:sym typeface="Kosugi Maru"/>
              </a:rPr>
              <a:t>※</a:t>
            </a:r>
            <a:r>
              <a:rPr lang="ja" sz="1200">
                <a:latin typeface="Kosugi Maru"/>
                <a:ea typeface="Kosugi Maru"/>
                <a:cs typeface="Kosugi Maru"/>
                <a:sym typeface="Kosugi Maru"/>
              </a:rPr>
              <a:t>まみ先生</a:t>
            </a:r>
            <a:r>
              <a:rPr lang="ja" sz="1200">
                <a:solidFill>
                  <a:srgbClr val="000000"/>
                </a:solidFill>
                <a:latin typeface="Kosugi Maru"/>
                <a:ea typeface="Kosugi Maru"/>
                <a:cs typeface="Kosugi Maru"/>
                <a:sym typeface="Kosugi Maru"/>
              </a:rPr>
              <a:t>はどこでしょうか？</a:t>
            </a:r>
            <a:endParaRPr sz="1200">
              <a:solidFill>
                <a:srgbClr val="000000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36"/>
          <p:cNvSpPr txBox="1"/>
          <p:nvPr>
            <p:ph idx="12" type="sldNum"/>
          </p:nvPr>
        </p:nvSpPr>
        <p:spPr>
          <a:xfrm>
            <a:off x="6457951" y="4767264"/>
            <a:ext cx="2057400" cy="273900"/>
          </a:xfrm>
          <a:prstGeom prst="rect">
            <a:avLst/>
          </a:prstGeom>
        </p:spPr>
        <p:txBody>
          <a:bodyPr anchorCtr="0" anchor="ctr" bIns="39550" lIns="79125" spcFirstLastPara="1" rIns="79125" wrap="square" tIns="3955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  <p:sp>
        <p:nvSpPr>
          <p:cNvPr id="227" name="Google Shape;227;p36"/>
          <p:cNvSpPr txBox="1"/>
          <p:nvPr>
            <p:ph idx="11" type="ftr"/>
          </p:nvPr>
        </p:nvSpPr>
        <p:spPr>
          <a:xfrm>
            <a:off x="3028973" y="4817889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>
                <a:latin typeface="M PLUS Rounded 1c Light"/>
                <a:ea typeface="M PLUS Rounded 1c Light"/>
                <a:cs typeface="M PLUS Rounded 1c Light"/>
                <a:sym typeface="M PLUS Rounded 1c Light"/>
              </a:rPr>
              <a:t>©︎2025日本ママアカデミー協会</a:t>
            </a:r>
            <a:endParaRPr>
              <a:latin typeface="M PLUS Rounded 1c Light"/>
              <a:ea typeface="M PLUS Rounded 1c Light"/>
              <a:cs typeface="M PLUS Rounded 1c Light"/>
              <a:sym typeface="M PLUS Rounded 1c Light"/>
            </a:endParaRPr>
          </a:p>
        </p:txBody>
      </p:sp>
      <p:sp>
        <p:nvSpPr>
          <p:cNvPr id="228" name="Google Shape;228;p36"/>
          <p:cNvSpPr txBox="1"/>
          <p:nvPr/>
        </p:nvSpPr>
        <p:spPr>
          <a:xfrm>
            <a:off x="25" y="342613"/>
            <a:ext cx="91440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" sz="3200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子育て経験は？</a:t>
            </a:r>
            <a:endParaRPr sz="3200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  <p:sp>
        <p:nvSpPr>
          <p:cNvPr id="229" name="Google Shape;229;p36"/>
          <p:cNvSpPr txBox="1"/>
          <p:nvPr/>
        </p:nvSpPr>
        <p:spPr>
          <a:xfrm>
            <a:off x="828450" y="1256600"/>
            <a:ext cx="8174100" cy="2675100"/>
          </a:xfrm>
          <a:prstGeom prst="rect">
            <a:avLst/>
          </a:prstGeom>
          <a:noFill/>
          <a:ln>
            <a:noFill/>
          </a:ln>
        </p:spPr>
        <p:txBody>
          <a:bodyPr anchorCtr="0" anchor="t" bIns="79125" lIns="79125" spcFirstLastPara="1" rIns="79125" wrap="square" tIns="791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2600">
                <a:solidFill>
                  <a:schemeClr val="dk1"/>
                </a:solidFill>
                <a:latin typeface="Kosugi Maru"/>
                <a:ea typeface="Kosugi Maru"/>
                <a:cs typeface="Kosugi Maru"/>
                <a:sym typeface="Kosugi Maru"/>
              </a:rPr>
              <a:t>普通の会社員と主婦の一般的な家庭ですが・・・</a:t>
            </a:r>
            <a:endParaRPr sz="2600">
              <a:solidFill>
                <a:schemeClr val="dk1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rgbClr val="EF84C9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" sz="3000">
                <a:solidFill>
                  <a:srgbClr val="EF84C9"/>
                </a:solidFill>
                <a:latin typeface="Kosugi Maru"/>
                <a:ea typeface="Kosugi Maru"/>
                <a:cs typeface="Kosugi Maru"/>
                <a:sym typeface="Kosugi Maru"/>
              </a:rPr>
              <a:t>長男：医者（医学部卒）</a:t>
            </a:r>
            <a:endParaRPr sz="3000">
              <a:solidFill>
                <a:srgbClr val="EF84C9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" sz="3000">
                <a:solidFill>
                  <a:srgbClr val="EF84C9"/>
                </a:solidFill>
                <a:latin typeface="Kosugi Maru"/>
                <a:ea typeface="Kosugi Maru"/>
                <a:cs typeface="Kosugi Maru"/>
                <a:sym typeface="Kosugi Maru"/>
              </a:rPr>
              <a:t>長女：幼稚園教諭（教育学部卒、特待生）</a:t>
            </a:r>
            <a:endParaRPr sz="3000">
              <a:solidFill>
                <a:srgbClr val="EF84C9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" sz="3000">
                <a:solidFill>
                  <a:srgbClr val="EF84C9"/>
                </a:solidFill>
                <a:latin typeface="Kosugi Maru"/>
                <a:ea typeface="Kosugi Maru"/>
                <a:cs typeface="Kosugi Maru"/>
                <a:sym typeface="Kosugi Maru"/>
              </a:rPr>
              <a:t>次男：</a:t>
            </a:r>
            <a:r>
              <a:rPr lang="ja" sz="3000">
                <a:solidFill>
                  <a:srgbClr val="EF84C9"/>
                </a:solidFill>
                <a:latin typeface="Kosugi Maru"/>
                <a:ea typeface="Kosugi Maru"/>
                <a:cs typeface="Kosugi Maru"/>
                <a:sym typeface="Kosugi Maru"/>
              </a:rPr>
              <a:t>独立行政法人職員</a:t>
            </a:r>
            <a:r>
              <a:rPr lang="ja" sz="3000">
                <a:solidFill>
                  <a:srgbClr val="EF84C9"/>
                </a:solidFill>
                <a:latin typeface="Kosugi Maru"/>
                <a:ea typeface="Kosugi Maru"/>
                <a:cs typeface="Kosugi Maru"/>
                <a:sym typeface="Kosugi Maru"/>
              </a:rPr>
              <a:t>（国立大学卒）</a:t>
            </a:r>
            <a:endParaRPr sz="3000">
              <a:solidFill>
                <a:srgbClr val="EF84C9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  <p:cxnSp>
        <p:nvCxnSpPr>
          <p:cNvPr id="230" name="Google Shape;230;p36"/>
          <p:cNvCxnSpPr/>
          <p:nvPr/>
        </p:nvCxnSpPr>
        <p:spPr>
          <a:xfrm>
            <a:off x="828450" y="976525"/>
            <a:ext cx="7487100" cy="0"/>
          </a:xfrm>
          <a:prstGeom prst="straightConnector1">
            <a:avLst/>
          </a:prstGeom>
          <a:noFill/>
          <a:ln cap="flat" cmpd="sng" w="28575">
            <a:solidFill>
              <a:srgbClr val="EF84C9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37"/>
          <p:cNvSpPr txBox="1"/>
          <p:nvPr>
            <p:ph idx="12" type="sldNum"/>
          </p:nvPr>
        </p:nvSpPr>
        <p:spPr>
          <a:xfrm>
            <a:off x="6457951" y="4767264"/>
            <a:ext cx="2057400" cy="273900"/>
          </a:xfrm>
          <a:prstGeom prst="rect">
            <a:avLst/>
          </a:prstGeom>
        </p:spPr>
        <p:txBody>
          <a:bodyPr anchorCtr="0" anchor="ctr" bIns="39550" lIns="79125" spcFirstLastPara="1" rIns="79125" wrap="square" tIns="3955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  <p:sp>
        <p:nvSpPr>
          <p:cNvPr id="237" name="Google Shape;237;p37"/>
          <p:cNvSpPr txBox="1"/>
          <p:nvPr>
            <p:ph idx="11" type="ftr"/>
          </p:nvPr>
        </p:nvSpPr>
        <p:spPr>
          <a:xfrm>
            <a:off x="3028973" y="4817889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>
                <a:latin typeface="M PLUS Rounded 1c Light"/>
                <a:ea typeface="M PLUS Rounded 1c Light"/>
                <a:cs typeface="M PLUS Rounded 1c Light"/>
                <a:sym typeface="M PLUS Rounded 1c Light"/>
              </a:rPr>
              <a:t>©︎2025日本ママアカデミー協会</a:t>
            </a:r>
            <a:endParaRPr>
              <a:latin typeface="M PLUS Rounded 1c Light"/>
              <a:ea typeface="M PLUS Rounded 1c Light"/>
              <a:cs typeface="M PLUS Rounded 1c Light"/>
              <a:sym typeface="M PLUS Rounded 1c Light"/>
            </a:endParaRPr>
          </a:p>
        </p:txBody>
      </p:sp>
      <p:sp>
        <p:nvSpPr>
          <p:cNvPr id="238" name="Google Shape;238;p37"/>
          <p:cNvSpPr txBox="1"/>
          <p:nvPr/>
        </p:nvSpPr>
        <p:spPr>
          <a:xfrm>
            <a:off x="25" y="342613"/>
            <a:ext cx="91440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" sz="3200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よく聞かれるのは</a:t>
            </a:r>
            <a:endParaRPr sz="3200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  <p:cxnSp>
        <p:nvCxnSpPr>
          <p:cNvPr id="239" name="Google Shape;239;p37"/>
          <p:cNvCxnSpPr/>
          <p:nvPr/>
        </p:nvCxnSpPr>
        <p:spPr>
          <a:xfrm>
            <a:off x="828450" y="976525"/>
            <a:ext cx="7487100" cy="0"/>
          </a:xfrm>
          <a:prstGeom prst="straightConnector1">
            <a:avLst/>
          </a:prstGeom>
          <a:noFill/>
          <a:ln cap="flat" cmpd="sng" w="28575">
            <a:solidFill>
              <a:srgbClr val="EF84C9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40" name="Google Shape;240;p37"/>
          <p:cNvSpPr txBox="1"/>
          <p:nvPr/>
        </p:nvSpPr>
        <p:spPr>
          <a:xfrm>
            <a:off x="1315775" y="1688525"/>
            <a:ext cx="6368700" cy="25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79125" lIns="79125" spcFirstLastPara="1" rIns="79125" wrap="square" tIns="791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" sz="3500">
                <a:solidFill>
                  <a:schemeClr val="dk1"/>
                </a:solidFill>
                <a:latin typeface="Kosugi Maru"/>
                <a:ea typeface="Kosugi Maru"/>
                <a:cs typeface="Kosugi Maru"/>
                <a:sym typeface="Kosugi Maru"/>
              </a:rPr>
              <a:t>「お医者さんにするために</a:t>
            </a:r>
            <a:endParaRPr sz="3500">
              <a:solidFill>
                <a:schemeClr val="dk1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" sz="3500">
                <a:solidFill>
                  <a:schemeClr val="dk1"/>
                </a:solidFill>
                <a:latin typeface="Kosugi Maru"/>
                <a:ea typeface="Kosugi Maru"/>
                <a:cs typeface="Kosugi Maru"/>
                <a:sym typeface="Kosugi Maru"/>
              </a:rPr>
              <a:t>　</a:t>
            </a:r>
            <a:r>
              <a:rPr lang="ja" sz="3500">
                <a:solidFill>
                  <a:srgbClr val="FF0000"/>
                </a:solidFill>
                <a:latin typeface="Kosugi Maru"/>
                <a:ea typeface="Kosugi Maru"/>
                <a:cs typeface="Kosugi Maru"/>
                <a:sym typeface="Kosugi Maru"/>
              </a:rPr>
              <a:t>厳しく教育</a:t>
            </a:r>
            <a:r>
              <a:rPr lang="ja" sz="3500">
                <a:solidFill>
                  <a:schemeClr val="dk1"/>
                </a:solidFill>
                <a:latin typeface="Kosugi Maru"/>
                <a:ea typeface="Kosugi Maru"/>
                <a:cs typeface="Kosugi Maru"/>
                <a:sym typeface="Kosugi Maru"/>
              </a:rPr>
              <a:t>したとか</a:t>
            </a:r>
            <a:endParaRPr sz="3500">
              <a:solidFill>
                <a:schemeClr val="dk1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" sz="3500">
                <a:solidFill>
                  <a:schemeClr val="dk1"/>
                </a:solidFill>
                <a:latin typeface="Kosugi Maru"/>
                <a:ea typeface="Kosugi Maru"/>
                <a:cs typeface="Kosugi Maru"/>
                <a:sym typeface="Kosugi Maru"/>
              </a:rPr>
              <a:t>　</a:t>
            </a:r>
            <a:r>
              <a:rPr lang="ja" sz="3500">
                <a:solidFill>
                  <a:srgbClr val="FF0000"/>
                </a:solidFill>
                <a:latin typeface="Kosugi Maru"/>
                <a:ea typeface="Kosugi Maru"/>
                <a:cs typeface="Kosugi Maru"/>
                <a:sym typeface="Kosugi Maru"/>
              </a:rPr>
              <a:t>お金と時間</a:t>
            </a:r>
            <a:r>
              <a:rPr lang="ja" sz="3500">
                <a:solidFill>
                  <a:schemeClr val="dk1"/>
                </a:solidFill>
                <a:latin typeface="Kosugi Maru"/>
                <a:ea typeface="Kosugi Maru"/>
                <a:cs typeface="Kosugi Maru"/>
                <a:sym typeface="Kosugi Maru"/>
              </a:rPr>
              <a:t>をものすごく</a:t>
            </a:r>
            <a:endParaRPr sz="3500">
              <a:solidFill>
                <a:schemeClr val="dk1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" sz="3500">
                <a:solidFill>
                  <a:schemeClr val="dk1"/>
                </a:solidFill>
                <a:latin typeface="Kosugi Maru"/>
                <a:ea typeface="Kosugi Maru"/>
                <a:cs typeface="Kosugi Maru"/>
                <a:sym typeface="Kosugi Maru"/>
              </a:rPr>
              <a:t>　かけたんですか？」</a:t>
            </a:r>
            <a:endParaRPr sz="3500">
              <a:solidFill>
                <a:schemeClr val="dk1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  <p:pic>
        <p:nvPicPr>
          <p:cNvPr id="241" name="Google Shape;241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34775" y="2826372"/>
            <a:ext cx="2057400" cy="172967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38"/>
          <p:cNvSpPr txBox="1"/>
          <p:nvPr>
            <p:ph idx="12" type="sldNum"/>
          </p:nvPr>
        </p:nvSpPr>
        <p:spPr>
          <a:xfrm>
            <a:off x="6457951" y="4767264"/>
            <a:ext cx="2057400" cy="273900"/>
          </a:xfrm>
          <a:prstGeom prst="rect">
            <a:avLst/>
          </a:prstGeom>
        </p:spPr>
        <p:txBody>
          <a:bodyPr anchorCtr="0" anchor="ctr" bIns="39550" lIns="79125" spcFirstLastPara="1" rIns="79125" wrap="square" tIns="3955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  <p:sp>
        <p:nvSpPr>
          <p:cNvPr id="248" name="Google Shape;248;p38"/>
          <p:cNvSpPr txBox="1"/>
          <p:nvPr>
            <p:ph idx="11" type="ftr"/>
          </p:nvPr>
        </p:nvSpPr>
        <p:spPr>
          <a:xfrm>
            <a:off x="3028973" y="4817889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>
                <a:latin typeface="M PLUS Rounded 1c Light"/>
                <a:ea typeface="M PLUS Rounded 1c Light"/>
                <a:cs typeface="M PLUS Rounded 1c Light"/>
                <a:sym typeface="M PLUS Rounded 1c Light"/>
              </a:rPr>
              <a:t>©︎2025日本ママアカデミー協会</a:t>
            </a:r>
            <a:endParaRPr>
              <a:latin typeface="M PLUS Rounded 1c Light"/>
              <a:ea typeface="M PLUS Rounded 1c Light"/>
              <a:cs typeface="M PLUS Rounded 1c Light"/>
              <a:sym typeface="M PLUS Rounded 1c Light"/>
            </a:endParaRPr>
          </a:p>
        </p:txBody>
      </p:sp>
      <p:sp>
        <p:nvSpPr>
          <p:cNvPr id="249" name="Google Shape;249;p38"/>
          <p:cNvSpPr txBox="1"/>
          <p:nvPr/>
        </p:nvSpPr>
        <p:spPr>
          <a:xfrm>
            <a:off x="1387650" y="2030100"/>
            <a:ext cx="6368700" cy="1083300"/>
          </a:xfrm>
          <a:prstGeom prst="rect">
            <a:avLst/>
          </a:prstGeom>
          <a:noFill/>
          <a:ln>
            <a:noFill/>
          </a:ln>
        </p:spPr>
        <p:txBody>
          <a:bodyPr anchorCtr="0" anchor="t" bIns="79125" lIns="79125" spcFirstLastPara="1" rIns="79125" wrap="square" tIns="791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" sz="6000">
                <a:solidFill>
                  <a:srgbClr val="666666"/>
                </a:solidFill>
                <a:highlight>
                  <a:srgbClr val="FFF2CC"/>
                </a:highlight>
                <a:latin typeface="Kosugi Maru"/>
                <a:ea typeface="Kosugi Maru"/>
                <a:cs typeface="Kosugi Maru"/>
                <a:sym typeface="Kosugi Maru"/>
              </a:rPr>
              <a:t>実はそうでもない</a:t>
            </a:r>
            <a:endParaRPr sz="6000">
              <a:solidFill>
                <a:srgbClr val="666666"/>
              </a:solidFill>
              <a:highlight>
                <a:srgbClr val="FFF2CC"/>
              </a:highlight>
              <a:latin typeface="Kosugi Maru"/>
              <a:ea typeface="Kosugi Maru"/>
              <a:cs typeface="Kosugi Maru"/>
              <a:sym typeface="Kosugi Maru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39"/>
          <p:cNvSpPr txBox="1"/>
          <p:nvPr>
            <p:ph idx="12" type="sldNum"/>
          </p:nvPr>
        </p:nvSpPr>
        <p:spPr>
          <a:xfrm>
            <a:off x="6457951" y="4767264"/>
            <a:ext cx="2057400" cy="273900"/>
          </a:xfrm>
          <a:prstGeom prst="rect">
            <a:avLst/>
          </a:prstGeom>
        </p:spPr>
        <p:txBody>
          <a:bodyPr anchorCtr="0" anchor="ctr" bIns="39550" lIns="79125" spcFirstLastPara="1" rIns="79125" wrap="square" tIns="3955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  <p:sp>
        <p:nvSpPr>
          <p:cNvPr id="256" name="Google Shape;256;p39"/>
          <p:cNvSpPr txBox="1"/>
          <p:nvPr>
            <p:ph idx="11" type="ftr"/>
          </p:nvPr>
        </p:nvSpPr>
        <p:spPr>
          <a:xfrm>
            <a:off x="3028973" y="4817889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>
                <a:latin typeface="M PLUS Rounded 1c Light"/>
                <a:ea typeface="M PLUS Rounded 1c Light"/>
                <a:cs typeface="M PLUS Rounded 1c Light"/>
                <a:sym typeface="M PLUS Rounded 1c Light"/>
              </a:rPr>
              <a:t>©︎2025日本ママアカデミー協会</a:t>
            </a:r>
            <a:endParaRPr>
              <a:latin typeface="M PLUS Rounded 1c Light"/>
              <a:ea typeface="M PLUS Rounded 1c Light"/>
              <a:cs typeface="M PLUS Rounded 1c Light"/>
              <a:sym typeface="M PLUS Rounded 1c Light"/>
            </a:endParaRPr>
          </a:p>
        </p:txBody>
      </p:sp>
      <p:sp>
        <p:nvSpPr>
          <p:cNvPr id="257" name="Google Shape;257;p39"/>
          <p:cNvSpPr txBox="1"/>
          <p:nvPr/>
        </p:nvSpPr>
        <p:spPr>
          <a:xfrm>
            <a:off x="1315775" y="2308775"/>
            <a:ext cx="6368700" cy="837000"/>
          </a:xfrm>
          <a:prstGeom prst="rect">
            <a:avLst/>
          </a:prstGeom>
          <a:noFill/>
          <a:ln>
            <a:noFill/>
          </a:ln>
        </p:spPr>
        <p:txBody>
          <a:bodyPr anchorCtr="0" anchor="t" bIns="79125" lIns="79125" spcFirstLastPara="1" rIns="79125" wrap="square" tIns="791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" sz="4400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小中高は全て公立</a:t>
            </a:r>
            <a:endParaRPr sz="4400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  <p:sp>
        <p:nvSpPr>
          <p:cNvPr id="258" name="Google Shape;258;p39"/>
          <p:cNvSpPr txBox="1"/>
          <p:nvPr/>
        </p:nvSpPr>
        <p:spPr>
          <a:xfrm>
            <a:off x="25" y="342613"/>
            <a:ext cx="91440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" sz="3200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学校は私立の有名学校？</a:t>
            </a:r>
            <a:endParaRPr sz="3200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  <p:cxnSp>
        <p:nvCxnSpPr>
          <p:cNvPr id="259" name="Google Shape;259;p39"/>
          <p:cNvCxnSpPr/>
          <p:nvPr/>
        </p:nvCxnSpPr>
        <p:spPr>
          <a:xfrm>
            <a:off x="828450" y="976525"/>
            <a:ext cx="7487100" cy="0"/>
          </a:xfrm>
          <a:prstGeom prst="straightConnector1">
            <a:avLst/>
          </a:prstGeom>
          <a:noFill/>
          <a:ln cap="flat" cmpd="sng" w="28575">
            <a:solidFill>
              <a:srgbClr val="EF84C9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40"/>
          <p:cNvSpPr txBox="1"/>
          <p:nvPr>
            <p:ph idx="12" type="sldNum"/>
          </p:nvPr>
        </p:nvSpPr>
        <p:spPr>
          <a:xfrm>
            <a:off x="6457951" y="4767264"/>
            <a:ext cx="2057400" cy="273900"/>
          </a:xfrm>
          <a:prstGeom prst="rect">
            <a:avLst/>
          </a:prstGeom>
        </p:spPr>
        <p:txBody>
          <a:bodyPr anchorCtr="0" anchor="ctr" bIns="39550" lIns="79125" spcFirstLastPara="1" rIns="79125" wrap="square" tIns="3955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  <p:sp>
        <p:nvSpPr>
          <p:cNvPr id="266" name="Google Shape;266;p40"/>
          <p:cNvSpPr txBox="1"/>
          <p:nvPr>
            <p:ph idx="11" type="ftr"/>
          </p:nvPr>
        </p:nvSpPr>
        <p:spPr>
          <a:xfrm>
            <a:off x="3028973" y="4817889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>
                <a:latin typeface="M PLUS Rounded 1c Light"/>
                <a:ea typeface="M PLUS Rounded 1c Light"/>
                <a:cs typeface="M PLUS Rounded 1c Light"/>
                <a:sym typeface="M PLUS Rounded 1c Light"/>
              </a:rPr>
              <a:t>©︎2025日本ママアカデミー協会</a:t>
            </a:r>
            <a:endParaRPr>
              <a:latin typeface="M PLUS Rounded 1c Light"/>
              <a:ea typeface="M PLUS Rounded 1c Light"/>
              <a:cs typeface="M PLUS Rounded 1c Light"/>
              <a:sym typeface="M PLUS Rounded 1c Light"/>
            </a:endParaRPr>
          </a:p>
        </p:txBody>
      </p:sp>
      <p:sp>
        <p:nvSpPr>
          <p:cNvPr id="267" name="Google Shape;267;p40"/>
          <p:cNvSpPr txBox="1"/>
          <p:nvPr/>
        </p:nvSpPr>
        <p:spPr>
          <a:xfrm>
            <a:off x="25" y="342613"/>
            <a:ext cx="91440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" sz="3200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進学塾に行かせたの？</a:t>
            </a:r>
            <a:endParaRPr sz="3200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  <p:cxnSp>
        <p:nvCxnSpPr>
          <p:cNvPr id="268" name="Google Shape;268;p40"/>
          <p:cNvCxnSpPr/>
          <p:nvPr/>
        </p:nvCxnSpPr>
        <p:spPr>
          <a:xfrm>
            <a:off x="828450" y="976525"/>
            <a:ext cx="7487100" cy="0"/>
          </a:xfrm>
          <a:prstGeom prst="straightConnector1">
            <a:avLst/>
          </a:prstGeom>
          <a:noFill/>
          <a:ln cap="flat" cmpd="sng" w="28575">
            <a:solidFill>
              <a:srgbClr val="EF84C9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69" name="Google Shape;269;p40"/>
          <p:cNvSpPr txBox="1"/>
          <p:nvPr/>
        </p:nvSpPr>
        <p:spPr>
          <a:xfrm>
            <a:off x="1282550" y="1830000"/>
            <a:ext cx="6368700" cy="1483500"/>
          </a:xfrm>
          <a:prstGeom prst="rect">
            <a:avLst/>
          </a:prstGeom>
          <a:noFill/>
          <a:ln>
            <a:noFill/>
          </a:ln>
        </p:spPr>
        <p:txBody>
          <a:bodyPr anchorCtr="0" anchor="t" bIns="79125" lIns="79125" spcFirstLastPara="1" rIns="79125" wrap="square" tIns="791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" sz="4000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中・高で受験期に合わせて</a:t>
            </a:r>
            <a:endParaRPr sz="4000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" sz="4000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通わせただけ</a:t>
            </a:r>
            <a:endParaRPr sz="4000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  <p:sp>
        <p:nvSpPr>
          <p:cNvPr id="270" name="Google Shape;270;p40"/>
          <p:cNvSpPr txBox="1"/>
          <p:nvPr/>
        </p:nvSpPr>
        <p:spPr>
          <a:xfrm>
            <a:off x="1659475" y="3702650"/>
            <a:ext cx="6135900" cy="94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" sz="2300">
                <a:solidFill>
                  <a:srgbClr val="666666"/>
                </a:solidFill>
              </a:rPr>
              <a:t>むしろ子どもから「塾に行かせてください」</a:t>
            </a:r>
            <a:endParaRPr sz="2300">
              <a:solidFill>
                <a:srgbClr val="666666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" sz="2300">
                <a:solidFill>
                  <a:srgbClr val="666666"/>
                </a:solidFill>
              </a:rPr>
              <a:t>とお願いがあった</a:t>
            </a:r>
            <a:endParaRPr sz="2300">
              <a:solidFill>
                <a:srgbClr val="666666"/>
              </a:solidFill>
            </a:endParaRPr>
          </a:p>
        </p:txBody>
      </p:sp>
      <p:pic>
        <p:nvPicPr>
          <p:cNvPr id="271" name="Google Shape;271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39050" y="3221775"/>
            <a:ext cx="1177630" cy="148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41"/>
          <p:cNvSpPr txBox="1"/>
          <p:nvPr>
            <p:ph idx="12" type="sldNum"/>
          </p:nvPr>
        </p:nvSpPr>
        <p:spPr>
          <a:xfrm>
            <a:off x="6457951" y="4767264"/>
            <a:ext cx="2057400" cy="273900"/>
          </a:xfrm>
          <a:prstGeom prst="rect">
            <a:avLst/>
          </a:prstGeom>
        </p:spPr>
        <p:txBody>
          <a:bodyPr anchorCtr="0" anchor="ctr" bIns="39550" lIns="79125" spcFirstLastPara="1" rIns="79125" wrap="square" tIns="3955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  <p:sp>
        <p:nvSpPr>
          <p:cNvPr id="278" name="Google Shape;278;p41"/>
          <p:cNvSpPr txBox="1"/>
          <p:nvPr>
            <p:ph idx="11" type="ftr"/>
          </p:nvPr>
        </p:nvSpPr>
        <p:spPr>
          <a:xfrm>
            <a:off x="3028973" y="4817889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>
                <a:latin typeface="M PLUS Rounded 1c Light"/>
                <a:ea typeface="M PLUS Rounded 1c Light"/>
                <a:cs typeface="M PLUS Rounded 1c Light"/>
                <a:sym typeface="M PLUS Rounded 1c Light"/>
              </a:rPr>
              <a:t>©︎2025日本ママアカデミー協会</a:t>
            </a:r>
            <a:endParaRPr>
              <a:latin typeface="M PLUS Rounded 1c Light"/>
              <a:ea typeface="M PLUS Rounded 1c Light"/>
              <a:cs typeface="M PLUS Rounded 1c Light"/>
              <a:sym typeface="M PLUS Rounded 1c Light"/>
            </a:endParaRPr>
          </a:p>
        </p:txBody>
      </p:sp>
      <p:sp>
        <p:nvSpPr>
          <p:cNvPr id="279" name="Google Shape;279;p41"/>
          <p:cNvSpPr txBox="1"/>
          <p:nvPr/>
        </p:nvSpPr>
        <p:spPr>
          <a:xfrm>
            <a:off x="25" y="342613"/>
            <a:ext cx="91440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" sz="3200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日中は家でずっと勉強してた？</a:t>
            </a:r>
            <a:endParaRPr sz="3200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  <p:cxnSp>
        <p:nvCxnSpPr>
          <p:cNvPr id="280" name="Google Shape;280;p41"/>
          <p:cNvCxnSpPr/>
          <p:nvPr/>
        </p:nvCxnSpPr>
        <p:spPr>
          <a:xfrm>
            <a:off x="828450" y="976525"/>
            <a:ext cx="7487100" cy="0"/>
          </a:xfrm>
          <a:prstGeom prst="straightConnector1">
            <a:avLst/>
          </a:prstGeom>
          <a:noFill/>
          <a:ln cap="flat" cmpd="sng" w="28575">
            <a:solidFill>
              <a:srgbClr val="EF84C9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81" name="Google Shape;281;p41"/>
          <p:cNvSpPr txBox="1"/>
          <p:nvPr/>
        </p:nvSpPr>
        <p:spPr>
          <a:xfrm>
            <a:off x="828450" y="1788225"/>
            <a:ext cx="7254900" cy="837000"/>
          </a:xfrm>
          <a:prstGeom prst="rect">
            <a:avLst/>
          </a:prstGeom>
          <a:noFill/>
          <a:ln>
            <a:noFill/>
          </a:ln>
        </p:spPr>
        <p:txBody>
          <a:bodyPr anchorCtr="0" anchor="t" bIns="79125" lIns="79125" spcFirstLastPara="1" rIns="79125" wrap="square" tIns="791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" sz="3400">
                <a:solidFill>
                  <a:schemeClr val="dk1"/>
                </a:solidFill>
                <a:latin typeface="Kosugi Maru"/>
                <a:ea typeface="Kosugi Maru"/>
                <a:cs typeface="Kosugi Maru"/>
                <a:sym typeface="Kosugi Maru"/>
              </a:rPr>
              <a:t>部活を</a:t>
            </a:r>
            <a:r>
              <a:rPr b="1" lang="ja" sz="4400">
                <a:solidFill>
                  <a:srgbClr val="EF84C9"/>
                </a:solidFill>
                <a:latin typeface="Kosugi Maru"/>
                <a:ea typeface="Kosugi Maru"/>
                <a:cs typeface="Kosugi Maru"/>
                <a:sym typeface="Kosugi Maru"/>
              </a:rPr>
              <a:t>フル参加で</a:t>
            </a:r>
            <a:r>
              <a:rPr lang="ja" sz="3400">
                <a:solidFill>
                  <a:schemeClr val="dk1"/>
                </a:solidFill>
                <a:latin typeface="Kosugi Maru"/>
                <a:ea typeface="Kosugi Maru"/>
                <a:cs typeface="Kosugi Maru"/>
                <a:sym typeface="Kosugi Maru"/>
              </a:rPr>
              <a:t>楽しんでいた</a:t>
            </a:r>
            <a:endParaRPr sz="3400">
              <a:solidFill>
                <a:schemeClr val="dk1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  <p:sp>
        <p:nvSpPr>
          <p:cNvPr id="282" name="Google Shape;282;p41"/>
          <p:cNvSpPr txBox="1"/>
          <p:nvPr/>
        </p:nvSpPr>
        <p:spPr>
          <a:xfrm>
            <a:off x="454100" y="2881875"/>
            <a:ext cx="2899800" cy="134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" sz="1700" u="sng">
                <a:solidFill>
                  <a:schemeClr val="dk1"/>
                </a:solidFill>
                <a:latin typeface="Kosugi Maru"/>
                <a:ea typeface="Kosugi Maru"/>
                <a:cs typeface="Kosugi Maru"/>
                <a:sym typeface="Kosugi Maru"/>
              </a:rPr>
              <a:t>中学校</a:t>
            </a:r>
            <a:endParaRPr sz="1700" u="sng">
              <a:solidFill>
                <a:schemeClr val="dk1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" sz="1700">
                <a:solidFill>
                  <a:schemeClr val="dk1"/>
                </a:solidFill>
                <a:latin typeface="Kosugi Maru"/>
                <a:ea typeface="Kosugi Maru"/>
                <a:cs typeface="Kosugi Maru"/>
                <a:sym typeface="Kosugi Maru"/>
              </a:rPr>
              <a:t>バスケットボール部</a:t>
            </a:r>
            <a:endParaRPr sz="1700">
              <a:solidFill>
                <a:schemeClr val="dk1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" sz="1700">
                <a:solidFill>
                  <a:schemeClr val="dk1"/>
                </a:solidFill>
                <a:latin typeface="Kosugi Maru"/>
                <a:ea typeface="Kosugi Maru"/>
                <a:cs typeface="Kosugi Maru"/>
                <a:sym typeface="Kosugi Maru"/>
              </a:rPr>
              <a:t>（3年間活動）</a:t>
            </a:r>
            <a:endParaRPr sz="1700">
              <a:solidFill>
                <a:schemeClr val="dk1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" sz="1700">
                <a:solidFill>
                  <a:schemeClr val="dk1"/>
                </a:solidFill>
                <a:latin typeface="Kosugi Maru"/>
                <a:ea typeface="Kosugi Maru"/>
                <a:cs typeface="Kosugi Maru"/>
                <a:sym typeface="Kosugi Maru"/>
              </a:rPr>
              <a:t>副キャプテン</a:t>
            </a:r>
            <a:endParaRPr sz="1700">
              <a:solidFill>
                <a:schemeClr val="dk1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  <p:sp>
        <p:nvSpPr>
          <p:cNvPr id="283" name="Google Shape;283;p41"/>
          <p:cNvSpPr txBox="1"/>
          <p:nvPr/>
        </p:nvSpPr>
        <p:spPr>
          <a:xfrm>
            <a:off x="3215275" y="2881875"/>
            <a:ext cx="2586600" cy="10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" sz="1700" u="sng">
                <a:solidFill>
                  <a:schemeClr val="dk1"/>
                </a:solidFill>
                <a:latin typeface="Kosugi Maru"/>
                <a:ea typeface="Kosugi Maru"/>
                <a:cs typeface="Kosugi Maru"/>
                <a:sym typeface="Kosugi Maru"/>
              </a:rPr>
              <a:t>高校</a:t>
            </a:r>
            <a:endParaRPr sz="1700" u="sng">
              <a:solidFill>
                <a:schemeClr val="dk1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" sz="1700">
                <a:solidFill>
                  <a:schemeClr val="dk1"/>
                </a:solidFill>
                <a:latin typeface="Kosugi Maru"/>
                <a:ea typeface="Kosugi Maru"/>
                <a:cs typeface="Kosugi Maru"/>
                <a:sym typeface="Kosugi Maru"/>
              </a:rPr>
              <a:t>バスケットボール部</a:t>
            </a:r>
            <a:endParaRPr sz="1700">
              <a:solidFill>
                <a:schemeClr val="dk1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" sz="1700">
                <a:solidFill>
                  <a:schemeClr val="dk1"/>
                </a:solidFill>
                <a:latin typeface="Kosugi Maru"/>
                <a:ea typeface="Kosugi Maru"/>
                <a:cs typeface="Kosugi Maru"/>
                <a:sym typeface="Kosugi Maru"/>
              </a:rPr>
              <a:t>囲碁部</a:t>
            </a:r>
            <a:endParaRPr sz="1700">
              <a:solidFill>
                <a:schemeClr val="dk1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  <p:sp>
        <p:nvSpPr>
          <p:cNvPr id="284" name="Google Shape;284;p41"/>
          <p:cNvSpPr txBox="1"/>
          <p:nvPr/>
        </p:nvSpPr>
        <p:spPr>
          <a:xfrm>
            <a:off x="6193350" y="2881875"/>
            <a:ext cx="2586600" cy="10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" sz="1700" u="sng">
                <a:solidFill>
                  <a:schemeClr val="dk1"/>
                </a:solidFill>
                <a:latin typeface="Kosugi Maru"/>
                <a:ea typeface="Kosugi Maru"/>
                <a:cs typeface="Kosugi Maru"/>
                <a:sym typeface="Kosugi Maru"/>
              </a:rPr>
              <a:t>大学も・・・</a:t>
            </a:r>
            <a:endParaRPr sz="1700">
              <a:solidFill>
                <a:schemeClr val="dk1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" sz="1700">
                <a:solidFill>
                  <a:schemeClr val="dk1"/>
                </a:solidFill>
                <a:latin typeface="Kosugi Maru"/>
                <a:ea typeface="Kosugi Maru"/>
                <a:cs typeface="Kosugi Maru"/>
                <a:sym typeface="Kosugi Maru"/>
              </a:rPr>
              <a:t>バンド活動（４年間）</a:t>
            </a:r>
            <a:endParaRPr sz="1700">
              <a:solidFill>
                <a:schemeClr val="dk1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" sz="1700">
                <a:solidFill>
                  <a:schemeClr val="dk1"/>
                </a:solidFill>
                <a:latin typeface="Kosugi Maru"/>
                <a:ea typeface="Kosugi Maru"/>
                <a:cs typeface="Kosugi Maru"/>
                <a:sym typeface="Kosugi Maru"/>
              </a:rPr>
              <a:t>ドラム担当</a:t>
            </a:r>
            <a:endParaRPr sz="1700">
              <a:solidFill>
                <a:schemeClr val="dk1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42"/>
          <p:cNvSpPr txBox="1"/>
          <p:nvPr>
            <p:ph idx="12" type="sldNum"/>
          </p:nvPr>
        </p:nvSpPr>
        <p:spPr>
          <a:xfrm>
            <a:off x="6457951" y="4767264"/>
            <a:ext cx="2057400" cy="273900"/>
          </a:xfrm>
          <a:prstGeom prst="rect">
            <a:avLst/>
          </a:prstGeom>
        </p:spPr>
        <p:txBody>
          <a:bodyPr anchorCtr="0" anchor="ctr" bIns="39550" lIns="79125" spcFirstLastPara="1" rIns="79125" wrap="square" tIns="3955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  <p:sp>
        <p:nvSpPr>
          <p:cNvPr id="291" name="Google Shape;291;p42"/>
          <p:cNvSpPr txBox="1"/>
          <p:nvPr>
            <p:ph idx="11" type="ftr"/>
          </p:nvPr>
        </p:nvSpPr>
        <p:spPr>
          <a:xfrm>
            <a:off x="3028973" y="4817889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>
                <a:latin typeface="M PLUS Rounded 1c Light"/>
                <a:ea typeface="M PLUS Rounded 1c Light"/>
                <a:cs typeface="M PLUS Rounded 1c Light"/>
                <a:sym typeface="M PLUS Rounded 1c Light"/>
              </a:rPr>
              <a:t>©︎2025日本ママアカデミー協会</a:t>
            </a:r>
            <a:endParaRPr>
              <a:latin typeface="M PLUS Rounded 1c Light"/>
              <a:ea typeface="M PLUS Rounded 1c Light"/>
              <a:cs typeface="M PLUS Rounded 1c Light"/>
              <a:sym typeface="M PLUS Rounded 1c Light"/>
            </a:endParaRPr>
          </a:p>
        </p:txBody>
      </p:sp>
      <p:sp>
        <p:nvSpPr>
          <p:cNvPr id="292" name="Google Shape;292;p42"/>
          <p:cNvSpPr txBox="1"/>
          <p:nvPr/>
        </p:nvSpPr>
        <p:spPr>
          <a:xfrm>
            <a:off x="25" y="342613"/>
            <a:ext cx="91440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" sz="3200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寝る時間を削って勉強してた？</a:t>
            </a:r>
            <a:endParaRPr sz="3200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  <p:cxnSp>
        <p:nvCxnSpPr>
          <p:cNvPr id="293" name="Google Shape;293;p42"/>
          <p:cNvCxnSpPr/>
          <p:nvPr/>
        </p:nvCxnSpPr>
        <p:spPr>
          <a:xfrm>
            <a:off x="828450" y="976525"/>
            <a:ext cx="7487100" cy="0"/>
          </a:xfrm>
          <a:prstGeom prst="straightConnector1">
            <a:avLst/>
          </a:prstGeom>
          <a:noFill/>
          <a:ln cap="flat" cmpd="sng" w="28575">
            <a:solidFill>
              <a:srgbClr val="EF84C9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94" name="Google Shape;294;p42"/>
          <p:cNvSpPr txBox="1"/>
          <p:nvPr/>
        </p:nvSpPr>
        <p:spPr>
          <a:xfrm>
            <a:off x="828450" y="1981850"/>
            <a:ext cx="7254900" cy="1373400"/>
          </a:xfrm>
          <a:prstGeom prst="rect">
            <a:avLst/>
          </a:prstGeom>
          <a:noFill/>
          <a:ln>
            <a:noFill/>
          </a:ln>
        </p:spPr>
        <p:txBody>
          <a:bodyPr anchorCtr="0" anchor="t" bIns="79125" lIns="79125" spcFirstLastPara="1" rIns="79125" wrap="square" tIns="791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" sz="3400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勉強するくらいなら</a:t>
            </a:r>
            <a:r>
              <a:rPr b="1" lang="ja" sz="3900">
                <a:solidFill>
                  <a:srgbClr val="EF84C9"/>
                </a:solidFill>
                <a:latin typeface="Kosugi Maru"/>
                <a:ea typeface="Kosugi Maru"/>
                <a:cs typeface="Kosugi Maru"/>
                <a:sym typeface="Kosugi Maru"/>
              </a:rPr>
              <a:t>早く寝る</a:t>
            </a:r>
            <a:r>
              <a:rPr lang="ja" sz="3400">
                <a:solidFill>
                  <a:schemeClr val="dk1"/>
                </a:solidFill>
                <a:latin typeface="Kosugi Maru"/>
                <a:ea typeface="Kosugi Maru"/>
                <a:cs typeface="Kosugi Maru"/>
                <a:sym typeface="Kosugi Maru"/>
              </a:rPr>
              <a:t>！</a:t>
            </a:r>
            <a:endParaRPr sz="3400">
              <a:solidFill>
                <a:schemeClr val="dk1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" sz="3400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が我が家のルール</a:t>
            </a:r>
            <a:endParaRPr sz="3400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  <p:sp>
        <p:nvSpPr>
          <p:cNvPr id="295" name="Google Shape;295;p42"/>
          <p:cNvSpPr txBox="1"/>
          <p:nvPr/>
        </p:nvSpPr>
        <p:spPr>
          <a:xfrm>
            <a:off x="3409350" y="3740150"/>
            <a:ext cx="4005600" cy="81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" sz="1900">
                <a:solidFill>
                  <a:srgbClr val="666666"/>
                </a:solidFill>
                <a:latin typeface="Kosugi Maru"/>
                <a:ea typeface="Kosugi Maru"/>
                <a:cs typeface="Kosugi Maru"/>
                <a:sym typeface="Kosugi Maru"/>
              </a:rPr>
              <a:t>「勉強しなさい！」など</a:t>
            </a:r>
            <a:endParaRPr sz="1900">
              <a:solidFill>
                <a:srgbClr val="666666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" sz="1900">
                <a:solidFill>
                  <a:srgbClr val="666666"/>
                </a:solidFill>
                <a:latin typeface="Kosugi Maru"/>
                <a:ea typeface="Kosugi Maru"/>
                <a:cs typeface="Kosugi Maru"/>
                <a:sym typeface="Kosugi Maru"/>
              </a:rPr>
              <a:t>子供に言ったことは一切なかった</a:t>
            </a:r>
            <a:endParaRPr sz="1900">
              <a:solidFill>
                <a:srgbClr val="666666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  <p:pic>
        <p:nvPicPr>
          <p:cNvPr id="296" name="Google Shape;296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38372" y="3609888"/>
            <a:ext cx="1028503" cy="977837"/>
          </a:xfrm>
          <a:prstGeom prst="rect">
            <a:avLst/>
          </a:prstGeom>
          <a:noFill/>
          <a:ln>
            <a:noFill/>
          </a:ln>
        </p:spPr>
      </p:pic>
      <p:sp>
        <p:nvSpPr>
          <p:cNvPr id="297" name="Google Shape;297;p42"/>
          <p:cNvSpPr txBox="1"/>
          <p:nvPr/>
        </p:nvSpPr>
        <p:spPr>
          <a:xfrm rot="1075841">
            <a:off x="7447825" y="3879865"/>
            <a:ext cx="1045584" cy="87738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" sz="4500">
                <a:solidFill>
                  <a:srgbClr val="00FFFF"/>
                </a:solidFill>
                <a:latin typeface="Kosugi Maru"/>
                <a:ea typeface="Kosugi Maru"/>
                <a:cs typeface="Kosugi Maru"/>
                <a:sym typeface="Kosugi Maru"/>
              </a:rPr>
              <a:t>無</a:t>
            </a:r>
            <a:endParaRPr sz="4500">
              <a:solidFill>
                <a:srgbClr val="00FFFF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43"/>
          <p:cNvSpPr txBox="1"/>
          <p:nvPr>
            <p:ph idx="12" type="sldNum"/>
          </p:nvPr>
        </p:nvSpPr>
        <p:spPr>
          <a:xfrm>
            <a:off x="6457951" y="4767264"/>
            <a:ext cx="2057400" cy="273900"/>
          </a:xfrm>
          <a:prstGeom prst="rect">
            <a:avLst/>
          </a:prstGeom>
        </p:spPr>
        <p:txBody>
          <a:bodyPr anchorCtr="0" anchor="ctr" bIns="39550" lIns="79125" spcFirstLastPara="1" rIns="79125" wrap="square" tIns="3955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  <p:sp>
        <p:nvSpPr>
          <p:cNvPr id="304" name="Google Shape;304;p43"/>
          <p:cNvSpPr txBox="1"/>
          <p:nvPr>
            <p:ph idx="11" type="ftr"/>
          </p:nvPr>
        </p:nvSpPr>
        <p:spPr>
          <a:xfrm>
            <a:off x="3028973" y="4817889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>
                <a:latin typeface="M PLUS Rounded 1c Light"/>
                <a:ea typeface="M PLUS Rounded 1c Light"/>
                <a:cs typeface="M PLUS Rounded 1c Light"/>
                <a:sym typeface="M PLUS Rounded 1c Light"/>
              </a:rPr>
              <a:t>©︎2025日本ママアカデミー協会</a:t>
            </a:r>
            <a:endParaRPr>
              <a:latin typeface="M PLUS Rounded 1c Light"/>
              <a:ea typeface="M PLUS Rounded 1c Light"/>
              <a:cs typeface="M PLUS Rounded 1c Light"/>
              <a:sym typeface="M PLUS Rounded 1c Light"/>
            </a:endParaRPr>
          </a:p>
        </p:txBody>
      </p:sp>
      <p:sp>
        <p:nvSpPr>
          <p:cNvPr id="305" name="Google Shape;305;p43"/>
          <p:cNvSpPr txBox="1"/>
          <p:nvPr/>
        </p:nvSpPr>
        <p:spPr>
          <a:xfrm>
            <a:off x="25" y="342613"/>
            <a:ext cx="91440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" sz="3200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お父さんが厳しかったとか？</a:t>
            </a:r>
            <a:endParaRPr sz="3200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  <p:cxnSp>
        <p:nvCxnSpPr>
          <p:cNvPr id="306" name="Google Shape;306;p43"/>
          <p:cNvCxnSpPr/>
          <p:nvPr/>
        </p:nvCxnSpPr>
        <p:spPr>
          <a:xfrm>
            <a:off x="828450" y="976525"/>
            <a:ext cx="7487100" cy="0"/>
          </a:xfrm>
          <a:prstGeom prst="straightConnector1">
            <a:avLst/>
          </a:prstGeom>
          <a:noFill/>
          <a:ln cap="flat" cmpd="sng" w="28575">
            <a:solidFill>
              <a:srgbClr val="EF84C9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07" name="Google Shape;307;p43"/>
          <p:cNvSpPr txBox="1"/>
          <p:nvPr/>
        </p:nvSpPr>
        <p:spPr>
          <a:xfrm>
            <a:off x="1316225" y="1392250"/>
            <a:ext cx="6368700" cy="1483500"/>
          </a:xfrm>
          <a:prstGeom prst="rect">
            <a:avLst/>
          </a:prstGeom>
          <a:noFill/>
          <a:ln>
            <a:noFill/>
          </a:ln>
        </p:spPr>
        <p:txBody>
          <a:bodyPr anchorCtr="0" anchor="t" bIns="79125" lIns="79125" spcFirstLastPara="1" rIns="79125" wrap="square" tIns="791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" sz="4000">
                <a:solidFill>
                  <a:srgbClr val="3C78D8"/>
                </a:solidFill>
                <a:latin typeface="Kosugi Maru"/>
                <a:ea typeface="Kosugi Maru"/>
                <a:cs typeface="Kosugi Maru"/>
                <a:sym typeface="Kosugi Maru"/>
              </a:rPr>
              <a:t>子育てや教育に</a:t>
            </a:r>
            <a:endParaRPr sz="4000">
              <a:solidFill>
                <a:srgbClr val="3C78D8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" sz="4000">
                <a:solidFill>
                  <a:srgbClr val="3C78D8"/>
                </a:solidFill>
                <a:latin typeface="Kosugi Maru"/>
                <a:ea typeface="Kosugi Maru"/>
                <a:cs typeface="Kosugi Maru"/>
                <a:sym typeface="Kosugi Maru"/>
              </a:rPr>
              <a:t>特に熱心ではなかった</a:t>
            </a:r>
            <a:endParaRPr sz="4000">
              <a:solidFill>
                <a:srgbClr val="3C78D8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  <p:sp>
        <p:nvSpPr>
          <p:cNvPr id="308" name="Google Shape;308;p43"/>
          <p:cNvSpPr txBox="1"/>
          <p:nvPr/>
        </p:nvSpPr>
        <p:spPr>
          <a:xfrm>
            <a:off x="1585600" y="3081263"/>
            <a:ext cx="6368700" cy="1480500"/>
          </a:xfrm>
          <a:prstGeom prst="rect">
            <a:avLst/>
          </a:prstGeom>
          <a:noFill/>
          <a:ln>
            <a:noFill/>
          </a:ln>
        </p:spPr>
        <p:txBody>
          <a:bodyPr anchorCtr="0" anchor="t" bIns="79125" lIns="79125" spcFirstLastPara="1" rIns="79125" wrap="square" tIns="791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" sz="2600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むしろ・・・</a:t>
            </a:r>
            <a:endParaRPr sz="2600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" sz="2600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「子どもは早く寝ろ！」</a:t>
            </a:r>
            <a:endParaRPr sz="2600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" sz="2600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「塾に行きたいなら理由を言え！」</a:t>
            </a:r>
            <a:endParaRPr sz="2600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44"/>
          <p:cNvSpPr txBox="1"/>
          <p:nvPr>
            <p:ph idx="12" type="sldNum"/>
          </p:nvPr>
        </p:nvSpPr>
        <p:spPr>
          <a:xfrm>
            <a:off x="6457951" y="4767264"/>
            <a:ext cx="2057400" cy="273900"/>
          </a:xfrm>
          <a:prstGeom prst="rect">
            <a:avLst/>
          </a:prstGeom>
        </p:spPr>
        <p:txBody>
          <a:bodyPr anchorCtr="0" anchor="ctr" bIns="39550" lIns="79125" spcFirstLastPara="1" rIns="79125" wrap="square" tIns="3955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  <p:sp>
        <p:nvSpPr>
          <p:cNvPr id="315" name="Google Shape;315;p44"/>
          <p:cNvSpPr txBox="1"/>
          <p:nvPr>
            <p:ph idx="11" type="ftr"/>
          </p:nvPr>
        </p:nvSpPr>
        <p:spPr>
          <a:xfrm>
            <a:off x="3028973" y="4817889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>
                <a:latin typeface="M PLUS Rounded 1c Light"/>
                <a:ea typeface="M PLUS Rounded 1c Light"/>
                <a:cs typeface="M PLUS Rounded 1c Light"/>
                <a:sym typeface="M PLUS Rounded 1c Light"/>
              </a:rPr>
              <a:t>©︎2025日本ママアカデミー協会</a:t>
            </a:r>
            <a:endParaRPr>
              <a:latin typeface="M PLUS Rounded 1c Light"/>
              <a:ea typeface="M PLUS Rounded 1c Light"/>
              <a:cs typeface="M PLUS Rounded 1c Light"/>
              <a:sym typeface="M PLUS Rounded 1c Light"/>
            </a:endParaRPr>
          </a:p>
        </p:txBody>
      </p:sp>
      <p:sp>
        <p:nvSpPr>
          <p:cNvPr id="316" name="Google Shape;316;p44"/>
          <p:cNvSpPr txBox="1"/>
          <p:nvPr/>
        </p:nvSpPr>
        <p:spPr>
          <a:xfrm>
            <a:off x="825375" y="433800"/>
            <a:ext cx="7848000" cy="4275900"/>
          </a:xfrm>
          <a:prstGeom prst="rect">
            <a:avLst/>
          </a:prstGeom>
          <a:noFill/>
          <a:ln>
            <a:noFill/>
          </a:ln>
        </p:spPr>
        <p:txBody>
          <a:bodyPr anchorCtr="0" anchor="t" bIns="79125" lIns="79125" spcFirstLastPara="1" rIns="79125" wrap="square" tIns="791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" sz="4400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そんな家庭でも</a:t>
            </a:r>
            <a:endParaRPr sz="4400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" sz="4400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医者の子どもが育ったのには</a:t>
            </a:r>
            <a:endParaRPr sz="4400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4400">
                <a:solidFill>
                  <a:srgbClr val="EF84C9"/>
                </a:solidFill>
                <a:latin typeface="Kosugi Maru"/>
                <a:ea typeface="Kosugi Maru"/>
                <a:cs typeface="Kosugi Maru"/>
                <a:sym typeface="Kosugi Maru"/>
              </a:rPr>
              <a:t>秘密</a:t>
            </a:r>
            <a:r>
              <a:rPr lang="ja" sz="4400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があります</a:t>
            </a:r>
            <a:endParaRPr sz="4400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400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" sz="4400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それが・・・</a:t>
            </a:r>
            <a:r>
              <a:rPr b="1" lang="ja" sz="6500">
                <a:solidFill>
                  <a:srgbClr val="EF84C9"/>
                </a:solidFill>
                <a:latin typeface="Kosugi Maru"/>
                <a:ea typeface="Kosugi Maru"/>
                <a:cs typeface="Kosugi Maru"/>
                <a:sym typeface="Kosugi Maru"/>
              </a:rPr>
              <a:t>育脳</a:t>
            </a:r>
            <a:endParaRPr b="1" sz="6500">
              <a:solidFill>
                <a:srgbClr val="EF84C9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45"/>
          <p:cNvSpPr txBox="1"/>
          <p:nvPr>
            <p:ph idx="12" type="sldNum"/>
          </p:nvPr>
        </p:nvSpPr>
        <p:spPr>
          <a:xfrm>
            <a:off x="6457951" y="4767264"/>
            <a:ext cx="2057400" cy="273900"/>
          </a:xfrm>
          <a:prstGeom prst="rect">
            <a:avLst/>
          </a:prstGeom>
        </p:spPr>
        <p:txBody>
          <a:bodyPr anchorCtr="0" anchor="ctr" bIns="39550" lIns="79125" spcFirstLastPara="1" rIns="79125" wrap="square" tIns="3955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  <p:sp>
        <p:nvSpPr>
          <p:cNvPr id="323" name="Google Shape;323;p45"/>
          <p:cNvSpPr txBox="1"/>
          <p:nvPr>
            <p:ph idx="11" type="ftr"/>
          </p:nvPr>
        </p:nvSpPr>
        <p:spPr>
          <a:xfrm>
            <a:off x="3028973" y="4817889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>
                <a:latin typeface="M PLUS Rounded 1c Light"/>
                <a:ea typeface="M PLUS Rounded 1c Light"/>
                <a:cs typeface="M PLUS Rounded 1c Light"/>
                <a:sym typeface="M PLUS Rounded 1c Light"/>
              </a:rPr>
              <a:t>©︎2025日本ママアカデミー協会</a:t>
            </a:r>
            <a:endParaRPr>
              <a:latin typeface="M PLUS Rounded 1c Light"/>
              <a:ea typeface="M PLUS Rounded 1c Light"/>
              <a:cs typeface="M PLUS Rounded 1c Light"/>
              <a:sym typeface="M PLUS Rounded 1c Light"/>
            </a:endParaRPr>
          </a:p>
        </p:txBody>
      </p:sp>
      <p:sp>
        <p:nvSpPr>
          <p:cNvPr id="324" name="Google Shape;324;p45"/>
          <p:cNvSpPr txBox="1"/>
          <p:nvPr/>
        </p:nvSpPr>
        <p:spPr>
          <a:xfrm>
            <a:off x="25" y="342613"/>
            <a:ext cx="91440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" sz="3200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ビジネスの経験は？</a:t>
            </a:r>
            <a:endParaRPr sz="3200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  <p:cxnSp>
        <p:nvCxnSpPr>
          <p:cNvPr id="325" name="Google Shape;325;p45"/>
          <p:cNvCxnSpPr/>
          <p:nvPr/>
        </p:nvCxnSpPr>
        <p:spPr>
          <a:xfrm>
            <a:off x="828450" y="976525"/>
            <a:ext cx="7487100" cy="0"/>
          </a:xfrm>
          <a:prstGeom prst="straightConnector1">
            <a:avLst/>
          </a:prstGeom>
          <a:noFill/>
          <a:ln cap="flat" cmpd="sng" w="28575">
            <a:solidFill>
              <a:srgbClr val="EF84C9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26" name="Google Shape;326;p45"/>
          <p:cNvSpPr txBox="1"/>
          <p:nvPr/>
        </p:nvSpPr>
        <p:spPr>
          <a:xfrm>
            <a:off x="828450" y="1683600"/>
            <a:ext cx="7642200" cy="237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" sz="3200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・子育てサービス１</a:t>
            </a:r>
            <a:r>
              <a:rPr lang="ja" sz="3200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８</a:t>
            </a:r>
            <a:r>
              <a:rPr lang="ja" sz="3200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年</a:t>
            </a:r>
            <a:r>
              <a:rPr lang="ja" sz="3200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目</a:t>
            </a:r>
            <a:endParaRPr sz="3200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" sz="3200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・約5000組</a:t>
            </a:r>
            <a:r>
              <a:rPr lang="ja" sz="3200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のお客様に</a:t>
            </a:r>
            <a:endParaRPr sz="3200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" sz="3200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　クレームゼロでサービスをお届け</a:t>
            </a:r>
            <a:endParaRPr sz="3200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46"/>
          <p:cNvSpPr txBox="1"/>
          <p:nvPr>
            <p:ph idx="12" type="sldNum"/>
          </p:nvPr>
        </p:nvSpPr>
        <p:spPr>
          <a:xfrm>
            <a:off x="6457951" y="4767264"/>
            <a:ext cx="2057400" cy="273900"/>
          </a:xfrm>
          <a:prstGeom prst="rect">
            <a:avLst/>
          </a:prstGeom>
        </p:spPr>
        <p:txBody>
          <a:bodyPr anchorCtr="0" anchor="ctr" bIns="39550" lIns="79125" spcFirstLastPara="1" rIns="79125" wrap="square" tIns="3955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  <p:sp>
        <p:nvSpPr>
          <p:cNvPr id="333" name="Google Shape;333;p46"/>
          <p:cNvSpPr txBox="1"/>
          <p:nvPr>
            <p:ph idx="11" type="ftr"/>
          </p:nvPr>
        </p:nvSpPr>
        <p:spPr>
          <a:xfrm>
            <a:off x="3028973" y="4817889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>
                <a:latin typeface="M PLUS Rounded 1c Light"/>
                <a:ea typeface="M PLUS Rounded 1c Light"/>
                <a:cs typeface="M PLUS Rounded 1c Light"/>
                <a:sym typeface="M PLUS Rounded 1c Light"/>
              </a:rPr>
              <a:t>©︎2025日本ママアカデミー協会</a:t>
            </a:r>
            <a:endParaRPr>
              <a:latin typeface="M PLUS Rounded 1c Light"/>
              <a:ea typeface="M PLUS Rounded 1c Light"/>
              <a:cs typeface="M PLUS Rounded 1c Light"/>
              <a:sym typeface="M PLUS Rounded 1c Light"/>
            </a:endParaRPr>
          </a:p>
        </p:txBody>
      </p:sp>
      <p:cxnSp>
        <p:nvCxnSpPr>
          <p:cNvPr id="334" name="Google Shape;334;p46"/>
          <p:cNvCxnSpPr/>
          <p:nvPr/>
        </p:nvCxnSpPr>
        <p:spPr>
          <a:xfrm>
            <a:off x="828450" y="976525"/>
            <a:ext cx="7487100" cy="0"/>
          </a:xfrm>
          <a:prstGeom prst="straightConnector1">
            <a:avLst/>
          </a:prstGeom>
          <a:noFill/>
          <a:ln cap="flat" cmpd="sng" w="28575">
            <a:solidFill>
              <a:srgbClr val="EF84C9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335" name="Google Shape;335;p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8325" y="1750337"/>
            <a:ext cx="1545325" cy="1545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6" name="Google Shape;336;p4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64588" y="1840214"/>
            <a:ext cx="1365575" cy="1365575"/>
          </a:xfrm>
          <a:prstGeom prst="rect">
            <a:avLst/>
          </a:prstGeom>
          <a:noFill/>
          <a:ln>
            <a:noFill/>
          </a:ln>
        </p:spPr>
      </p:pic>
      <p:sp>
        <p:nvSpPr>
          <p:cNvPr id="337" name="Google Shape;337;p46"/>
          <p:cNvSpPr txBox="1"/>
          <p:nvPr/>
        </p:nvSpPr>
        <p:spPr>
          <a:xfrm>
            <a:off x="570850" y="3430225"/>
            <a:ext cx="20139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ja" sz="2000">
                <a:latin typeface="Kosugi Maru"/>
                <a:ea typeface="Kosugi Maru"/>
                <a:cs typeface="Kosugi Maru"/>
                <a:sym typeface="Kosugi Maru"/>
              </a:rPr>
              <a:t>顔出し大歓迎！</a:t>
            </a:r>
            <a:endParaRPr sz="2000">
              <a:latin typeface="Kosugi Maru"/>
              <a:ea typeface="Kosugi Maru"/>
              <a:cs typeface="Kosugi Maru"/>
              <a:sym typeface="Kosugi Maru"/>
            </a:endParaRPr>
          </a:p>
        </p:txBody>
      </p:sp>
      <p:sp>
        <p:nvSpPr>
          <p:cNvPr id="338" name="Google Shape;338;p46"/>
          <p:cNvSpPr txBox="1"/>
          <p:nvPr/>
        </p:nvSpPr>
        <p:spPr>
          <a:xfrm>
            <a:off x="3193825" y="3366625"/>
            <a:ext cx="3196500" cy="14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ja" sz="2000">
                <a:latin typeface="Kosugi Maru"/>
                <a:ea typeface="Kosugi Maru"/>
                <a:cs typeface="Kosugi Maru"/>
                <a:sym typeface="Kosugi Maru"/>
              </a:rPr>
              <a:t>お話になるとき以外は</a:t>
            </a:r>
            <a:endParaRPr sz="2000"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ja" sz="2000">
                <a:latin typeface="Kosugi Maru"/>
                <a:ea typeface="Kosugi Maru"/>
                <a:cs typeface="Kosugi Maru"/>
                <a:sym typeface="Kosugi Maru"/>
              </a:rPr>
              <a:t>マイクは”ミュート”で</a:t>
            </a:r>
            <a:endParaRPr sz="2000"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ja" sz="2000">
                <a:latin typeface="Kosugi Maru"/>
                <a:ea typeface="Kosugi Maru"/>
                <a:cs typeface="Kosugi Maru"/>
                <a:sym typeface="Kosugi Maru"/>
              </a:rPr>
              <a:t>お願い致します。</a:t>
            </a:r>
            <a:endParaRPr sz="2000">
              <a:latin typeface="Kosugi Maru"/>
              <a:ea typeface="Kosugi Maru"/>
              <a:cs typeface="Kosugi Maru"/>
              <a:sym typeface="Kosugi Maru"/>
            </a:endParaRPr>
          </a:p>
        </p:txBody>
      </p:sp>
      <p:pic>
        <p:nvPicPr>
          <p:cNvPr id="339" name="Google Shape;339;p4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852100" y="1948388"/>
            <a:ext cx="1149225" cy="1149225"/>
          </a:xfrm>
          <a:prstGeom prst="rect">
            <a:avLst/>
          </a:prstGeom>
          <a:noFill/>
          <a:ln>
            <a:noFill/>
          </a:ln>
        </p:spPr>
      </p:pic>
      <p:sp>
        <p:nvSpPr>
          <p:cNvPr id="340" name="Google Shape;340;p46"/>
          <p:cNvSpPr txBox="1"/>
          <p:nvPr/>
        </p:nvSpPr>
        <p:spPr>
          <a:xfrm>
            <a:off x="6457953" y="3366625"/>
            <a:ext cx="2342400" cy="10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ja" sz="2000">
                <a:latin typeface="Kosugi Maru"/>
                <a:ea typeface="Kosugi Maru"/>
                <a:cs typeface="Kosugi Maru"/>
                <a:sym typeface="Kosugi Maru"/>
              </a:rPr>
              <a:t>リアクションも</a:t>
            </a:r>
            <a:endParaRPr sz="2000"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ja" sz="2000">
                <a:latin typeface="Kosugi Maru"/>
                <a:ea typeface="Kosugi Maru"/>
                <a:cs typeface="Kosugi Maru"/>
                <a:sym typeface="Kosugi Maru"/>
              </a:rPr>
              <a:t>大歓迎！</a:t>
            </a:r>
            <a:endParaRPr sz="2000">
              <a:latin typeface="Kosugi Maru"/>
              <a:ea typeface="Kosugi Maru"/>
              <a:cs typeface="Kosugi Maru"/>
              <a:sym typeface="Kosugi Maru"/>
            </a:endParaRPr>
          </a:p>
        </p:txBody>
      </p:sp>
      <p:sp>
        <p:nvSpPr>
          <p:cNvPr id="341" name="Google Shape;341;p46"/>
          <p:cNvSpPr txBox="1"/>
          <p:nvPr/>
        </p:nvSpPr>
        <p:spPr>
          <a:xfrm>
            <a:off x="25" y="342613"/>
            <a:ext cx="91440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" sz="3200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チャレンジの楽しみ方</a:t>
            </a:r>
            <a:endParaRPr sz="3200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  <p:sp>
        <p:nvSpPr>
          <p:cNvPr id="342" name="Google Shape;342;p46"/>
          <p:cNvSpPr txBox="1"/>
          <p:nvPr/>
        </p:nvSpPr>
        <p:spPr>
          <a:xfrm>
            <a:off x="570850" y="1202375"/>
            <a:ext cx="28881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" sz="1900" u="sng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カメラ</a:t>
            </a:r>
            <a:endParaRPr sz="1900" u="sng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  <p:sp>
        <p:nvSpPr>
          <p:cNvPr id="343" name="Google Shape;343;p46"/>
          <p:cNvSpPr txBox="1"/>
          <p:nvPr/>
        </p:nvSpPr>
        <p:spPr>
          <a:xfrm>
            <a:off x="3664600" y="1191475"/>
            <a:ext cx="17415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" sz="1900" u="sng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マイク</a:t>
            </a:r>
            <a:endParaRPr sz="1900" u="sng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  <p:sp>
        <p:nvSpPr>
          <p:cNvPr id="344" name="Google Shape;344;p46"/>
          <p:cNvSpPr txBox="1"/>
          <p:nvPr/>
        </p:nvSpPr>
        <p:spPr>
          <a:xfrm>
            <a:off x="6502938" y="1202375"/>
            <a:ext cx="17415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" sz="1900" u="sng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リアクション</a:t>
            </a:r>
            <a:endParaRPr sz="1900" u="sng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47"/>
          <p:cNvSpPr txBox="1"/>
          <p:nvPr>
            <p:ph idx="12" type="sldNum"/>
          </p:nvPr>
        </p:nvSpPr>
        <p:spPr>
          <a:xfrm>
            <a:off x="6457951" y="4767264"/>
            <a:ext cx="2057400" cy="273900"/>
          </a:xfrm>
          <a:prstGeom prst="rect">
            <a:avLst/>
          </a:prstGeom>
        </p:spPr>
        <p:txBody>
          <a:bodyPr anchorCtr="0" anchor="ctr" bIns="39550" lIns="79125" spcFirstLastPara="1" rIns="79125" wrap="square" tIns="3955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  <p:sp>
        <p:nvSpPr>
          <p:cNvPr id="351" name="Google Shape;351;p47"/>
          <p:cNvSpPr txBox="1"/>
          <p:nvPr>
            <p:ph idx="11" type="ftr"/>
          </p:nvPr>
        </p:nvSpPr>
        <p:spPr>
          <a:xfrm>
            <a:off x="3028973" y="4817889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>
                <a:latin typeface="M PLUS Rounded 1c Light"/>
                <a:ea typeface="M PLUS Rounded 1c Light"/>
                <a:cs typeface="M PLUS Rounded 1c Light"/>
                <a:sym typeface="M PLUS Rounded 1c Light"/>
              </a:rPr>
              <a:t>©︎2025日本ママアカデミー協会</a:t>
            </a:r>
            <a:endParaRPr>
              <a:latin typeface="M PLUS Rounded 1c Light"/>
              <a:ea typeface="M PLUS Rounded 1c Light"/>
              <a:cs typeface="M PLUS Rounded 1c Light"/>
              <a:sym typeface="M PLUS Rounded 1c Light"/>
            </a:endParaRPr>
          </a:p>
        </p:txBody>
      </p:sp>
      <p:sp>
        <p:nvSpPr>
          <p:cNvPr id="352" name="Google Shape;352;p47"/>
          <p:cNvSpPr txBox="1"/>
          <p:nvPr/>
        </p:nvSpPr>
        <p:spPr>
          <a:xfrm>
            <a:off x="25" y="342613"/>
            <a:ext cx="91440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" sz="3200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チャレンジの楽しみ方</a:t>
            </a:r>
            <a:endParaRPr sz="3200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  <p:cxnSp>
        <p:nvCxnSpPr>
          <p:cNvPr id="353" name="Google Shape;353;p47"/>
          <p:cNvCxnSpPr/>
          <p:nvPr/>
        </p:nvCxnSpPr>
        <p:spPr>
          <a:xfrm>
            <a:off x="828450" y="976525"/>
            <a:ext cx="7487100" cy="0"/>
          </a:xfrm>
          <a:prstGeom prst="straightConnector1">
            <a:avLst/>
          </a:prstGeom>
          <a:noFill/>
          <a:ln cap="flat" cmpd="sng" w="28575">
            <a:solidFill>
              <a:srgbClr val="EF84C9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354" name="Google Shape;354;p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01000" y="2097852"/>
            <a:ext cx="1428625" cy="1287925"/>
          </a:xfrm>
          <a:prstGeom prst="rect">
            <a:avLst/>
          </a:prstGeom>
          <a:noFill/>
          <a:ln>
            <a:noFill/>
          </a:ln>
        </p:spPr>
      </p:pic>
      <p:sp>
        <p:nvSpPr>
          <p:cNvPr id="355" name="Google Shape;355;p47"/>
          <p:cNvSpPr txBox="1"/>
          <p:nvPr/>
        </p:nvSpPr>
        <p:spPr>
          <a:xfrm>
            <a:off x="1609900" y="1605250"/>
            <a:ext cx="32031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" sz="1900" u="sng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ライブ中のコメント</a:t>
            </a:r>
            <a:endParaRPr sz="1900" u="sng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  <p:sp>
        <p:nvSpPr>
          <p:cNvPr id="356" name="Google Shape;356;p47"/>
          <p:cNvSpPr txBox="1"/>
          <p:nvPr/>
        </p:nvSpPr>
        <p:spPr>
          <a:xfrm>
            <a:off x="1790350" y="3385775"/>
            <a:ext cx="2842200" cy="84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" sz="2000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Zoomのチャットに</a:t>
            </a:r>
            <a:endParaRPr sz="2000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" sz="2000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お寄せください</a:t>
            </a:r>
            <a:endParaRPr sz="2000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  <p:sp>
        <p:nvSpPr>
          <p:cNvPr id="357" name="Google Shape;357;p47"/>
          <p:cNvSpPr txBox="1"/>
          <p:nvPr/>
        </p:nvSpPr>
        <p:spPr>
          <a:xfrm>
            <a:off x="5559250" y="1631700"/>
            <a:ext cx="2585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" sz="2000" u="sng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質問なんでも</a:t>
            </a:r>
            <a:endParaRPr sz="2000" u="sng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  <p:pic>
        <p:nvPicPr>
          <p:cNvPr id="358" name="Google Shape;358;p4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42550" y="2082250"/>
            <a:ext cx="1266875" cy="1244850"/>
          </a:xfrm>
          <a:prstGeom prst="rect">
            <a:avLst/>
          </a:prstGeom>
          <a:noFill/>
          <a:ln>
            <a:noFill/>
          </a:ln>
        </p:spPr>
      </p:pic>
      <p:sp>
        <p:nvSpPr>
          <p:cNvPr id="359" name="Google Shape;359;p47"/>
          <p:cNvSpPr txBox="1"/>
          <p:nvPr/>
        </p:nvSpPr>
        <p:spPr>
          <a:xfrm>
            <a:off x="5302750" y="3385775"/>
            <a:ext cx="2842200" cy="84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" sz="2000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オープンチャットに</a:t>
            </a:r>
            <a:endParaRPr sz="2000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" sz="2000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お寄せください</a:t>
            </a:r>
            <a:endParaRPr sz="2000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48"/>
          <p:cNvSpPr txBox="1"/>
          <p:nvPr>
            <p:ph idx="12" type="sldNum"/>
          </p:nvPr>
        </p:nvSpPr>
        <p:spPr>
          <a:xfrm>
            <a:off x="6457951" y="4767264"/>
            <a:ext cx="2057400" cy="273900"/>
          </a:xfrm>
          <a:prstGeom prst="rect">
            <a:avLst/>
          </a:prstGeom>
        </p:spPr>
        <p:txBody>
          <a:bodyPr anchorCtr="0" anchor="ctr" bIns="39550" lIns="79125" spcFirstLastPara="1" rIns="79125" wrap="square" tIns="3955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  <p:sp>
        <p:nvSpPr>
          <p:cNvPr id="366" name="Google Shape;366;p48"/>
          <p:cNvSpPr txBox="1"/>
          <p:nvPr>
            <p:ph idx="11" type="ftr"/>
          </p:nvPr>
        </p:nvSpPr>
        <p:spPr>
          <a:xfrm>
            <a:off x="3028973" y="4817889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>
                <a:latin typeface="M PLUS Rounded 1c Light"/>
                <a:ea typeface="M PLUS Rounded 1c Light"/>
                <a:cs typeface="M PLUS Rounded 1c Light"/>
                <a:sym typeface="M PLUS Rounded 1c Light"/>
              </a:rPr>
              <a:t>©︎2025日本ママアカデミー協会</a:t>
            </a:r>
            <a:endParaRPr>
              <a:latin typeface="M PLUS Rounded 1c Light"/>
              <a:ea typeface="M PLUS Rounded 1c Light"/>
              <a:cs typeface="M PLUS Rounded 1c Light"/>
              <a:sym typeface="M PLUS Rounded 1c Light"/>
            </a:endParaRPr>
          </a:p>
        </p:txBody>
      </p:sp>
      <p:sp>
        <p:nvSpPr>
          <p:cNvPr id="367" name="Google Shape;367;p48"/>
          <p:cNvSpPr txBox="1"/>
          <p:nvPr/>
        </p:nvSpPr>
        <p:spPr>
          <a:xfrm>
            <a:off x="1387650" y="1439150"/>
            <a:ext cx="6368700" cy="2394900"/>
          </a:xfrm>
          <a:prstGeom prst="rect">
            <a:avLst/>
          </a:prstGeom>
          <a:noFill/>
          <a:ln>
            <a:noFill/>
          </a:ln>
        </p:spPr>
        <p:txBody>
          <a:bodyPr anchorCtr="0" anchor="t" bIns="79125" lIns="79125" spcFirstLastPara="1" rIns="79125" wrap="square" tIns="791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" sz="4400">
                <a:solidFill>
                  <a:schemeClr val="dk1"/>
                </a:solidFill>
                <a:latin typeface="Kosugi Maru"/>
                <a:ea typeface="Kosugi Maru"/>
                <a:cs typeface="Kosugi Maru"/>
                <a:sym typeface="Kosugi Maru"/>
              </a:rPr>
              <a:t>それでは</a:t>
            </a:r>
            <a:endParaRPr sz="4400">
              <a:solidFill>
                <a:schemeClr val="dk1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400">
              <a:solidFill>
                <a:schemeClr val="dk1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" sz="4400">
                <a:solidFill>
                  <a:schemeClr val="dk1"/>
                </a:solidFill>
                <a:latin typeface="Kosugi Maru"/>
                <a:ea typeface="Kosugi Maru"/>
                <a:cs typeface="Kosugi Maru"/>
                <a:sym typeface="Kosugi Maru"/>
              </a:rPr>
              <a:t>始めていきましょう✊</a:t>
            </a:r>
            <a:endParaRPr sz="4400">
              <a:solidFill>
                <a:schemeClr val="dk1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49"/>
          <p:cNvSpPr txBox="1"/>
          <p:nvPr>
            <p:ph idx="12" type="sldNum"/>
          </p:nvPr>
        </p:nvSpPr>
        <p:spPr>
          <a:xfrm>
            <a:off x="6457951" y="4767264"/>
            <a:ext cx="2057400" cy="273900"/>
          </a:xfrm>
          <a:prstGeom prst="rect">
            <a:avLst/>
          </a:prstGeom>
        </p:spPr>
        <p:txBody>
          <a:bodyPr anchorCtr="0" anchor="ctr" bIns="39550" lIns="79125" spcFirstLastPara="1" rIns="79125" wrap="square" tIns="3955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  <p:sp>
        <p:nvSpPr>
          <p:cNvPr id="374" name="Google Shape;374;p49"/>
          <p:cNvSpPr txBox="1"/>
          <p:nvPr>
            <p:ph idx="11" type="ftr"/>
          </p:nvPr>
        </p:nvSpPr>
        <p:spPr>
          <a:xfrm>
            <a:off x="3028973" y="4817889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>
                <a:latin typeface="M PLUS Rounded 1c Light"/>
                <a:ea typeface="M PLUS Rounded 1c Light"/>
                <a:cs typeface="M PLUS Rounded 1c Light"/>
                <a:sym typeface="M PLUS Rounded 1c Light"/>
              </a:rPr>
              <a:t>©︎2025日本ママアカデミー協会</a:t>
            </a:r>
            <a:endParaRPr>
              <a:latin typeface="M PLUS Rounded 1c Light"/>
              <a:ea typeface="M PLUS Rounded 1c Light"/>
              <a:cs typeface="M PLUS Rounded 1c Light"/>
              <a:sym typeface="M PLUS Rounded 1c Light"/>
            </a:endParaRPr>
          </a:p>
        </p:txBody>
      </p:sp>
      <p:sp>
        <p:nvSpPr>
          <p:cNvPr id="375" name="Google Shape;375;p49"/>
          <p:cNvSpPr txBox="1"/>
          <p:nvPr/>
        </p:nvSpPr>
        <p:spPr>
          <a:xfrm>
            <a:off x="574625" y="1023525"/>
            <a:ext cx="8208600" cy="251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" sz="4000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そもそも</a:t>
            </a:r>
            <a:endParaRPr sz="4000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" sz="5700">
                <a:solidFill>
                  <a:srgbClr val="FF00FF"/>
                </a:solidFill>
                <a:latin typeface="Kosugi Maru"/>
                <a:ea typeface="Kosugi Maru"/>
                <a:cs typeface="Kosugi Maru"/>
                <a:sym typeface="Kosugi Maru"/>
              </a:rPr>
              <a:t>"育脳"</a:t>
            </a:r>
            <a:r>
              <a:rPr lang="ja" sz="4000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とは</a:t>
            </a:r>
            <a:endParaRPr sz="4000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" sz="4000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なんでしょう？</a:t>
            </a:r>
            <a:endParaRPr sz="4000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  <p:pic>
        <p:nvPicPr>
          <p:cNvPr id="376" name="Google Shape;376;p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7291650" y="2201300"/>
            <a:ext cx="1573475" cy="2565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50"/>
          <p:cNvSpPr txBox="1"/>
          <p:nvPr>
            <p:ph idx="12" type="sldNum"/>
          </p:nvPr>
        </p:nvSpPr>
        <p:spPr>
          <a:xfrm>
            <a:off x="6457951" y="4767264"/>
            <a:ext cx="2057400" cy="273900"/>
          </a:xfrm>
          <a:prstGeom prst="rect">
            <a:avLst/>
          </a:prstGeom>
        </p:spPr>
        <p:txBody>
          <a:bodyPr anchorCtr="0" anchor="ctr" bIns="39550" lIns="79125" spcFirstLastPara="1" rIns="79125" wrap="square" tIns="3955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  <p:sp>
        <p:nvSpPr>
          <p:cNvPr id="383" name="Google Shape;383;p50"/>
          <p:cNvSpPr txBox="1"/>
          <p:nvPr>
            <p:ph idx="11" type="ftr"/>
          </p:nvPr>
        </p:nvSpPr>
        <p:spPr>
          <a:xfrm>
            <a:off x="3028973" y="4817889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>
                <a:latin typeface="M PLUS Rounded 1c Light"/>
                <a:ea typeface="M PLUS Rounded 1c Light"/>
                <a:cs typeface="M PLUS Rounded 1c Light"/>
                <a:sym typeface="M PLUS Rounded 1c Light"/>
              </a:rPr>
              <a:t>©︎2025日本ママアカデミー協会</a:t>
            </a:r>
            <a:endParaRPr>
              <a:latin typeface="M PLUS Rounded 1c Light"/>
              <a:ea typeface="M PLUS Rounded 1c Light"/>
              <a:cs typeface="M PLUS Rounded 1c Light"/>
              <a:sym typeface="M PLUS Rounded 1c Light"/>
            </a:endParaRPr>
          </a:p>
        </p:txBody>
      </p:sp>
      <p:sp>
        <p:nvSpPr>
          <p:cNvPr id="384" name="Google Shape;384;p50"/>
          <p:cNvSpPr txBox="1"/>
          <p:nvPr/>
        </p:nvSpPr>
        <p:spPr>
          <a:xfrm>
            <a:off x="25" y="342613"/>
            <a:ext cx="91440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" sz="3200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"育脳"の学術的なお話をすると・・・</a:t>
            </a:r>
            <a:endParaRPr sz="3200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  <p:cxnSp>
        <p:nvCxnSpPr>
          <p:cNvPr id="385" name="Google Shape;385;p50"/>
          <p:cNvCxnSpPr/>
          <p:nvPr/>
        </p:nvCxnSpPr>
        <p:spPr>
          <a:xfrm>
            <a:off x="828450" y="976525"/>
            <a:ext cx="7487100" cy="0"/>
          </a:xfrm>
          <a:prstGeom prst="straightConnector1">
            <a:avLst/>
          </a:prstGeom>
          <a:noFill/>
          <a:ln cap="flat" cmpd="sng" w="28575">
            <a:solidFill>
              <a:srgbClr val="EF84C9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86" name="Google Shape;386;p50"/>
          <p:cNvSpPr txBox="1"/>
          <p:nvPr/>
        </p:nvSpPr>
        <p:spPr>
          <a:xfrm>
            <a:off x="654750" y="2288250"/>
            <a:ext cx="7834500" cy="130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" sz="3400">
                <a:solidFill>
                  <a:srgbClr val="EF84C9"/>
                </a:solidFill>
                <a:latin typeface="Kosugi Maru"/>
                <a:ea typeface="Kosugi Maru"/>
                <a:cs typeface="Kosugi Maru"/>
                <a:sym typeface="Kosugi Maru"/>
              </a:rPr>
              <a:t>6歳までの幼少期</a:t>
            </a:r>
            <a:r>
              <a:rPr lang="ja" sz="3400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に適切な刺激を与えて</a:t>
            </a:r>
            <a:endParaRPr sz="3400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" sz="3400">
                <a:solidFill>
                  <a:srgbClr val="EF84C9"/>
                </a:solidFill>
                <a:latin typeface="Kosugi Maru"/>
                <a:ea typeface="Kosugi Maru"/>
                <a:cs typeface="Kosugi Maru"/>
                <a:sym typeface="Kosugi Maru"/>
              </a:rPr>
              <a:t>脳の発達を促す</a:t>
            </a:r>
            <a:r>
              <a:rPr lang="ja" sz="3400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子育て方法</a:t>
            </a:r>
            <a:endParaRPr sz="3400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51"/>
          <p:cNvSpPr txBox="1"/>
          <p:nvPr>
            <p:ph idx="12" type="sldNum"/>
          </p:nvPr>
        </p:nvSpPr>
        <p:spPr>
          <a:xfrm>
            <a:off x="6457951" y="4767264"/>
            <a:ext cx="2057400" cy="273900"/>
          </a:xfrm>
          <a:prstGeom prst="rect">
            <a:avLst/>
          </a:prstGeom>
        </p:spPr>
        <p:txBody>
          <a:bodyPr anchorCtr="0" anchor="ctr" bIns="39550" lIns="79125" spcFirstLastPara="1" rIns="79125" wrap="square" tIns="3955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  <p:sp>
        <p:nvSpPr>
          <p:cNvPr id="393" name="Google Shape;393;p51"/>
          <p:cNvSpPr txBox="1"/>
          <p:nvPr>
            <p:ph idx="11" type="ftr"/>
          </p:nvPr>
        </p:nvSpPr>
        <p:spPr>
          <a:xfrm>
            <a:off x="3028973" y="4817889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>
                <a:latin typeface="M PLUS Rounded 1c Light"/>
                <a:ea typeface="M PLUS Rounded 1c Light"/>
                <a:cs typeface="M PLUS Rounded 1c Light"/>
                <a:sym typeface="M PLUS Rounded 1c Light"/>
              </a:rPr>
              <a:t>©︎2025日本ママアカデミー協会</a:t>
            </a:r>
            <a:endParaRPr>
              <a:latin typeface="M PLUS Rounded 1c Light"/>
              <a:ea typeface="M PLUS Rounded 1c Light"/>
              <a:cs typeface="M PLUS Rounded 1c Light"/>
              <a:sym typeface="M PLUS Rounded 1c Light"/>
            </a:endParaRPr>
          </a:p>
        </p:txBody>
      </p:sp>
      <p:sp>
        <p:nvSpPr>
          <p:cNvPr id="394" name="Google Shape;394;p51"/>
          <p:cNvSpPr txBox="1"/>
          <p:nvPr/>
        </p:nvSpPr>
        <p:spPr>
          <a:xfrm>
            <a:off x="25" y="342613"/>
            <a:ext cx="91440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" sz="3200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なぜ６歳まで？</a:t>
            </a:r>
            <a:endParaRPr sz="3200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  <p:cxnSp>
        <p:nvCxnSpPr>
          <p:cNvPr id="395" name="Google Shape;395;p51"/>
          <p:cNvCxnSpPr/>
          <p:nvPr/>
        </p:nvCxnSpPr>
        <p:spPr>
          <a:xfrm>
            <a:off x="828450" y="976525"/>
            <a:ext cx="7487100" cy="0"/>
          </a:xfrm>
          <a:prstGeom prst="straightConnector1">
            <a:avLst/>
          </a:prstGeom>
          <a:noFill/>
          <a:ln cap="flat" cmpd="sng" w="28575">
            <a:solidFill>
              <a:srgbClr val="EF84C9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96" name="Google Shape;396;p51"/>
          <p:cNvSpPr txBox="1"/>
          <p:nvPr/>
        </p:nvSpPr>
        <p:spPr>
          <a:xfrm>
            <a:off x="717600" y="1879050"/>
            <a:ext cx="7708800" cy="198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 sz="3600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脳は神経細胞を繋いでくれる</a:t>
            </a:r>
            <a:endParaRPr sz="3600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 sz="3600">
                <a:latin typeface="Kosugi Maru"/>
                <a:ea typeface="Kosugi Maru"/>
                <a:cs typeface="Kosugi Maru"/>
                <a:sym typeface="Kosugi Maru"/>
              </a:rPr>
              <a:t>"</a:t>
            </a:r>
            <a:r>
              <a:rPr lang="ja" sz="4500">
                <a:solidFill>
                  <a:srgbClr val="EF84C9"/>
                </a:solidFill>
                <a:latin typeface="Kosugi Maru"/>
                <a:ea typeface="Kosugi Maru"/>
                <a:cs typeface="Kosugi Maru"/>
                <a:sym typeface="Kosugi Maru"/>
              </a:rPr>
              <a:t>シナプス</a:t>
            </a:r>
            <a:r>
              <a:rPr lang="ja" sz="3600">
                <a:latin typeface="Kosugi Maru"/>
                <a:ea typeface="Kosugi Maru"/>
                <a:cs typeface="Kosugi Maru"/>
                <a:sym typeface="Kosugi Maru"/>
              </a:rPr>
              <a:t>"</a:t>
            </a:r>
            <a:r>
              <a:rPr lang="ja" sz="3600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が増えることで</a:t>
            </a:r>
            <a:endParaRPr sz="3600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 sz="3600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成長＆発達</a:t>
            </a:r>
            <a:endParaRPr sz="3600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52"/>
          <p:cNvSpPr txBox="1"/>
          <p:nvPr>
            <p:ph idx="12" type="sldNum"/>
          </p:nvPr>
        </p:nvSpPr>
        <p:spPr>
          <a:xfrm>
            <a:off x="6457951" y="4767264"/>
            <a:ext cx="2057400" cy="273900"/>
          </a:xfrm>
          <a:prstGeom prst="rect">
            <a:avLst/>
          </a:prstGeom>
        </p:spPr>
        <p:txBody>
          <a:bodyPr anchorCtr="0" anchor="ctr" bIns="39550" lIns="79125" spcFirstLastPara="1" rIns="79125" wrap="square" tIns="3955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  <p:sp>
        <p:nvSpPr>
          <p:cNvPr id="403" name="Google Shape;403;p52"/>
          <p:cNvSpPr txBox="1"/>
          <p:nvPr>
            <p:ph idx="11" type="ftr"/>
          </p:nvPr>
        </p:nvSpPr>
        <p:spPr>
          <a:xfrm>
            <a:off x="3028973" y="4817889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>
                <a:latin typeface="M PLUS Rounded 1c Light"/>
                <a:ea typeface="M PLUS Rounded 1c Light"/>
                <a:cs typeface="M PLUS Rounded 1c Light"/>
                <a:sym typeface="M PLUS Rounded 1c Light"/>
              </a:rPr>
              <a:t>©︎2025日本ママアカデミー協会</a:t>
            </a:r>
            <a:endParaRPr>
              <a:latin typeface="M PLUS Rounded 1c Light"/>
              <a:ea typeface="M PLUS Rounded 1c Light"/>
              <a:cs typeface="M PLUS Rounded 1c Light"/>
              <a:sym typeface="M PLUS Rounded 1c Light"/>
            </a:endParaRPr>
          </a:p>
        </p:txBody>
      </p:sp>
      <p:sp>
        <p:nvSpPr>
          <p:cNvPr id="404" name="Google Shape;404;p52"/>
          <p:cNvSpPr txBox="1"/>
          <p:nvPr/>
        </p:nvSpPr>
        <p:spPr>
          <a:xfrm>
            <a:off x="25" y="342613"/>
            <a:ext cx="91440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" sz="3200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なぜ６歳まで？</a:t>
            </a:r>
            <a:endParaRPr sz="3200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  <p:cxnSp>
        <p:nvCxnSpPr>
          <p:cNvPr id="405" name="Google Shape;405;p52"/>
          <p:cNvCxnSpPr/>
          <p:nvPr/>
        </p:nvCxnSpPr>
        <p:spPr>
          <a:xfrm>
            <a:off x="828450" y="976525"/>
            <a:ext cx="7487100" cy="0"/>
          </a:xfrm>
          <a:prstGeom prst="straightConnector1">
            <a:avLst/>
          </a:prstGeom>
          <a:noFill/>
          <a:ln cap="flat" cmpd="sng" w="28575">
            <a:solidFill>
              <a:srgbClr val="EF84C9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406" name="Google Shape;406;p5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42750" y="1125225"/>
            <a:ext cx="6112030" cy="36420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2" name="Google Shape;412;p5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7708225" y="2880625"/>
            <a:ext cx="1156900" cy="1886649"/>
          </a:xfrm>
          <a:prstGeom prst="rect">
            <a:avLst/>
          </a:prstGeom>
          <a:noFill/>
          <a:ln>
            <a:noFill/>
          </a:ln>
        </p:spPr>
      </p:pic>
      <p:sp>
        <p:nvSpPr>
          <p:cNvPr id="413" name="Google Shape;413;p53"/>
          <p:cNvSpPr txBox="1"/>
          <p:nvPr>
            <p:ph idx="12" type="sldNum"/>
          </p:nvPr>
        </p:nvSpPr>
        <p:spPr>
          <a:xfrm>
            <a:off x="6457951" y="4767264"/>
            <a:ext cx="2057400" cy="273900"/>
          </a:xfrm>
          <a:prstGeom prst="rect">
            <a:avLst/>
          </a:prstGeom>
        </p:spPr>
        <p:txBody>
          <a:bodyPr anchorCtr="0" anchor="ctr" bIns="39550" lIns="79125" spcFirstLastPara="1" rIns="79125" wrap="square" tIns="3955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  <p:sp>
        <p:nvSpPr>
          <p:cNvPr id="414" name="Google Shape;414;p53"/>
          <p:cNvSpPr txBox="1"/>
          <p:nvPr>
            <p:ph idx="11" type="ftr"/>
          </p:nvPr>
        </p:nvSpPr>
        <p:spPr>
          <a:xfrm>
            <a:off x="3028973" y="4817889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>
                <a:latin typeface="M PLUS Rounded 1c Light"/>
                <a:ea typeface="M PLUS Rounded 1c Light"/>
                <a:cs typeface="M PLUS Rounded 1c Light"/>
                <a:sym typeface="M PLUS Rounded 1c Light"/>
              </a:rPr>
              <a:t>©︎2025日本ママアカデミー協会</a:t>
            </a:r>
            <a:endParaRPr>
              <a:latin typeface="M PLUS Rounded 1c Light"/>
              <a:ea typeface="M PLUS Rounded 1c Light"/>
              <a:cs typeface="M PLUS Rounded 1c Light"/>
              <a:sym typeface="M PLUS Rounded 1c Light"/>
            </a:endParaRPr>
          </a:p>
        </p:txBody>
      </p:sp>
      <p:sp>
        <p:nvSpPr>
          <p:cNvPr id="415" name="Google Shape;415;p53"/>
          <p:cNvSpPr txBox="1"/>
          <p:nvPr/>
        </p:nvSpPr>
        <p:spPr>
          <a:xfrm>
            <a:off x="551075" y="1211850"/>
            <a:ext cx="8208600" cy="239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" sz="4000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では改めて</a:t>
            </a:r>
            <a:endParaRPr sz="4000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5000">
                <a:solidFill>
                  <a:srgbClr val="EF84C9"/>
                </a:solidFill>
                <a:latin typeface="Kosugi Maru"/>
                <a:ea typeface="Kosugi Maru"/>
                <a:cs typeface="Kosugi Maru"/>
                <a:sym typeface="Kosugi Maru"/>
              </a:rPr>
              <a:t>"育脳子育てカウンセラー"</a:t>
            </a:r>
            <a:endParaRPr b="1" sz="5000">
              <a:solidFill>
                <a:srgbClr val="EF84C9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" sz="4000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とは？</a:t>
            </a:r>
            <a:endParaRPr sz="4000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54"/>
          <p:cNvSpPr txBox="1"/>
          <p:nvPr>
            <p:ph idx="12" type="sldNum"/>
          </p:nvPr>
        </p:nvSpPr>
        <p:spPr>
          <a:xfrm>
            <a:off x="6457951" y="4767264"/>
            <a:ext cx="2057400" cy="273900"/>
          </a:xfrm>
          <a:prstGeom prst="rect">
            <a:avLst/>
          </a:prstGeom>
        </p:spPr>
        <p:txBody>
          <a:bodyPr anchorCtr="0" anchor="ctr" bIns="39550" lIns="79125" spcFirstLastPara="1" rIns="79125" wrap="square" tIns="3955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  <p:sp>
        <p:nvSpPr>
          <p:cNvPr id="422" name="Google Shape;422;p54"/>
          <p:cNvSpPr txBox="1"/>
          <p:nvPr>
            <p:ph idx="11" type="ftr"/>
          </p:nvPr>
        </p:nvSpPr>
        <p:spPr>
          <a:xfrm>
            <a:off x="3028973" y="4817889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>
                <a:latin typeface="M PLUS Rounded 1c Light"/>
                <a:ea typeface="M PLUS Rounded 1c Light"/>
                <a:cs typeface="M PLUS Rounded 1c Light"/>
                <a:sym typeface="M PLUS Rounded 1c Light"/>
              </a:rPr>
              <a:t>©︎2025日本ママアカデミー協会</a:t>
            </a:r>
            <a:endParaRPr>
              <a:latin typeface="M PLUS Rounded 1c Light"/>
              <a:ea typeface="M PLUS Rounded 1c Light"/>
              <a:cs typeface="M PLUS Rounded 1c Light"/>
              <a:sym typeface="M PLUS Rounded 1c Light"/>
            </a:endParaRPr>
          </a:p>
        </p:txBody>
      </p:sp>
      <p:sp>
        <p:nvSpPr>
          <p:cNvPr id="423" name="Google Shape;423;p54"/>
          <p:cNvSpPr txBox="1"/>
          <p:nvPr/>
        </p:nvSpPr>
        <p:spPr>
          <a:xfrm>
            <a:off x="25" y="342613"/>
            <a:ext cx="91440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" sz="3200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育脳子育てカウンセラーの概要</a:t>
            </a:r>
            <a:endParaRPr sz="3200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  <p:sp>
        <p:nvSpPr>
          <p:cNvPr id="424" name="Google Shape;424;p54"/>
          <p:cNvSpPr txBox="1"/>
          <p:nvPr/>
        </p:nvSpPr>
        <p:spPr>
          <a:xfrm>
            <a:off x="1045450" y="1019725"/>
            <a:ext cx="7604100" cy="42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79125" lIns="79125" spcFirstLastPara="1" rIns="79125" wrap="square" tIns="791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2400">
                <a:solidFill>
                  <a:schemeClr val="dk1"/>
                </a:solidFill>
                <a:latin typeface="Kosugi Maru"/>
                <a:ea typeface="Kosugi Maru"/>
                <a:cs typeface="Kosugi Maru"/>
                <a:sym typeface="Kosugi Maru"/>
              </a:rPr>
              <a:t>・</a:t>
            </a:r>
            <a:r>
              <a:rPr lang="ja" sz="2400">
                <a:solidFill>
                  <a:srgbClr val="EF84C9"/>
                </a:solidFill>
                <a:latin typeface="Kosugi Maru"/>
                <a:ea typeface="Kosugi Maru"/>
                <a:cs typeface="Kosugi Maru"/>
                <a:sym typeface="Kosugi Maru"/>
              </a:rPr>
              <a:t>育脳</a:t>
            </a:r>
            <a:r>
              <a:rPr lang="ja" sz="2400">
                <a:solidFill>
                  <a:schemeClr val="dk1"/>
                </a:solidFill>
                <a:latin typeface="Kosugi Maru"/>
                <a:ea typeface="Kosugi Maru"/>
                <a:cs typeface="Kosugi Maru"/>
                <a:sym typeface="Kosugi Maru"/>
              </a:rPr>
              <a:t>を軸にして、</a:t>
            </a:r>
            <a:r>
              <a:rPr lang="ja" sz="2400">
                <a:solidFill>
                  <a:srgbClr val="EF84C9"/>
                </a:solidFill>
                <a:latin typeface="Kosugi Maru"/>
                <a:ea typeface="Kosugi Maru"/>
                <a:cs typeface="Kosugi Maru"/>
                <a:sym typeface="Kosugi Maru"/>
              </a:rPr>
              <a:t>子育てサポート</a:t>
            </a:r>
            <a:r>
              <a:rPr lang="ja" sz="2400">
                <a:solidFill>
                  <a:schemeClr val="dk1"/>
                </a:solidFill>
                <a:latin typeface="Kosugi Maru"/>
                <a:ea typeface="Kosugi Maru"/>
                <a:cs typeface="Kosugi Maru"/>
                <a:sym typeface="Kosugi Maru"/>
              </a:rPr>
              <a:t>をする</a:t>
            </a:r>
            <a:endParaRPr sz="2400">
              <a:solidFill>
                <a:schemeClr val="dk1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" sz="2400">
                <a:solidFill>
                  <a:schemeClr val="dk1"/>
                </a:solidFill>
                <a:latin typeface="Kosugi Maru"/>
                <a:ea typeface="Kosugi Maru"/>
                <a:cs typeface="Kosugi Maru"/>
                <a:sym typeface="Kosugi Maru"/>
              </a:rPr>
              <a:t>　カウンセラーのお仕事</a:t>
            </a:r>
            <a:endParaRPr sz="2400">
              <a:solidFill>
                <a:schemeClr val="dk1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2400">
                <a:solidFill>
                  <a:schemeClr val="dk1"/>
                </a:solidFill>
                <a:latin typeface="Kosugi Maru"/>
                <a:ea typeface="Kosugi Maru"/>
                <a:cs typeface="Kosugi Maru"/>
                <a:sym typeface="Kosugi Maru"/>
              </a:rPr>
              <a:t>・育脳のメソッドで賢いお子様を育てるとともに</a:t>
            </a:r>
            <a:endParaRPr sz="2400">
              <a:solidFill>
                <a:schemeClr val="dk1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" sz="2400">
                <a:solidFill>
                  <a:schemeClr val="dk1"/>
                </a:solidFill>
                <a:latin typeface="Kosugi Maru"/>
                <a:ea typeface="Kosugi Maru"/>
                <a:cs typeface="Kosugi Maru"/>
                <a:sym typeface="Kosugi Maru"/>
              </a:rPr>
              <a:t>　</a:t>
            </a:r>
            <a:r>
              <a:rPr lang="ja" sz="2400">
                <a:solidFill>
                  <a:srgbClr val="EF84C9"/>
                </a:solidFill>
                <a:latin typeface="Kosugi Maru"/>
                <a:ea typeface="Kosugi Maru"/>
                <a:cs typeface="Kosugi Maru"/>
                <a:sym typeface="Kosugi Maru"/>
              </a:rPr>
              <a:t>ママの子育てをラクにする</a:t>
            </a:r>
            <a:endParaRPr sz="2400">
              <a:solidFill>
                <a:schemeClr val="dk1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" sz="2400">
                <a:solidFill>
                  <a:schemeClr val="dk1"/>
                </a:solidFill>
                <a:latin typeface="Kosugi Maru"/>
                <a:ea typeface="Kosugi Maru"/>
                <a:cs typeface="Kosugi Maru"/>
                <a:sym typeface="Kosugi Maru"/>
              </a:rPr>
              <a:t>・</a:t>
            </a:r>
            <a:r>
              <a:rPr lang="ja" sz="2400">
                <a:solidFill>
                  <a:srgbClr val="EF84C9"/>
                </a:solidFill>
                <a:latin typeface="Kosugi Maru"/>
                <a:ea typeface="Kosugi Maru"/>
                <a:cs typeface="Kosugi Maru"/>
                <a:sym typeface="Kosugi Maru"/>
              </a:rPr>
              <a:t>感謝の言葉</a:t>
            </a:r>
            <a:r>
              <a:rPr lang="ja" sz="2400">
                <a:solidFill>
                  <a:schemeClr val="dk1"/>
                </a:solidFill>
                <a:latin typeface="Kosugi Maru"/>
                <a:ea typeface="Kosugi Maru"/>
                <a:cs typeface="Kosugi Maru"/>
                <a:sym typeface="Kosugi Maru"/>
              </a:rPr>
              <a:t>と共に喜んでサービスを続けて頂ける</a:t>
            </a:r>
            <a:endParaRPr sz="2400">
              <a:solidFill>
                <a:schemeClr val="dk1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" sz="2400">
                <a:solidFill>
                  <a:schemeClr val="dk1"/>
                </a:solidFill>
                <a:latin typeface="Kosugi Maru"/>
                <a:ea typeface="Kosugi Maru"/>
                <a:cs typeface="Kosugi Maru"/>
                <a:sym typeface="Kosugi Maru"/>
              </a:rPr>
              <a:t>・ママ友を紹介してくれる、などの口コミで</a:t>
            </a:r>
            <a:endParaRPr sz="2400">
              <a:solidFill>
                <a:schemeClr val="dk1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2400">
                <a:solidFill>
                  <a:schemeClr val="dk1"/>
                </a:solidFill>
                <a:latin typeface="Kosugi Maru"/>
                <a:ea typeface="Kosugi Maru"/>
                <a:cs typeface="Kosugi Maru"/>
                <a:sym typeface="Kosugi Maru"/>
              </a:rPr>
              <a:t>　</a:t>
            </a:r>
            <a:r>
              <a:rPr lang="ja" sz="2400">
                <a:solidFill>
                  <a:srgbClr val="EF84C9"/>
                </a:solidFill>
                <a:latin typeface="Kosugi Maru"/>
                <a:ea typeface="Kosugi Maru"/>
                <a:cs typeface="Kosugi Maru"/>
                <a:sym typeface="Kosugi Maru"/>
              </a:rPr>
              <a:t>お客様が広がりやすい</a:t>
            </a:r>
            <a:endParaRPr sz="2400">
              <a:solidFill>
                <a:srgbClr val="EF84C9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00">
              <a:solidFill>
                <a:schemeClr val="dk1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  <p:cxnSp>
        <p:nvCxnSpPr>
          <p:cNvPr id="425" name="Google Shape;425;p54"/>
          <p:cNvCxnSpPr/>
          <p:nvPr/>
        </p:nvCxnSpPr>
        <p:spPr>
          <a:xfrm>
            <a:off x="828450" y="976525"/>
            <a:ext cx="7487100" cy="0"/>
          </a:xfrm>
          <a:prstGeom prst="straightConnector1">
            <a:avLst/>
          </a:prstGeom>
          <a:noFill/>
          <a:ln cap="flat" cmpd="sng" w="28575">
            <a:solidFill>
              <a:srgbClr val="EF84C9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0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p55"/>
          <p:cNvSpPr txBox="1"/>
          <p:nvPr>
            <p:ph idx="12" type="sldNum"/>
          </p:nvPr>
        </p:nvSpPr>
        <p:spPr>
          <a:xfrm>
            <a:off x="6457951" y="4767264"/>
            <a:ext cx="2057400" cy="273900"/>
          </a:xfrm>
          <a:prstGeom prst="rect">
            <a:avLst/>
          </a:prstGeom>
        </p:spPr>
        <p:txBody>
          <a:bodyPr anchorCtr="0" anchor="ctr" bIns="39550" lIns="79125" spcFirstLastPara="1" rIns="79125" wrap="square" tIns="3955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  <p:sp>
        <p:nvSpPr>
          <p:cNvPr id="432" name="Google Shape;432;p55"/>
          <p:cNvSpPr txBox="1"/>
          <p:nvPr>
            <p:ph idx="11" type="ftr"/>
          </p:nvPr>
        </p:nvSpPr>
        <p:spPr>
          <a:xfrm>
            <a:off x="3028973" y="4817889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>
                <a:latin typeface="M PLUS Rounded 1c Light"/>
                <a:ea typeface="M PLUS Rounded 1c Light"/>
                <a:cs typeface="M PLUS Rounded 1c Light"/>
                <a:sym typeface="M PLUS Rounded 1c Light"/>
              </a:rPr>
              <a:t>©︎2025日本ママアカデミー協会</a:t>
            </a:r>
            <a:endParaRPr>
              <a:latin typeface="M PLUS Rounded 1c Light"/>
              <a:ea typeface="M PLUS Rounded 1c Light"/>
              <a:cs typeface="M PLUS Rounded 1c Light"/>
              <a:sym typeface="M PLUS Rounded 1c Light"/>
            </a:endParaRPr>
          </a:p>
        </p:txBody>
      </p:sp>
      <p:sp>
        <p:nvSpPr>
          <p:cNvPr id="433" name="Google Shape;433;p55"/>
          <p:cNvSpPr txBox="1"/>
          <p:nvPr/>
        </p:nvSpPr>
        <p:spPr>
          <a:xfrm>
            <a:off x="25" y="342613"/>
            <a:ext cx="91440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2600">
                <a:solidFill>
                  <a:schemeClr val="dk1"/>
                </a:solidFill>
                <a:latin typeface="Kosugi Maru"/>
                <a:ea typeface="Kosugi Maru"/>
                <a:cs typeface="Kosugi Maru"/>
                <a:sym typeface="Kosugi Maru"/>
              </a:rPr>
              <a:t>もう</a:t>
            </a:r>
            <a:r>
              <a:rPr lang="ja" sz="2600">
                <a:solidFill>
                  <a:schemeClr val="dk1"/>
                </a:solidFill>
                <a:latin typeface="Kosugi Maru"/>
                <a:ea typeface="Kosugi Maru"/>
                <a:cs typeface="Kosugi Maru"/>
                <a:sym typeface="Kosugi Maru"/>
              </a:rPr>
              <a:t>少し述べると</a:t>
            </a:r>
            <a:endParaRPr sz="4700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  <p:sp>
        <p:nvSpPr>
          <p:cNvPr id="434" name="Google Shape;434;p55"/>
          <p:cNvSpPr txBox="1"/>
          <p:nvPr/>
        </p:nvSpPr>
        <p:spPr>
          <a:xfrm>
            <a:off x="1474950" y="1375175"/>
            <a:ext cx="6840600" cy="3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79125" lIns="79125" spcFirstLastPara="1" rIns="79125" wrap="square" tIns="791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2200">
                <a:solidFill>
                  <a:schemeClr val="dk1"/>
                </a:solidFill>
                <a:latin typeface="Kosugi Maru"/>
                <a:ea typeface="Kosugi Maru"/>
                <a:cs typeface="Kosugi Maru"/>
                <a:sym typeface="Kosugi Maru"/>
              </a:rPr>
              <a:t>・</a:t>
            </a:r>
            <a:r>
              <a:rPr lang="ja" sz="2200">
                <a:solidFill>
                  <a:schemeClr val="dk1"/>
                </a:solidFill>
                <a:latin typeface="Kosugi Maru"/>
                <a:ea typeface="Kosugi Maru"/>
                <a:cs typeface="Kosugi Maru"/>
                <a:sym typeface="Kosugi Maru"/>
              </a:rPr>
              <a:t>育脳の考え方を伝えると・・・</a:t>
            </a:r>
            <a:endParaRPr sz="2200">
              <a:solidFill>
                <a:schemeClr val="dk1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2200">
                <a:solidFill>
                  <a:schemeClr val="dk1"/>
                </a:solidFill>
                <a:latin typeface="Kosugi Maru"/>
                <a:ea typeface="Kosugi Maru"/>
                <a:cs typeface="Kosugi Maru"/>
                <a:sym typeface="Kosugi Maru"/>
              </a:rPr>
              <a:t>　</a:t>
            </a:r>
            <a:r>
              <a:rPr lang="ja" sz="2200">
                <a:solidFill>
                  <a:srgbClr val="EF84C9"/>
                </a:solidFill>
                <a:latin typeface="Kosugi Maru"/>
                <a:ea typeface="Kosugi Maru"/>
                <a:cs typeface="Kosugi Maru"/>
                <a:sym typeface="Kosugi Maru"/>
              </a:rPr>
              <a:t>ママはイライラしなくなる</a:t>
            </a:r>
            <a:endParaRPr sz="2200">
              <a:solidFill>
                <a:srgbClr val="EF84C9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200">
              <a:solidFill>
                <a:schemeClr val="dk1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2200">
                <a:solidFill>
                  <a:schemeClr val="dk1"/>
                </a:solidFill>
                <a:latin typeface="Kosugi Maru"/>
                <a:ea typeface="Kosugi Maru"/>
                <a:cs typeface="Kosugi Maru"/>
                <a:sym typeface="Kosugi Maru"/>
              </a:rPr>
              <a:t>・育脳の触れ合い方を伝えると・・・</a:t>
            </a:r>
            <a:endParaRPr sz="2200">
              <a:solidFill>
                <a:schemeClr val="dk1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2200">
                <a:solidFill>
                  <a:schemeClr val="dk1"/>
                </a:solidFill>
                <a:latin typeface="Kosugi Maru"/>
                <a:ea typeface="Kosugi Maru"/>
                <a:cs typeface="Kosugi Maru"/>
                <a:sym typeface="Kosugi Maru"/>
              </a:rPr>
              <a:t>　</a:t>
            </a:r>
            <a:r>
              <a:rPr lang="ja" sz="2200">
                <a:solidFill>
                  <a:srgbClr val="EF84C9"/>
                </a:solidFill>
                <a:latin typeface="Kosugi Maru"/>
                <a:ea typeface="Kosugi Maru"/>
                <a:cs typeface="Kosugi Maru"/>
                <a:sym typeface="Kosugi Maru"/>
              </a:rPr>
              <a:t>ラクに子どもの笑顔を引き出せる</a:t>
            </a:r>
            <a:endParaRPr sz="2200">
              <a:solidFill>
                <a:srgbClr val="EF84C9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200">
              <a:solidFill>
                <a:schemeClr val="dk1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2200">
                <a:solidFill>
                  <a:schemeClr val="dk1"/>
                </a:solidFill>
                <a:latin typeface="Kosugi Maru"/>
                <a:ea typeface="Kosugi Maru"/>
                <a:cs typeface="Kosugi Maru"/>
                <a:sym typeface="Kosugi Maru"/>
              </a:rPr>
              <a:t>・育脳時間の取り方を伝えると・・・</a:t>
            </a:r>
            <a:endParaRPr sz="2200">
              <a:solidFill>
                <a:schemeClr val="dk1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2200">
                <a:solidFill>
                  <a:schemeClr val="dk1"/>
                </a:solidFill>
                <a:latin typeface="Kosugi Maru"/>
                <a:ea typeface="Kosugi Maru"/>
                <a:cs typeface="Kosugi Maru"/>
                <a:sym typeface="Kosugi Maru"/>
              </a:rPr>
              <a:t>　</a:t>
            </a:r>
            <a:r>
              <a:rPr lang="ja" sz="2200">
                <a:solidFill>
                  <a:srgbClr val="EF84C9"/>
                </a:solidFill>
                <a:latin typeface="Kosugi Maru"/>
                <a:ea typeface="Kosugi Maru"/>
                <a:cs typeface="Kosugi Maru"/>
                <a:sym typeface="Kosugi Maru"/>
              </a:rPr>
              <a:t>効率的＆確実な</a:t>
            </a:r>
            <a:r>
              <a:rPr lang="ja" sz="2200">
                <a:solidFill>
                  <a:schemeClr val="dk1"/>
                </a:solidFill>
                <a:latin typeface="Kosugi Maru"/>
                <a:ea typeface="Kosugi Maru"/>
                <a:cs typeface="Kosugi Maru"/>
                <a:sym typeface="Kosugi Maru"/>
              </a:rPr>
              <a:t>子どもの成長に繋がる</a:t>
            </a:r>
            <a:endParaRPr sz="2200">
              <a:solidFill>
                <a:schemeClr val="dk1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800">
              <a:solidFill>
                <a:schemeClr val="dk1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  <p:cxnSp>
        <p:nvCxnSpPr>
          <p:cNvPr id="435" name="Google Shape;435;p55"/>
          <p:cNvCxnSpPr/>
          <p:nvPr/>
        </p:nvCxnSpPr>
        <p:spPr>
          <a:xfrm>
            <a:off x="828450" y="976525"/>
            <a:ext cx="7487100" cy="0"/>
          </a:xfrm>
          <a:prstGeom prst="straightConnector1">
            <a:avLst/>
          </a:prstGeom>
          <a:noFill/>
          <a:ln cap="flat" cmpd="sng" w="28575">
            <a:solidFill>
              <a:srgbClr val="EF84C9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0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1" name="Google Shape;441;p5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91525" y="2741675"/>
            <a:ext cx="2128650" cy="1956775"/>
          </a:xfrm>
          <a:prstGeom prst="rect">
            <a:avLst/>
          </a:prstGeom>
          <a:noFill/>
          <a:ln>
            <a:noFill/>
          </a:ln>
        </p:spPr>
      </p:pic>
      <p:sp>
        <p:nvSpPr>
          <p:cNvPr id="442" name="Google Shape;442;p56"/>
          <p:cNvSpPr txBox="1"/>
          <p:nvPr>
            <p:ph idx="12" type="sldNum"/>
          </p:nvPr>
        </p:nvSpPr>
        <p:spPr>
          <a:xfrm>
            <a:off x="6457951" y="4767264"/>
            <a:ext cx="2057400" cy="273900"/>
          </a:xfrm>
          <a:prstGeom prst="rect">
            <a:avLst/>
          </a:prstGeom>
        </p:spPr>
        <p:txBody>
          <a:bodyPr anchorCtr="0" anchor="ctr" bIns="39550" lIns="79125" spcFirstLastPara="1" rIns="79125" wrap="square" tIns="3955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  <p:sp>
        <p:nvSpPr>
          <p:cNvPr id="443" name="Google Shape;443;p56"/>
          <p:cNvSpPr txBox="1"/>
          <p:nvPr>
            <p:ph idx="11" type="ftr"/>
          </p:nvPr>
        </p:nvSpPr>
        <p:spPr>
          <a:xfrm>
            <a:off x="3028973" y="4817889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>
                <a:latin typeface="M PLUS Rounded 1c Light"/>
                <a:ea typeface="M PLUS Rounded 1c Light"/>
                <a:cs typeface="M PLUS Rounded 1c Light"/>
                <a:sym typeface="M PLUS Rounded 1c Light"/>
              </a:rPr>
              <a:t>©︎2025日本ママアカデミー協会</a:t>
            </a:r>
            <a:endParaRPr>
              <a:latin typeface="M PLUS Rounded 1c Light"/>
              <a:ea typeface="M PLUS Rounded 1c Light"/>
              <a:cs typeface="M PLUS Rounded 1c Light"/>
              <a:sym typeface="M PLUS Rounded 1c Light"/>
            </a:endParaRPr>
          </a:p>
        </p:txBody>
      </p:sp>
      <p:sp>
        <p:nvSpPr>
          <p:cNvPr id="444" name="Google Shape;444;p56"/>
          <p:cNvSpPr txBox="1"/>
          <p:nvPr/>
        </p:nvSpPr>
        <p:spPr>
          <a:xfrm>
            <a:off x="515775" y="1494300"/>
            <a:ext cx="8208600" cy="168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3600">
                <a:solidFill>
                  <a:srgbClr val="EF84C9"/>
                </a:solidFill>
                <a:latin typeface="Kosugi Maru"/>
                <a:ea typeface="Kosugi Maru"/>
                <a:cs typeface="Kosugi Maru"/>
                <a:sym typeface="Kosugi Maru"/>
              </a:rPr>
              <a:t>"育脳子育てカウンセラー"</a:t>
            </a:r>
            <a:endParaRPr b="1" sz="3600">
              <a:solidFill>
                <a:srgbClr val="EF84C9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" sz="4000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の</a:t>
            </a:r>
            <a:r>
              <a:rPr lang="ja" sz="5600">
                <a:solidFill>
                  <a:srgbClr val="EF84C9"/>
                </a:solidFill>
                <a:latin typeface="Kosugi Maru"/>
                <a:ea typeface="Kosugi Maru"/>
                <a:cs typeface="Kosugi Maru"/>
                <a:sym typeface="Kosugi Maru"/>
              </a:rPr>
              <a:t>魅力</a:t>
            </a:r>
            <a:r>
              <a:rPr lang="ja" sz="4000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を紹介します</a:t>
            </a:r>
            <a:endParaRPr sz="4000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8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p57"/>
          <p:cNvSpPr txBox="1"/>
          <p:nvPr/>
        </p:nvSpPr>
        <p:spPr>
          <a:xfrm>
            <a:off x="25" y="342613"/>
            <a:ext cx="91440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" sz="3200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育脳子育てカウンセラーの</a:t>
            </a:r>
            <a:r>
              <a:rPr lang="ja" sz="3200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魅力</a:t>
            </a:r>
            <a:endParaRPr sz="3200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  <p:cxnSp>
        <p:nvCxnSpPr>
          <p:cNvPr id="450" name="Google Shape;450;p57"/>
          <p:cNvCxnSpPr/>
          <p:nvPr/>
        </p:nvCxnSpPr>
        <p:spPr>
          <a:xfrm>
            <a:off x="828450" y="976525"/>
            <a:ext cx="7487100" cy="0"/>
          </a:xfrm>
          <a:prstGeom prst="straightConnector1">
            <a:avLst/>
          </a:prstGeom>
          <a:noFill/>
          <a:ln cap="flat" cmpd="sng" w="28575">
            <a:solidFill>
              <a:srgbClr val="EF84C9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51" name="Google Shape;451;p57"/>
          <p:cNvSpPr txBox="1"/>
          <p:nvPr/>
        </p:nvSpPr>
        <p:spPr>
          <a:xfrm>
            <a:off x="1057200" y="2020200"/>
            <a:ext cx="7604100" cy="1371300"/>
          </a:xfrm>
          <a:prstGeom prst="rect">
            <a:avLst/>
          </a:prstGeom>
          <a:noFill/>
          <a:ln>
            <a:noFill/>
          </a:ln>
        </p:spPr>
        <p:txBody>
          <a:bodyPr anchorCtr="0" anchor="t" bIns="79125" lIns="79125" spcFirstLastPara="1" rIns="79125" wrap="square" tIns="791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" sz="3800">
                <a:solidFill>
                  <a:schemeClr val="dk1"/>
                </a:solidFill>
                <a:latin typeface="Kosugi Maru"/>
                <a:ea typeface="Kosugi Maru"/>
                <a:cs typeface="Kosugi Maru"/>
                <a:sym typeface="Kosugi Maru"/>
              </a:rPr>
              <a:t>その１　</a:t>
            </a:r>
            <a:endParaRPr sz="3800">
              <a:solidFill>
                <a:schemeClr val="dk1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3500">
                <a:solidFill>
                  <a:srgbClr val="EF84C9"/>
                </a:solidFill>
                <a:latin typeface="Kosugi Maru"/>
                <a:ea typeface="Kosugi Maru"/>
                <a:cs typeface="Kosugi Maru"/>
                <a:sym typeface="Kosugi Maru"/>
              </a:rPr>
              <a:t>今注目の”育脳”をお仕事にできる</a:t>
            </a:r>
            <a:endParaRPr sz="3500">
              <a:solidFill>
                <a:schemeClr val="dk1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5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p58"/>
          <p:cNvSpPr txBox="1"/>
          <p:nvPr/>
        </p:nvSpPr>
        <p:spPr>
          <a:xfrm>
            <a:off x="25" y="342613"/>
            <a:ext cx="91440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" sz="3200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育脳子育てカウンセラーの魅力</a:t>
            </a:r>
            <a:endParaRPr sz="3200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  <p:cxnSp>
        <p:nvCxnSpPr>
          <p:cNvPr id="457" name="Google Shape;457;p58"/>
          <p:cNvCxnSpPr/>
          <p:nvPr/>
        </p:nvCxnSpPr>
        <p:spPr>
          <a:xfrm>
            <a:off x="828450" y="976525"/>
            <a:ext cx="7487100" cy="0"/>
          </a:xfrm>
          <a:prstGeom prst="straightConnector1">
            <a:avLst/>
          </a:prstGeom>
          <a:noFill/>
          <a:ln cap="flat" cmpd="sng" w="28575">
            <a:solidFill>
              <a:srgbClr val="EF84C9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58" name="Google Shape;458;p58"/>
          <p:cNvSpPr txBox="1"/>
          <p:nvPr/>
        </p:nvSpPr>
        <p:spPr>
          <a:xfrm>
            <a:off x="327500" y="1019725"/>
            <a:ext cx="4171500" cy="467700"/>
          </a:xfrm>
          <a:prstGeom prst="rect">
            <a:avLst/>
          </a:prstGeom>
          <a:noFill/>
          <a:ln>
            <a:noFill/>
          </a:ln>
        </p:spPr>
        <p:txBody>
          <a:bodyPr anchorCtr="0" anchor="t" bIns="79125" lIns="79125" spcFirstLastPara="1" rIns="79125" wrap="square" tIns="791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" sz="2000" u="sng">
                <a:solidFill>
                  <a:schemeClr val="dk1"/>
                </a:solidFill>
                <a:latin typeface="Kosugi Maru"/>
                <a:ea typeface="Kosugi Maru"/>
                <a:cs typeface="Kosugi Maru"/>
                <a:sym typeface="Kosugi Maru"/>
              </a:rPr>
              <a:t>お受験塾やスポーツ塾の早期教育</a:t>
            </a:r>
            <a:endParaRPr sz="3500" u="sng">
              <a:solidFill>
                <a:schemeClr val="dk1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  <p:sp>
        <p:nvSpPr>
          <p:cNvPr id="459" name="Google Shape;459;p58"/>
          <p:cNvSpPr txBox="1"/>
          <p:nvPr/>
        </p:nvSpPr>
        <p:spPr>
          <a:xfrm>
            <a:off x="4894250" y="1019725"/>
            <a:ext cx="3872400" cy="467700"/>
          </a:xfrm>
          <a:prstGeom prst="rect">
            <a:avLst/>
          </a:prstGeom>
          <a:noFill/>
          <a:ln>
            <a:noFill/>
          </a:ln>
        </p:spPr>
        <p:txBody>
          <a:bodyPr anchorCtr="0" anchor="t" bIns="79125" lIns="79125" spcFirstLastPara="1" rIns="79125" wrap="square" tIns="791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" sz="2000" u="sng">
                <a:solidFill>
                  <a:schemeClr val="dk1"/>
                </a:solidFill>
                <a:latin typeface="Kosugi Maru"/>
                <a:ea typeface="Kosugi Maru"/>
                <a:cs typeface="Kosugi Maru"/>
                <a:sym typeface="Kosugi Maru"/>
              </a:rPr>
              <a:t>育脳子育てカウンセラー</a:t>
            </a:r>
            <a:endParaRPr sz="2000" u="sng">
              <a:solidFill>
                <a:schemeClr val="dk1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  <p:sp>
        <p:nvSpPr>
          <p:cNvPr id="460" name="Google Shape;460;p58"/>
          <p:cNvSpPr txBox="1"/>
          <p:nvPr/>
        </p:nvSpPr>
        <p:spPr>
          <a:xfrm>
            <a:off x="386375" y="1710350"/>
            <a:ext cx="3872400" cy="318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1500">
                <a:latin typeface="Kosugi Maru"/>
                <a:ea typeface="Kosugi Maru"/>
                <a:cs typeface="Kosugi Maru"/>
                <a:sym typeface="Kosugi Maru"/>
              </a:rPr>
              <a:t>・</a:t>
            </a:r>
            <a:r>
              <a:rPr lang="ja" sz="1500">
                <a:latin typeface="Kosugi Maru"/>
                <a:ea typeface="Kosugi Maru"/>
                <a:cs typeface="Kosugi Maru"/>
                <a:sym typeface="Kosugi Maru"/>
              </a:rPr>
              <a:t>将来的には</a:t>
            </a:r>
            <a:r>
              <a:rPr b="1" lang="ja" sz="1500">
                <a:solidFill>
                  <a:schemeClr val="accent1"/>
                </a:solidFill>
                <a:latin typeface="Kosugi Maru"/>
                <a:ea typeface="Kosugi Maru"/>
                <a:cs typeface="Kosugi Maru"/>
                <a:sym typeface="Kosugi Maru"/>
              </a:rPr>
              <a:t>行き詰まる</a:t>
            </a:r>
            <a:endParaRPr sz="1500"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1500">
                <a:latin typeface="Kosugi Maru"/>
                <a:ea typeface="Kosugi Maru"/>
                <a:cs typeface="Kosugi Maru"/>
                <a:sym typeface="Kosugi Maru"/>
              </a:rPr>
              <a:t>・詰め込み</a:t>
            </a:r>
            <a:r>
              <a:rPr lang="ja" sz="1500">
                <a:latin typeface="Kosugi Maru"/>
                <a:ea typeface="Kosugi Maru"/>
                <a:cs typeface="Kosugi Maru"/>
                <a:sym typeface="Kosugi Maru"/>
              </a:rPr>
              <a:t>型のため</a:t>
            </a:r>
            <a:r>
              <a:rPr b="1" lang="ja" sz="1500">
                <a:solidFill>
                  <a:schemeClr val="accent1"/>
                </a:solidFill>
                <a:latin typeface="Kosugi Maru"/>
                <a:ea typeface="Kosugi Maru"/>
                <a:cs typeface="Kosugi Maru"/>
                <a:sym typeface="Kosugi Maru"/>
              </a:rPr>
              <a:t>応用が効き辛い</a:t>
            </a:r>
            <a:endParaRPr b="1" sz="1500">
              <a:solidFill>
                <a:schemeClr val="accent1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1500">
                <a:latin typeface="Kosugi Maru"/>
                <a:ea typeface="Kosugi Maru"/>
                <a:cs typeface="Kosugi Maru"/>
                <a:sym typeface="Kosugi Maru"/>
              </a:rPr>
              <a:t>・子どもは</a:t>
            </a:r>
            <a:r>
              <a:rPr b="1" lang="ja" sz="1500">
                <a:solidFill>
                  <a:schemeClr val="accent1"/>
                </a:solidFill>
                <a:latin typeface="Kosugi Maru"/>
                <a:ea typeface="Kosugi Maru"/>
                <a:cs typeface="Kosugi Maru"/>
                <a:sym typeface="Kosugi Maru"/>
              </a:rPr>
              <a:t>詰め込み学習が</a:t>
            </a:r>
            <a:r>
              <a:rPr b="1" lang="ja" sz="1500">
                <a:solidFill>
                  <a:schemeClr val="accent1"/>
                </a:solidFill>
                <a:latin typeface="Kosugi Maru"/>
                <a:ea typeface="Kosugi Maru"/>
                <a:cs typeface="Kosugi Maru"/>
                <a:sym typeface="Kosugi Maru"/>
              </a:rPr>
              <a:t>嫌い</a:t>
            </a:r>
            <a:endParaRPr b="1" sz="1500">
              <a:solidFill>
                <a:schemeClr val="accent1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1500">
                <a:latin typeface="Kosugi Maru"/>
                <a:ea typeface="Kosugi Maru"/>
                <a:cs typeface="Kosugi Maru"/>
                <a:sym typeface="Kosugi Maru"/>
              </a:rPr>
              <a:t>・</a:t>
            </a:r>
            <a:r>
              <a:rPr lang="ja" sz="1500">
                <a:latin typeface="Kosugi Maru"/>
                <a:ea typeface="Kosugi Maru"/>
                <a:cs typeface="Kosugi Maru"/>
                <a:sym typeface="Kosugi Maru"/>
              </a:rPr>
              <a:t>つまらない、</a:t>
            </a:r>
            <a:r>
              <a:rPr b="1" lang="ja" sz="1500">
                <a:solidFill>
                  <a:schemeClr val="accent1"/>
                </a:solidFill>
                <a:latin typeface="Kosugi Maru"/>
                <a:ea typeface="Kosugi Maru"/>
                <a:cs typeface="Kosugi Maru"/>
                <a:sym typeface="Kosugi Maru"/>
              </a:rPr>
              <a:t>嫌になる</a:t>
            </a:r>
            <a:endParaRPr b="1" sz="1500">
              <a:solidFill>
                <a:schemeClr val="accent1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1500">
                <a:latin typeface="Kosugi Maru"/>
                <a:ea typeface="Kosugi Maru"/>
                <a:cs typeface="Kosugi Maru"/>
                <a:sym typeface="Kosugi Maru"/>
              </a:rPr>
              <a:t>　＝</a:t>
            </a:r>
            <a:r>
              <a:rPr b="1" lang="ja" sz="1500">
                <a:solidFill>
                  <a:schemeClr val="accent1"/>
                </a:solidFill>
                <a:latin typeface="Kosugi Maru"/>
                <a:ea typeface="Kosugi Maru"/>
                <a:cs typeface="Kosugi Maru"/>
                <a:sym typeface="Kosugi Maru"/>
              </a:rPr>
              <a:t>やらされ</a:t>
            </a:r>
            <a:r>
              <a:rPr b="1" lang="ja" sz="1500">
                <a:solidFill>
                  <a:schemeClr val="accent1"/>
                </a:solidFill>
                <a:latin typeface="Kosugi Maru"/>
                <a:ea typeface="Kosugi Maru"/>
                <a:cs typeface="Kosugi Maru"/>
                <a:sym typeface="Kosugi Maru"/>
              </a:rPr>
              <a:t>は</a:t>
            </a:r>
            <a:r>
              <a:rPr b="1" lang="ja" sz="1500">
                <a:solidFill>
                  <a:schemeClr val="accent1"/>
                </a:solidFill>
                <a:latin typeface="Kosugi Maru"/>
                <a:ea typeface="Kosugi Maru"/>
                <a:cs typeface="Kosugi Maru"/>
                <a:sym typeface="Kosugi Maru"/>
              </a:rPr>
              <a:t>続かない</a:t>
            </a:r>
            <a:endParaRPr b="1" sz="1500">
              <a:solidFill>
                <a:schemeClr val="accent1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  <p:sp>
        <p:nvSpPr>
          <p:cNvPr id="461" name="Google Shape;461;p58"/>
          <p:cNvSpPr txBox="1"/>
          <p:nvPr/>
        </p:nvSpPr>
        <p:spPr>
          <a:xfrm>
            <a:off x="4731425" y="1710350"/>
            <a:ext cx="3872400" cy="318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1500">
                <a:latin typeface="Kosugi Maru"/>
                <a:ea typeface="Kosugi Maru"/>
                <a:cs typeface="Kosugi Maru"/>
                <a:sym typeface="Kosugi Maru"/>
              </a:rPr>
              <a:t>・将来の道を子どもが</a:t>
            </a:r>
            <a:r>
              <a:rPr b="1" lang="ja" sz="1500">
                <a:solidFill>
                  <a:srgbClr val="EF84C9"/>
                </a:solidFill>
                <a:latin typeface="Kosugi Maru"/>
                <a:ea typeface="Kosugi Maru"/>
                <a:cs typeface="Kosugi Maru"/>
                <a:sym typeface="Kosugi Maru"/>
              </a:rPr>
              <a:t>自分で切り開く</a:t>
            </a:r>
            <a:endParaRPr sz="1500"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1500">
                <a:latin typeface="Kosugi Maru"/>
                <a:ea typeface="Kosugi Maru"/>
                <a:cs typeface="Kosugi Maru"/>
                <a:sym typeface="Kosugi Maru"/>
              </a:rPr>
              <a:t>・脳の発達を促すことを軸とする</a:t>
            </a:r>
            <a:endParaRPr sz="1500"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1500">
                <a:latin typeface="Kosugi Maru"/>
                <a:ea typeface="Kosugi Maru"/>
                <a:cs typeface="Kosugi Maru"/>
                <a:sym typeface="Kosugi Maru"/>
              </a:rPr>
              <a:t>・6歳までに脳の90％が完成する</a:t>
            </a:r>
            <a:endParaRPr sz="1500"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1500">
                <a:latin typeface="Kosugi Maru"/>
                <a:ea typeface="Kosugi Maru"/>
                <a:cs typeface="Kosugi Maru"/>
                <a:sym typeface="Kosugi Maru"/>
              </a:rPr>
              <a:t>　→</a:t>
            </a:r>
            <a:r>
              <a:rPr b="1" lang="ja" sz="1500">
                <a:solidFill>
                  <a:srgbClr val="EF84C9"/>
                </a:solidFill>
                <a:latin typeface="Kosugi Maru"/>
                <a:ea typeface="Kosugi Maru"/>
                <a:cs typeface="Kosugi Maru"/>
                <a:sym typeface="Kosugi Maru"/>
              </a:rPr>
              <a:t>学ぶことが楽しく</a:t>
            </a:r>
            <a:r>
              <a:rPr lang="ja" sz="1500">
                <a:latin typeface="Kosugi Maru"/>
                <a:ea typeface="Kosugi Maru"/>
                <a:cs typeface="Kosugi Maru"/>
                <a:sym typeface="Kosugi Maru"/>
              </a:rPr>
              <a:t>なる</a:t>
            </a:r>
            <a:endParaRPr sz="1500"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1500">
                <a:latin typeface="Kosugi Maru"/>
                <a:ea typeface="Kosugi Maru"/>
                <a:cs typeface="Kosugi Maru"/>
                <a:sym typeface="Kosugi Maru"/>
              </a:rPr>
              <a:t>　→どんどん</a:t>
            </a:r>
            <a:r>
              <a:rPr b="1" lang="ja" sz="1500">
                <a:solidFill>
                  <a:srgbClr val="EF84C9"/>
                </a:solidFill>
                <a:latin typeface="Kosugi Maru"/>
                <a:ea typeface="Kosugi Maru"/>
                <a:cs typeface="Kosugi Maru"/>
                <a:sym typeface="Kosugi Maru"/>
              </a:rPr>
              <a:t>自分から学ぶ</a:t>
            </a:r>
            <a:endParaRPr b="1" sz="1500">
              <a:solidFill>
                <a:srgbClr val="EF84C9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rgbClr val="EF84C9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rgbClr val="EF84C9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1500">
                <a:latin typeface="Kosugi Maru"/>
                <a:ea typeface="Kosugi Maru"/>
                <a:cs typeface="Kosugi Maru"/>
                <a:sym typeface="Kosugi Maru"/>
              </a:rPr>
              <a:t>・子どもへの投資としては</a:t>
            </a:r>
            <a:r>
              <a:rPr b="1" lang="ja" sz="1500">
                <a:solidFill>
                  <a:srgbClr val="EF84C9"/>
                </a:solidFill>
                <a:latin typeface="Kosugi Maru"/>
                <a:ea typeface="Kosugi Maru"/>
                <a:cs typeface="Kosugi Maru"/>
                <a:sym typeface="Kosugi Maru"/>
              </a:rPr>
              <a:t>最高の贈り物</a:t>
            </a:r>
            <a:endParaRPr b="1" sz="1500">
              <a:solidFill>
                <a:srgbClr val="EF84C9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Kosugi Maru"/>
              <a:ea typeface="Kosugi Maru"/>
              <a:cs typeface="Kosugi Maru"/>
              <a:sym typeface="Kosugi Maru"/>
            </a:endParaRPr>
          </a:p>
        </p:txBody>
      </p:sp>
      <p:pic>
        <p:nvPicPr>
          <p:cNvPr id="462" name="Google Shape;462;p5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19683" y="1487426"/>
            <a:ext cx="748050" cy="1036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63" name="Google Shape;463;p5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536450" y="3170000"/>
            <a:ext cx="856400" cy="942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64" name="Google Shape;464;p5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297100" y="3315125"/>
            <a:ext cx="1010250" cy="1000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65" name="Google Shape;465;p5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149400" y="1422200"/>
            <a:ext cx="925600" cy="1231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9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p59"/>
          <p:cNvSpPr txBox="1"/>
          <p:nvPr/>
        </p:nvSpPr>
        <p:spPr>
          <a:xfrm>
            <a:off x="25" y="342613"/>
            <a:ext cx="91440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" sz="3200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育脳子育てカウンセラーの魅力</a:t>
            </a:r>
            <a:endParaRPr sz="3200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  <p:cxnSp>
        <p:nvCxnSpPr>
          <p:cNvPr id="471" name="Google Shape;471;p59"/>
          <p:cNvCxnSpPr/>
          <p:nvPr/>
        </p:nvCxnSpPr>
        <p:spPr>
          <a:xfrm>
            <a:off x="828450" y="976525"/>
            <a:ext cx="7487100" cy="0"/>
          </a:xfrm>
          <a:prstGeom prst="straightConnector1">
            <a:avLst/>
          </a:prstGeom>
          <a:noFill/>
          <a:ln cap="flat" cmpd="sng" w="28575">
            <a:solidFill>
              <a:srgbClr val="EF84C9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72" name="Google Shape;472;p59"/>
          <p:cNvSpPr txBox="1"/>
          <p:nvPr/>
        </p:nvSpPr>
        <p:spPr>
          <a:xfrm>
            <a:off x="1057200" y="2020200"/>
            <a:ext cx="7604100" cy="1463700"/>
          </a:xfrm>
          <a:prstGeom prst="rect">
            <a:avLst/>
          </a:prstGeom>
          <a:noFill/>
          <a:ln>
            <a:noFill/>
          </a:ln>
        </p:spPr>
        <p:txBody>
          <a:bodyPr anchorCtr="0" anchor="t" bIns="79125" lIns="79125" spcFirstLastPara="1" rIns="79125" wrap="square" tIns="791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" sz="3800">
                <a:solidFill>
                  <a:schemeClr val="dk1"/>
                </a:solidFill>
                <a:latin typeface="Kosugi Maru"/>
                <a:ea typeface="Kosugi Maru"/>
                <a:cs typeface="Kosugi Maru"/>
                <a:sym typeface="Kosugi Maru"/>
              </a:rPr>
              <a:t>その２　</a:t>
            </a:r>
            <a:endParaRPr sz="3800">
              <a:solidFill>
                <a:schemeClr val="dk1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" sz="4100">
                <a:solidFill>
                  <a:srgbClr val="EF84C9"/>
                </a:solidFill>
                <a:latin typeface="Kosugi Maru"/>
                <a:ea typeface="Kosugi Maru"/>
                <a:cs typeface="Kosugi Maru"/>
                <a:sym typeface="Kosugi Maru"/>
              </a:rPr>
              <a:t>子育て経験が武器になる</a:t>
            </a:r>
            <a:endParaRPr b="1" sz="4100">
              <a:solidFill>
                <a:srgbClr val="EF84C9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6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p60"/>
          <p:cNvSpPr txBox="1"/>
          <p:nvPr/>
        </p:nvSpPr>
        <p:spPr>
          <a:xfrm>
            <a:off x="25" y="342613"/>
            <a:ext cx="91440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" sz="3200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育脳子育てカウンセラーの魅力</a:t>
            </a:r>
            <a:endParaRPr sz="3200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  <p:cxnSp>
        <p:nvCxnSpPr>
          <p:cNvPr id="478" name="Google Shape;478;p60"/>
          <p:cNvCxnSpPr/>
          <p:nvPr/>
        </p:nvCxnSpPr>
        <p:spPr>
          <a:xfrm>
            <a:off x="828450" y="976525"/>
            <a:ext cx="7487100" cy="0"/>
          </a:xfrm>
          <a:prstGeom prst="straightConnector1">
            <a:avLst/>
          </a:prstGeom>
          <a:noFill/>
          <a:ln cap="flat" cmpd="sng" w="28575">
            <a:solidFill>
              <a:srgbClr val="EF84C9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79" name="Google Shape;479;p60"/>
          <p:cNvSpPr txBox="1"/>
          <p:nvPr/>
        </p:nvSpPr>
        <p:spPr>
          <a:xfrm>
            <a:off x="327500" y="1019725"/>
            <a:ext cx="3978300" cy="4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79125" lIns="79125" spcFirstLastPara="1" rIns="79125" wrap="square" tIns="791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" sz="1900" u="sng">
                <a:solidFill>
                  <a:schemeClr val="dk1"/>
                </a:solidFill>
                <a:latin typeface="Kosugi Maru"/>
                <a:ea typeface="Kosugi Maru"/>
                <a:cs typeface="Kosugi Maru"/>
                <a:sym typeface="Kosugi Maru"/>
              </a:rPr>
              <a:t>一般的な起業・副業</a:t>
            </a:r>
            <a:r>
              <a:rPr lang="ja" sz="1100" u="sng">
                <a:solidFill>
                  <a:schemeClr val="dk1"/>
                </a:solidFill>
                <a:latin typeface="Kosugi Maru"/>
                <a:ea typeface="Kosugi Maru"/>
                <a:cs typeface="Kosugi Maru"/>
                <a:sym typeface="Kosugi Maru"/>
              </a:rPr>
              <a:t>（ｵﾝﾗｲﾝ</a:t>
            </a:r>
            <a:r>
              <a:rPr lang="ja" sz="1100" u="sng">
                <a:solidFill>
                  <a:schemeClr val="dk1"/>
                </a:solidFill>
                <a:latin typeface="Kosugi Maru"/>
                <a:ea typeface="Kosugi Maru"/>
                <a:cs typeface="Kosugi Maru"/>
                <a:sym typeface="Kosugi Maru"/>
              </a:rPr>
              <a:t>秘書、制作代行</a:t>
            </a:r>
            <a:r>
              <a:rPr lang="ja" sz="1100" u="sng">
                <a:solidFill>
                  <a:schemeClr val="dk1"/>
                </a:solidFill>
                <a:latin typeface="Kosugi Maru"/>
                <a:ea typeface="Kosugi Maru"/>
                <a:cs typeface="Kosugi Maru"/>
                <a:sym typeface="Kosugi Maru"/>
              </a:rPr>
              <a:t>）</a:t>
            </a:r>
            <a:endParaRPr sz="2200" u="sng">
              <a:solidFill>
                <a:schemeClr val="dk1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  <p:sp>
        <p:nvSpPr>
          <p:cNvPr id="480" name="Google Shape;480;p60"/>
          <p:cNvSpPr txBox="1"/>
          <p:nvPr/>
        </p:nvSpPr>
        <p:spPr>
          <a:xfrm>
            <a:off x="4894250" y="1019725"/>
            <a:ext cx="3872400" cy="467700"/>
          </a:xfrm>
          <a:prstGeom prst="rect">
            <a:avLst/>
          </a:prstGeom>
          <a:noFill/>
          <a:ln>
            <a:noFill/>
          </a:ln>
        </p:spPr>
        <p:txBody>
          <a:bodyPr anchorCtr="0" anchor="t" bIns="79125" lIns="79125" spcFirstLastPara="1" rIns="79125" wrap="square" tIns="791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" sz="2000" u="sng">
                <a:solidFill>
                  <a:schemeClr val="dk1"/>
                </a:solidFill>
                <a:latin typeface="Kosugi Maru"/>
                <a:ea typeface="Kosugi Maru"/>
                <a:cs typeface="Kosugi Maru"/>
                <a:sym typeface="Kosugi Maru"/>
              </a:rPr>
              <a:t>育脳子育てカウンセラー</a:t>
            </a:r>
            <a:endParaRPr sz="2000" u="sng">
              <a:solidFill>
                <a:schemeClr val="dk1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  <p:sp>
        <p:nvSpPr>
          <p:cNvPr id="481" name="Google Shape;481;p60"/>
          <p:cNvSpPr txBox="1"/>
          <p:nvPr/>
        </p:nvSpPr>
        <p:spPr>
          <a:xfrm>
            <a:off x="386375" y="1487425"/>
            <a:ext cx="3872400" cy="226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500">
                <a:latin typeface="Kosugi Maru"/>
                <a:ea typeface="Kosugi Maru"/>
                <a:cs typeface="Kosugi Maru"/>
                <a:sym typeface="Kosugi Maru"/>
              </a:rPr>
              <a:t>・基本的に</a:t>
            </a:r>
            <a:r>
              <a:rPr b="1" lang="ja" sz="1500">
                <a:solidFill>
                  <a:schemeClr val="accent1"/>
                </a:solidFill>
                <a:latin typeface="Kosugi Maru"/>
                <a:ea typeface="Kosugi Maru"/>
                <a:cs typeface="Kosugi Maru"/>
                <a:sym typeface="Kosugi Maru"/>
              </a:rPr>
              <a:t>”ゼロ”から学ぶ</a:t>
            </a:r>
            <a:endParaRPr sz="1500"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500"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500">
                <a:latin typeface="Kosugi Maru"/>
                <a:ea typeface="Kosugi Maru"/>
                <a:cs typeface="Kosugi Maru"/>
                <a:sym typeface="Kosugi Maru"/>
              </a:rPr>
              <a:t>・</a:t>
            </a:r>
            <a:r>
              <a:rPr b="1" lang="ja" sz="1500">
                <a:solidFill>
                  <a:schemeClr val="accent1"/>
                </a:solidFill>
                <a:latin typeface="Kosugi Maru"/>
                <a:ea typeface="Kosugi Maru"/>
                <a:cs typeface="Kosugi Maru"/>
                <a:sym typeface="Kosugi Maru"/>
              </a:rPr>
              <a:t>ノウハウのみ</a:t>
            </a:r>
            <a:r>
              <a:rPr lang="ja" sz="1500">
                <a:latin typeface="Kosugi Maru"/>
                <a:ea typeface="Kosugi Maru"/>
                <a:cs typeface="Kosugi Maru"/>
                <a:sym typeface="Kosugi Maru"/>
              </a:rPr>
              <a:t>を伝えるサービスが乱立</a:t>
            </a:r>
            <a:endParaRPr b="1" sz="1500">
              <a:solidFill>
                <a:schemeClr val="accent1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500">
                <a:latin typeface="Kosugi Maru"/>
                <a:ea typeface="Kosugi Maru"/>
                <a:cs typeface="Kosugi Maru"/>
                <a:sym typeface="Kosugi Maru"/>
              </a:rPr>
              <a:t>　体系化が不十分で</a:t>
            </a:r>
            <a:r>
              <a:rPr b="1" lang="ja" sz="1500">
                <a:solidFill>
                  <a:schemeClr val="accent1"/>
                </a:solidFill>
                <a:latin typeface="Kosugi Maru"/>
                <a:ea typeface="Kosugi Maru"/>
                <a:cs typeface="Kosugi Maru"/>
                <a:sym typeface="Kosugi Maru"/>
              </a:rPr>
              <a:t>再現性がとても低い</a:t>
            </a:r>
            <a:endParaRPr b="1" sz="1500">
              <a:solidFill>
                <a:schemeClr val="accent1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500"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500">
                <a:latin typeface="Kosugi Maru"/>
                <a:ea typeface="Kosugi Maru"/>
                <a:cs typeface="Kosugi Maru"/>
                <a:sym typeface="Kosugi Maru"/>
              </a:rPr>
              <a:t>・再現性や的確なコンテンツなのか</a:t>
            </a:r>
            <a:endParaRPr sz="1500"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500">
                <a:latin typeface="Kosugi Maru"/>
                <a:ea typeface="Kosugi Maru"/>
                <a:cs typeface="Kosugi Maru"/>
                <a:sym typeface="Kosugi Maru"/>
              </a:rPr>
              <a:t>　</a:t>
            </a:r>
            <a:r>
              <a:rPr lang="ja" sz="1500">
                <a:solidFill>
                  <a:schemeClr val="accent1"/>
                </a:solidFill>
                <a:latin typeface="Kosugi Maru"/>
                <a:ea typeface="Kosugi Maru"/>
                <a:cs typeface="Kosugi Maru"/>
                <a:sym typeface="Kosugi Maru"/>
              </a:rPr>
              <a:t>自分では判断がつかない</a:t>
            </a:r>
            <a:endParaRPr sz="1500">
              <a:solidFill>
                <a:schemeClr val="accent1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500">
                <a:latin typeface="Kosugi Maru"/>
                <a:ea typeface="Kosugi Maru"/>
                <a:cs typeface="Kosugi Maru"/>
                <a:sym typeface="Kosugi Maru"/>
              </a:rPr>
              <a:t>　</a:t>
            </a:r>
            <a:endParaRPr sz="1500"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1500">
                <a:latin typeface="Kosugi Maru"/>
                <a:ea typeface="Kosugi Maru"/>
                <a:cs typeface="Kosugi Maru"/>
                <a:sym typeface="Kosugi Maru"/>
              </a:rPr>
              <a:t>・お金も時間も無駄になる可能性が高い</a:t>
            </a:r>
            <a:endParaRPr sz="1500">
              <a:latin typeface="Kosugi Maru"/>
              <a:ea typeface="Kosugi Maru"/>
              <a:cs typeface="Kosugi Maru"/>
              <a:sym typeface="Kosugi Maru"/>
            </a:endParaRPr>
          </a:p>
        </p:txBody>
      </p:sp>
      <p:sp>
        <p:nvSpPr>
          <p:cNvPr id="482" name="Google Shape;482;p60"/>
          <p:cNvSpPr txBox="1"/>
          <p:nvPr/>
        </p:nvSpPr>
        <p:spPr>
          <a:xfrm>
            <a:off x="4894250" y="1487425"/>
            <a:ext cx="3872400" cy="24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500">
                <a:latin typeface="Kosugi Maru"/>
                <a:ea typeface="Kosugi Maru"/>
                <a:cs typeface="Kosugi Maru"/>
                <a:sym typeface="Kosugi Maru"/>
              </a:rPr>
              <a:t>・子育ての</a:t>
            </a:r>
            <a:r>
              <a:rPr b="1" lang="ja" sz="1500">
                <a:solidFill>
                  <a:srgbClr val="EF84C9"/>
                </a:solidFill>
                <a:latin typeface="Kosugi Maru"/>
                <a:ea typeface="Kosugi Maru"/>
                <a:cs typeface="Kosugi Maru"/>
                <a:sym typeface="Kosugi Maru"/>
              </a:rPr>
              <a:t>経験がそのまま活きる</a:t>
            </a:r>
            <a:endParaRPr b="1" sz="1500">
              <a:solidFill>
                <a:srgbClr val="EF84C9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500"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500">
                <a:latin typeface="Kosugi Maru"/>
                <a:ea typeface="Kosugi Maru"/>
                <a:cs typeface="Kosugi Maru"/>
                <a:sym typeface="Kosugi Maru"/>
              </a:rPr>
              <a:t>・実経験があるから</a:t>
            </a:r>
            <a:r>
              <a:rPr b="1" lang="ja" sz="1500">
                <a:solidFill>
                  <a:srgbClr val="EF84C9"/>
                </a:solidFill>
                <a:latin typeface="Kosugi Maru"/>
                <a:ea typeface="Kosugi Maru"/>
                <a:cs typeface="Kosugi Maru"/>
                <a:sym typeface="Kosugi Maru"/>
              </a:rPr>
              <a:t>対処法が分かる</a:t>
            </a:r>
            <a:endParaRPr sz="1500"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500">
                <a:latin typeface="Kosugi Maru"/>
                <a:ea typeface="Kosugi Maru"/>
                <a:cs typeface="Kosugi Maru"/>
                <a:sym typeface="Kosugi Maru"/>
              </a:rPr>
              <a:t>　ママの気持ちもよく分かる</a:t>
            </a:r>
            <a:endParaRPr sz="1500"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1500">
                <a:latin typeface="Kosugi Maru"/>
                <a:ea typeface="Kosugi Maru"/>
                <a:cs typeface="Kosugi Maru"/>
                <a:sym typeface="Kosugi Maru"/>
              </a:rPr>
              <a:t>・カウンセラーとして重要な気持ちの</a:t>
            </a:r>
            <a:endParaRPr sz="1500"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500">
                <a:latin typeface="Kosugi Maru"/>
                <a:ea typeface="Kosugi Maru"/>
                <a:cs typeface="Kosugi Maru"/>
                <a:sym typeface="Kosugi Maru"/>
              </a:rPr>
              <a:t>　</a:t>
            </a:r>
            <a:r>
              <a:rPr b="1" lang="ja" sz="1500">
                <a:solidFill>
                  <a:srgbClr val="EF84C9"/>
                </a:solidFill>
                <a:latin typeface="Kosugi Maru"/>
                <a:ea typeface="Kosugi Maru"/>
                <a:cs typeface="Kosugi Maru"/>
                <a:sym typeface="Kosugi Maru"/>
              </a:rPr>
              <a:t>寄り添いの部分が既に身に付いている</a:t>
            </a:r>
            <a:endParaRPr b="1" sz="1500">
              <a:solidFill>
                <a:srgbClr val="EF84C9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500">
                <a:latin typeface="Kosugi Maru"/>
                <a:ea typeface="Kosugi Maru"/>
                <a:cs typeface="Kosugi Maru"/>
                <a:sym typeface="Kosugi Maru"/>
              </a:rPr>
              <a:t>→結果ママに</a:t>
            </a:r>
            <a:r>
              <a:rPr b="1" lang="ja" sz="1500">
                <a:solidFill>
                  <a:srgbClr val="EF84C9"/>
                </a:solidFill>
                <a:latin typeface="Kosugi Maru"/>
                <a:ea typeface="Kosugi Maru"/>
                <a:cs typeface="Kosugi Maru"/>
                <a:sym typeface="Kosugi Maru"/>
              </a:rPr>
              <a:t>信頼される</a:t>
            </a:r>
            <a:endParaRPr b="1" sz="1500">
              <a:solidFill>
                <a:srgbClr val="EF84C9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1500">
                <a:latin typeface="Kosugi Maru"/>
                <a:ea typeface="Kosugi Maru"/>
                <a:cs typeface="Kosugi Maru"/>
                <a:sym typeface="Kosugi Maru"/>
              </a:rPr>
              <a:t>　カウンセラーとして</a:t>
            </a:r>
            <a:r>
              <a:rPr b="1" lang="ja" sz="1500">
                <a:solidFill>
                  <a:srgbClr val="EF84C9"/>
                </a:solidFill>
                <a:latin typeface="Kosugi Maru"/>
                <a:ea typeface="Kosugi Maru"/>
                <a:cs typeface="Kosugi Maru"/>
                <a:sym typeface="Kosugi Maru"/>
              </a:rPr>
              <a:t>成功しやすい</a:t>
            </a:r>
            <a:endParaRPr b="1" sz="1500">
              <a:solidFill>
                <a:srgbClr val="EF84C9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  <p:pic>
        <p:nvPicPr>
          <p:cNvPr id="483" name="Google Shape;483;p6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68510" y="3805100"/>
            <a:ext cx="2205990" cy="1338400"/>
          </a:xfrm>
          <a:prstGeom prst="rect">
            <a:avLst/>
          </a:prstGeom>
          <a:noFill/>
          <a:ln>
            <a:noFill/>
          </a:ln>
        </p:spPr>
      </p:pic>
      <p:sp>
        <p:nvSpPr>
          <p:cNvPr id="484" name="Google Shape;484;p60"/>
          <p:cNvSpPr txBox="1"/>
          <p:nvPr/>
        </p:nvSpPr>
        <p:spPr>
          <a:xfrm>
            <a:off x="2296350" y="4119350"/>
            <a:ext cx="852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900">
                <a:latin typeface="Kosugi Maru"/>
                <a:ea typeface="Kosugi Maru"/>
                <a:cs typeface="Kosugi Maru"/>
                <a:sym typeface="Kosugi Maru"/>
              </a:rPr>
              <a:t>一般的な</a:t>
            </a:r>
            <a:endParaRPr sz="900"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900">
                <a:latin typeface="Kosugi Maru"/>
                <a:ea typeface="Kosugi Maru"/>
                <a:cs typeface="Kosugi Maru"/>
                <a:sym typeface="Kosugi Maru"/>
              </a:rPr>
              <a:t>起業・副業</a:t>
            </a:r>
            <a:endParaRPr sz="900">
              <a:latin typeface="Kosugi Maru"/>
              <a:ea typeface="Kosugi Maru"/>
              <a:cs typeface="Kosugi Maru"/>
              <a:sym typeface="Kosugi Maru"/>
            </a:endParaRPr>
          </a:p>
        </p:txBody>
      </p:sp>
      <p:sp>
        <p:nvSpPr>
          <p:cNvPr id="485" name="Google Shape;485;p60"/>
          <p:cNvSpPr txBox="1"/>
          <p:nvPr/>
        </p:nvSpPr>
        <p:spPr>
          <a:xfrm>
            <a:off x="3444000" y="3851300"/>
            <a:ext cx="986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900">
                <a:latin typeface="Kosugi Maru"/>
                <a:ea typeface="Kosugi Maru"/>
                <a:cs typeface="Kosugi Maru"/>
                <a:sym typeface="Kosugi Maru"/>
              </a:rPr>
              <a:t>育脳子育て</a:t>
            </a:r>
            <a:endParaRPr sz="900"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900">
                <a:latin typeface="Kosugi Maru"/>
                <a:ea typeface="Kosugi Maru"/>
                <a:cs typeface="Kosugi Maru"/>
                <a:sym typeface="Kosugi Maru"/>
              </a:rPr>
              <a:t>カウンセラー</a:t>
            </a:r>
            <a:endParaRPr sz="900">
              <a:latin typeface="Kosugi Maru"/>
              <a:ea typeface="Kosugi Maru"/>
              <a:cs typeface="Kosugi Maru"/>
              <a:sym typeface="Kosugi Maru"/>
            </a:endParaRPr>
          </a:p>
        </p:txBody>
      </p:sp>
      <p:sp>
        <p:nvSpPr>
          <p:cNvPr id="486" name="Google Shape;486;p60"/>
          <p:cNvSpPr/>
          <p:nvPr/>
        </p:nvSpPr>
        <p:spPr>
          <a:xfrm>
            <a:off x="3726350" y="4769800"/>
            <a:ext cx="217800" cy="335100"/>
          </a:xfrm>
          <a:prstGeom prst="up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7" name="Google Shape;487;p60"/>
          <p:cNvSpPr txBox="1"/>
          <p:nvPr/>
        </p:nvSpPr>
        <p:spPr>
          <a:xfrm>
            <a:off x="3908150" y="4775800"/>
            <a:ext cx="986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900">
                <a:latin typeface="Kosugi Maru"/>
                <a:ea typeface="Kosugi Maru"/>
                <a:cs typeface="Kosugi Maru"/>
                <a:sym typeface="Kosugi Maru"/>
              </a:rPr>
              <a:t>子育て経験</a:t>
            </a:r>
            <a:endParaRPr sz="900">
              <a:latin typeface="Kosugi Maru"/>
              <a:ea typeface="Kosugi Maru"/>
              <a:cs typeface="Kosugi Maru"/>
              <a:sym typeface="Kosugi Maru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p61"/>
          <p:cNvSpPr txBox="1"/>
          <p:nvPr/>
        </p:nvSpPr>
        <p:spPr>
          <a:xfrm>
            <a:off x="25" y="342613"/>
            <a:ext cx="91440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" sz="3200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育脳子育てカウンセラーの魅力</a:t>
            </a:r>
            <a:endParaRPr sz="3200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  <p:cxnSp>
        <p:nvCxnSpPr>
          <p:cNvPr id="493" name="Google Shape;493;p61"/>
          <p:cNvCxnSpPr/>
          <p:nvPr/>
        </p:nvCxnSpPr>
        <p:spPr>
          <a:xfrm>
            <a:off x="828450" y="976525"/>
            <a:ext cx="7487100" cy="0"/>
          </a:xfrm>
          <a:prstGeom prst="straightConnector1">
            <a:avLst/>
          </a:prstGeom>
          <a:noFill/>
          <a:ln cap="flat" cmpd="sng" w="28575">
            <a:solidFill>
              <a:srgbClr val="EF84C9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94" name="Google Shape;494;p61"/>
          <p:cNvSpPr txBox="1"/>
          <p:nvPr/>
        </p:nvSpPr>
        <p:spPr>
          <a:xfrm>
            <a:off x="1057200" y="2020200"/>
            <a:ext cx="7966800" cy="2023800"/>
          </a:xfrm>
          <a:prstGeom prst="rect">
            <a:avLst/>
          </a:prstGeom>
          <a:noFill/>
          <a:ln>
            <a:noFill/>
          </a:ln>
        </p:spPr>
        <p:txBody>
          <a:bodyPr anchorCtr="0" anchor="t" bIns="79125" lIns="79125" spcFirstLastPara="1" rIns="79125" wrap="square" tIns="791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" sz="3800">
                <a:solidFill>
                  <a:schemeClr val="dk1"/>
                </a:solidFill>
                <a:latin typeface="Kosugi Maru"/>
                <a:ea typeface="Kosugi Maru"/>
                <a:cs typeface="Kosugi Maru"/>
                <a:sym typeface="Kosugi Maru"/>
              </a:rPr>
              <a:t>その３　</a:t>
            </a:r>
            <a:endParaRPr sz="3800">
              <a:solidFill>
                <a:schemeClr val="dk1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3600">
                <a:solidFill>
                  <a:srgbClr val="EF84C9"/>
                </a:solidFill>
                <a:latin typeface="Kosugi Maru"/>
                <a:ea typeface="Kosugi Maru"/>
                <a:cs typeface="Kosugi Maru"/>
                <a:sym typeface="Kosugi Maru"/>
              </a:rPr>
              <a:t>女性として喜びにも近い</a:t>
            </a:r>
            <a:endParaRPr b="1" sz="3600">
              <a:solidFill>
                <a:srgbClr val="EF84C9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3600">
                <a:solidFill>
                  <a:srgbClr val="EF84C9"/>
                </a:solidFill>
                <a:latin typeface="Kosugi Maru"/>
                <a:ea typeface="Kosugi Maru"/>
                <a:cs typeface="Kosugi Maru"/>
                <a:sym typeface="Kosugi Maru"/>
              </a:rPr>
              <a:t>"やりがい”をとても強く感じられる</a:t>
            </a:r>
            <a:endParaRPr b="1" sz="3600">
              <a:solidFill>
                <a:srgbClr val="EF84C9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8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Google Shape;499;p62"/>
          <p:cNvSpPr txBox="1"/>
          <p:nvPr/>
        </p:nvSpPr>
        <p:spPr>
          <a:xfrm>
            <a:off x="0" y="133188"/>
            <a:ext cx="91440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" sz="3200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育脳子育てカウンセラーの魅力</a:t>
            </a:r>
            <a:endParaRPr sz="3200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  <p:cxnSp>
        <p:nvCxnSpPr>
          <p:cNvPr id="500" name="Google Shape;500;p62"/>
          <p:cNvCxnSpPr/>
          <p:nvPr/>
        </p:nvCxnSpPr>
        <p:spPr>
          <a:xfrm>
            <a:off x="828425" y="767100"/>
            <a:ext cx="7487100" cy="0"/>
          </a:xfrm>
          <a:prstGeom prst="straightConnector1">
            <a:avLst/>
          </a:prstGeom>
          <a:noFill/>
          <a:ln cap="flat" cmpd="sng" w="28575">
            <a:solidFill>
              <a:srgbClr val="EF84C9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01" name="Google Shape;501;p62"/>
          <p:cNvSpPr txBox="1"/>
          <p:nvPr/>
        </p:nvSpPr>
        <p:spPr>
          <a:xfrm>
            <a:off x="327475" y="810300"/>
            <a:ext cx="3978300" cy="467700"/>
          </a:xfrm>
          <a:prstGeom prst="rect">
            <a:avLst/>
          </a:prstGeom>
          <a:noFill/>
          <a:ln>
            <a:noFill/>
          </a:ln>
        </p:spPr>
        <p:txBody>
          <a:bodyPr anchorCtr="0" anchor="t" bIns="79125" lIns="79125" spcFirstLastPara="1" rIns="79125" wrap="square" tIns="791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" sz="2000" u="sng">
                <a:solidFill>
                  <a:schemeClr val="dk1"/>
                </a:solidFill>
                <a:latin typeface="Kosugi Maru"/>
                <a:ea typeface="Kosugi Maru"/>
                <a:cs typeface="Kosugi Maru"/>
                <a:sym typeface="Kosugi Maru"/>
              </a:rPr>
              <a:t>一般的なカウンセラー</a:t>
            </a:r>
            <a:endParaRPr sz="2300" u="sng">
              <a:solidFill>
                <a:schemeClr val="dk1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  <p:sp>
        <p:nvSpPr>
          <p:cNvPr id="502" name="Google Shape;502;p62"/>
          <p:cNvSpPr txBox="1"/>
          <p:nvPr/>
        </p:nvSpPr>
        <p:spPr>
          <a:xfrm>
            <a:off x="4894225" y="810300"/>
            <a:ext cx="3872400" cy="467700"/>
          </a:xfrm>
          <a:prstGeom prst="rect">
            <a:avLst/>
          </a:prstGeom>
          <a:noFill/>
          <a:ln>
            <a:noFill/>
          </a:ln>
        </p:spPr>
        <p:txBody>
          <a:bodyPr anchorCtr="0" anchor="t" bIns="79125" lIns="79125" spcFirstLastPara="1" rIns="79125" wrap="square" tIns="791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" sz="2000" u="sng">
                <a:solidFill>
                  <a:schemeClr val="dk1"/>
                </a:solidFill>
                <a:latin typeface="Kosugi Maru"/>
                <a:ea typeface="Kosugi Maru"/>
                <a:cs typeface="Kosugi Maru"/>
                <a:sym typeface="Kosugi Maru"/>
              </a:rPr>
              <a:t>育脳子育てカウンセラー</a:t>
            </a:r>
            <a:endParaRPr sz="2000" u="sng">
              <a:solidFill>
                <a:schemeClr val="dk1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  <p:sp>
        <p:nvSpPr>
          <p:cNvPr id="503" name="Google Shape;503;p62"/>
          <p:cNvSpPr txBox="1"/>
          <p:nvPr/>
        </p:nvSpPr>
        <p:spPr>
          <a:xfrm>
            <a:off x="386350" y="1278000"/>
            <a:ext cx="3872400" cy="295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500">
                <a:latin typeface="Kosugi Maru"/>
                <a:ea typeface="Kosugi Maru"/>
                <a:cs typeface="Kosugi Maru"/>
                <a:sym typeface="Kosugi Maru"/>
              </a:rPr>
              <a:t>・人の</a:t>
            </a:r>
            <a:r>
              <a:rPr lang="ja" sz="1500">
                <a:solidFill>
                  <a:schemeClr val="accent1"/>
                </a:solidFill>
                <a:latin typeface="Kosugi Maru"/>
                <a:ea typeface="Kosugi Maru"/>
                <a:cs typeface="Kosugi Maru"/>
                <a:sym typeface="Kosugi Maru"/>
              </a:rPr>
              <a:t>メンタルを扱う</a:t>
            </a:r>
            <a:endParaRPr sz="1500">
              <a:solidFill>
                <a:schemeClr val="accent1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500">
                <a:latin typeface="Kosugi Maru"/>
                <a:ea typeface="Kosugi Maru"/>
                <a:cs typeface="Kosugi Maru"/>
                <a:sym typeface="Kosugi Maru"/>
              </a:rPr>
              <a:t>　</a:t>
            </a:r>
            <a:endParaRPr sz="1500"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500">
                <a:latin typeface="Kosugi Maru"/>
                <a:ea typeface="Kosugi Maru"/>
                <a:cs typeface="Kosugi Maru"/>
                <a:sym typeface="Kosugi Maru"/>
              </a:rPr>
              <a:t>・基本的には</a:t>
            </a:r>
            <a:r>
              <a:rPr lang="ja" sz="1500">
                <a:solidFill>
                  <a:schemeClr val="accent1"/>
                </a:solidFill>
                <a:latin typeface="Kosugi Maru"/>
                <a:ea typeface="Kosugi Maru"/>
                <a:cs typeface="Kosugi Maru"/>
                <a:sym typeface="Kosugi Maru"/>
              </a:rPr>
              <a:t>下がったメンタル</a:t>
            </a:r>
            <a:r>
              <a:rPr lang="ja" sz="1500">
                <a:latin typeface="Kosugi Maru"/>
                <a:ea typeface="Kosugi Maru"/>
                <a:cs typeface="Kosugi Maru"/>
                <a:sym typeface="Kosugi Maru"/>
              </a:rPr>
              <a:t>を</a:t>
            </a:r>
            <a:endParaRPr sz="1500"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500">
                <a:latin typeface="Kosugi Maru"/>
                <a:ea typeface="Kosugi Maru"/>
                <a:cs typeface="Kosugi Maru"/>
                <a:sym typeface="Kosugi Maru"/>
              </a:rPr>
              <a:t>　通常状態に戻して完了</a:t>
            </a:r>
            <a:endParaRPr sz="1500"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500"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500">
                <a:latin typeface="Kosugi Maru"/>
                <a:ea typeface="Kosugi Maru"/>
                <a:cs typeface="Kosugi Maru"/>
                <a:sym typeface="Kosugi Maru"/>
              </a:rPr>
              <a:t>・どうやって声をかけて良いかわからない　ケースもあり、</a:t>
            </a:r>
            <a:r>
              <a:rPr lang="ja" sz="1500">
                <a:solidFill>
                  <a:schemeClr val="accent1"/>
                </a:solidFill>
                <a:latin typeface="Kosugi Maru"/>
                <a:ea typeface="Kosugi Maru"/>
                <a:cs typeface="Kosugi Maru"/>
                <a:sym typeface="Kosugi Maru"/>
              </a:rPr>
              <a:t>神経がすり減る</a:t>
            </a:r>
            <a:endParaRPr sz="1500">
              <a:solidFill>
                <a:schemeClr val="accent1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1500">
                <a:latin typeface="Kosugi Maru"/>
                <a:ea typeface="Kosugi Maru"/>
                <a:cs typeface="Kosugi Maru"/>
                <a:sym typeface="Kosugi Maru"/>
              </a:rPr>
              <a:t>・ﾒﾝﾀﾙが落ちているクライアントからの</a:t>
            </a:r>
            <a:endParaRPr sz="1500"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500">
                <a:latin typeface="Kosugi Maru"/>
                <a:ea typeface="Kosugi Maru"/>
                <a:cs typeface="Kosugi Maru"/>
                <a:sym typeface="Kosugi Maru"/>
              </a:rPr>
              <a:t>　</a:t>
            </a:r>
            <a:r>
              <a:rPr lang="ja" sz="1500">
                <a:solidFill>
                  <a:schemeClr val="accent1"/>
                </a:solidFill>
                <a:latin typeface="Kosugi Maru"/>
                <a:ea typeface="Kosugi Maru"/>
                <a:cs typeface="Kosugi Maru"/>
                <a:sym typeface="Kosugi Maru"/>
              </a:rPr>
              <a:t>きつい言葉でこちらがメンタルにくる</a:t>
            </a:r>
            <a:endParaRPr sz="1500">
              <a:solidFill>
                <a:schemeClr val="accent1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500"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1500">
                <a:latin typeface="Kosugi Maru"/>
                <a:ea typeface="Kosugi Maru"/>
                <a:cs typeface="Kosugi Maru"/>
                <a:sym typeface="Kosugi Maru"/>
              </a:rPr>
              <a:t>・やりがいと共に</a:t>
            </a:r>
            <a:r>
              <a:rPr lang="ja" sz="1500">
                <a:solidFill>
                  <a:schemeClr val="accent1"/>
                </a:solidFill>
                <a:latin typeface="Kosugi Maru"/>
                <a:ea typeface="Kosugi Maru"/>
                <a:cs typeface="Kosugi Maru"/>
                <a:sym typeface="Kosugi Maru"/>
              </a:rPr>
              <a:t>自分のﾒﾝﾀﾙとも常に戦う</a:t>
            </a:r>
            <a:endParaRPr sz="1500">
              <a:solidFill>
                <a:schemeClr val="accent1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  <p:sp>
        <p:nvSpPr>
          <p:cNvPr id="504" name="Google Shape;504;p62"/>
          <p:cNvSpPr txBox="1"/>
          <p:nvPr/>
        </p:nvSpPr>
        <p:spPr>
          <a:xfrm>
            <a:off x="4894225" y="1278000"/>
            <a:ext cx="3872400" cy="295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1500">
                <a:latin typeface="Kosugi Maru"/>
                <a:ea typeface="Kosugi Maru"/>
                <a:cs typeface="Kosugi Maru"/>
                <a:sym typeface="Kosugi Maru"/>
              </a:rPr>
              <a:t>・</a:t>
            </a:r>
            <a:r>
              <a:rPr lang="ja" sz="1500">
                <a:latin typeface="Kosugi Maru"/>
                <a:ea typeface="Kosugi Maru"/>
                <a:cs typeface="Kosugi Maru"/>
                <a:sym typeface="Kosugi Maru"/>
              </a:rPr>
              <a:t>親子の</a:t>
            </a:r>
            <a:r>
              <a:rPr b="1" lang="ja" sz="1500">
                <a:solidFill>
                  <a:srgbClr val="EF84C9"/>
                </a:solidFill>
                <a:latin typeface="Kosugi Maru"/>
                <a:ea typeface="Kosugi Maru"/>
                <a:cs typeface="Kosugi Maru"/>
                <a:sym typeface="Kosugi Maru"/>
              </a:rPr>
              <a:t>コミュニケーションを扱う</a:t>
            </a:r>
            <a:endParaRPr b="1" sz="1500">
              <a:solidFill>
                <a:srgbClr val="EF84C9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1500">
                <a:latin typeface="Kosugi Maru"/>
                <a:ea typeface="Kosugi Maru"/>
                <a:cs typeface="Kosugi Maru"/>
                <a:sym typeface="Kosugi Maru"/>
              </a:rPr>
              <a:t>・</a:t>
            </a:r>
            <a:r>
              <a:rPr lang="ja" sz="1500">
                <a:latin typeface="Kosugi Maru"/>
                <a:ea typeface="Kosugi Maru"/>
                <a:cs typeface="Kosugi Maru"/>
                <a:sym typeface="Kosugi Maru"/>
              </a:rPr>
              <a:t>ママのイライラを解消して、親子を</a:t>
            </a:r>
            <a:endParaRPr sz="1500"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1500">
                <a:latin typeface="Kosugi Maru"/>
                <a:ea typeface="Kosugi Maru"/>
                <a:cs typeface="Kosugi Maru"/>
                <a:sym typeface="Kosugi Maru"/>
              </a:rPr>
              <a:t>　笑顔に</a:t>
            </a:r>
            <a:r>
              <a:rPr b="1" lang="ja" sz="1500">
                <a:solidFill>
                  <a:srgbClr val="EF84C9"/>
                </a:solidFill>
                <a:latin typeface="Kosugi Maru"/>
                <a:ea typeface="Kosugi Maru"/>
                <a:cs typeface="Kosugi Maru"/>
                <a:sym typeface="Kosugi Maru"/>
              </a:rPr>
              <a:t>プラスまで上げて完了</a:t>
            </a:r>
            <a:endParaRPr b="1" sz="1500">
              <a:solidFill>
                <a:srgbClr val="EF84C9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1500">
                <a:latin typeface="Kosugi Maru"/>
                <a:ea typeface="Kosugi Maru"/>
                <a:cs typeface="Kosugi Maru"/>
                <a:sym typeface="Kosugi Maru"/>
              </a:rPr>
              <a:t>・</a:t>
            </a:r>
            <a:r>
              <a:rPr lang="ja" sz="1500">
                <a:latin typeface="Kosugi Maru"/>
                <a:ea typeface="Kosugi Maru"/>
                <a:cs typeface="Kosugi Maru"/>
                <a:sym typeface="Kosugi Maru"/>
              </a:rPr>
              <a:t>サポートする</a:t>
            </a:r>
            <a:r>
              <a:rPr lang="ja" sz="1500">
                <a:solidFill>
                  <a:srgbClr val="EF84C9"/>
                </a:solidFill>
                <a:latin typeface="Kosugi Maru"/>
                <a:ea typeface="Kosugi Maru"/>
                <a:cs typeface="Kosugi Maru"/>
                <a:sym typeface="Kosugi Maru"/>
              </a:rPr>
              <a:t>家族の成長に携われる</a:t>
            </a:r>
            <a:endParaRPr sz="1500">
              <a:solidFill>
                <a:srgbClr val="EF84C9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1500">
                <a:latin typeface="Kosugi Maru"/>
                <a:ea typeface="Kosugi Maru"/>
                <a:cs typeface="Kosugi Maru"/>
                <a:sym typeface="Kosugi Maru"/>
              </a:rPr>
              <a:t>　→その家族のお母さんになったような</a:t>
            </a:r>
            <a:endParaRPr sz="1500"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1500">
                <a:latin typeface="Kosugi Maru"/>
                <a:ea typeface="Kosugi Maru"/>
                <a:cs typeface="Kosugi Maru"/>
                <a:sym typeface="Kosugi Maru"/>
              </a:rPr>
              <a:t>　　気持ちを感じる</a:t>
            </a:r>
            <a:endParaRPr sz="1500"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1500">
                <a:latin typeface="Kosugi Maru"/>
                <a:ea typeface="Kosugi Maru"/>
                <a:cs typeface="Kosugi Maru"/>
                <a:sym typeface="Kosugi Maru"/>
              </a:rPr>
              <a:t>・家族の</a:t>
            </a:r>
            <a:r>
              <a:rPr b="1" lang="ja" sz="1500">
                <a:solidFill>
                  <a:srgbClr val="EF84C9"/>
                </a:solidFill>
                <a:latin typeface="Kosugi Maru"/>
                <a:ea typeface="Kosugi Maru"/>
                <a:cs typeface="Kosugi Maru"/>
                <a:sym typeface="Kosugi Maru"/>
              </a:rPr>
              <a:t>感謝の声がやりがい</a:t>
            </a:r>
            <a:r>
              <a:rPr lang="ja" sz="1500">
                <a:latin typeface="Kosugi Maru"/>
                <a:ea typeface="Kosugi Maru"/>
                <a:cs typeface="Kosugi Maru"/>
                <a:sym typeface="Kosugi Maru"/>
              </a:rPr>
              <a:t>になる</a:t>
            </a:r>
            <a:endParaRPr sz="1500"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Kosugi Maru"/>
              <a:ea typeface="Kosugi Maru"/>
              <a:cs typeface="Kosugi Maru"/>
              <a:sym typeface="Kosugi Maru"/>
            </a:endParaRPr>
          </a:p>
        </p:txBody>
      </p:sp>
      <p:pic>
        <p:nvPicPr>
          <p:cNvPr id="505" name="Google Shape;505;p6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88075" y="4136100"/>
            <a:ext cx="1806725" cy="1007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06" name="Google Shape;506;p6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535800" y="3967976"/>
            <a:ext cx="3141373" cy="11755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0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Google Shape;511;p63"/>
          <p:cNvSpPr txBox="1"/>
          <p:nvPr/>
        </p:nvSpPr>
        <p:spPr>
          <a:xfrm>
            <a:off x="25" y="342613"/>
            <a:ext cx="91440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" sz="3200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育脳子育てカウンセラーの魅力</a:t>
            </a:r>
            <a:endParaRPr sz="3200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  <p:cxnSp>
        <p:nvCxnSpPr>
          <p:cNvPr id="512" name="Google Shape;512;p63"/>
          <p:cNvCxnSpPr/>
          <p:nvPr/>
        </p:nvCxnSpPr>
        <p:spPr>
          <a:xfrm>
            <a:off x="828450" y="976525"/>
            <a:ext cx="7487100" cy="0"/>
          </a:xfrm>
          <a:prstGeom prst="straightConnector1">
            <a:avLst/>
          </a:prstGeom>
          <a:noFill/>
          <a:ln cap="flat" cmpd="sng" w="28575">
            <a:solidFill>
              <a:srgbClr val="EF84C9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13" name="Google Shape;513;p63"/>
          <p:cNvSpPr txBox="1"/>
          <p:nvPr/>
        </p:nvSpPr>
        <p:spPr>
          <a:xfrm>
            <a:off x="1057200" y="2020200"/>
            <a:ext cx="7966800" cy="2023800"/>
          </a:xfrm>
          <a:prstGeom prst="rect">
            <a:avLst/>
          </a:prstGeom>
          <a:noFill/>
          <a:ln>
            <a:noFill/>
          </a:ln>
        </p:spPr>
        <p:txBody>
          <a:bodyPr anchorCtr="0" anchor="t" bIns="79125" lIns="79125" spcFirstLastPara="1" rIns="79125" wrap="square" tIns="791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" sz="3800">
                <a:solidFill>
                  <a:schemeClr val="dk1"/>
                </a:solidFill>
                <a:latin typeface="Kosugi Maru"/>
                <a:ea typeface="Kosugi Maru"/>
                <a:cs typeface="Kosugi Maru"/>
                <a:sym typeface="Kosugi Maru"/>
              </a:rPr>
              <a:t>その４　</a:t>
            </a:r>
            <a:endParaRPr sz="3600">
              <a:solidFill>
                <a:srgbClr val="EF84C9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3600">
                <a:solidFill>
                  <a:srgbClr val="EF84C9"/>
                </a:solidFill>
                <a:latin typeface="Kosugi Maru"/>
                <a:ea typeface="Kosugi Maru"/>
                <a:cs typeface="Kosugi Maru"/>
                <a:sym typeface="Kosugi Maru"/>
              </a:rPr>
              <a:t>サービスを継続するお客様や</a:t>
            </a:r>
            <a:endParaRPr sz="3600">
              <a:solidFill>
                <a:srgbClr val="EF84C9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" sz="3600">
                <a:solidFill>
                  <a:srgbClr val="EF84C9"/>
                </a:solidFill>
                <a:latin typeface="Kosugi Maru"/>
                <a:ea typeface="Kosugi Maru"/>
                <a:cs typeface="Kosugi Maru"/>
                <a:sym typeface="Kosugi Maru"/>
              </a:rPr>
              <a:t>新規のお客様の口コミ紹介が多い</a:t>
            </a:r>
            <a:endParaRPr b="1" sz="3600">
              <a:solidFill>
                <a:srgbClr val="EF84C9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7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Google Shape;518;p64"/>
          <p:cNvSpPr txBox="1"/>
          <p:nvPr/>
        </p:nvSpPr>
        <p:spPr>
          <a:xfrm>
            <a:off x="25" y="342613"/>
            <a:ext cx="91440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" sz="3200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育脳子育てカウンセラーの魅力</a:t>
            </a:r>
            <a:endParaRPr sz="3200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  <p:cxnSp>
        <p:nvCxnSpPr>
          <p:cNvPr id="519" name="Google Shape;519;p64"/>
          <p:cNvCxnSpPr/>
          <p:nvPr/>
        </p:nvCxnSpPr>
        <p:spPr>
          <a:xfrm>
            <a:off x="828450" y="976525"/>
            <a:ext cx="7487100" cy="0"/>
          </a:xfrm>
          <a:prstGeom prst="straightConnector1">
            <a:avLst/>
          </a:prstGeom>
          <a:noFill/>
          <a:ln cap="flat" cmpd="sng" w="28575">
            <a:solidFill>
              <a:srgbClr val="EF84C9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20" name="Google Shape;520;p64"/>
          <p:cNvSpPr txBox="1"/>
          <p:nvPr/>
        </p:nvSpPr>
        <p:spPr>
          <a:xfrm>
            <a:off x="327500" y="1019725"/>
            <a:ext cx="3978300" cy="467700"/>
          </a:xfrm>
          <a:prstGeom prst="rect">
            <a:avLst/>
          </a:prstGeom>
          <a:noFill/>
          <a:ln>
            <a:noFill/>
          </a:ln>
        </p:spPr>
        <p:txBody>
          <a:bodyPr anchorCtr="0" anchor="t" bIns="79125" lIns="79125" spcFirstLastPara="1" rIns="79125" wrap="square" tIns="791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" sz="2000" u="sng">
                <a:solidFill>
                  <a:schemeClr val="dk1"/>
                </a:solidFill>
                <a:latin typeface="Kosugi Maru"/>
                <a:ea typeface="Kosugi Maru"/>
                <a:cs typeface="Kosugi Maru"/>
                <a:sym typeface="Kosugi Maru"/>
              </a:rPr>
              <a:t>一般的なビジネス・サービス</a:t>
            </a:r>
            <a:endParaRPr sz="2300" u="sng">
              <a:solidFill>
                <a:schemeClr val="dk1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  <p:sp>
        <p:nvSpPr>
          <p:cNvPr id="521" name="Google Shape;521;p64"/>
          <p:cNvSpPr txBox="1"/>
          <p:nvPr/>
        </p:nvSpPr>
        <p:spPr>
          <a:xfrm>
            <a:off x="4894250" y="1019725"/>
            <a:ext cx="3872400" cy="467700"/>
          </a:xfrm>
          <a:prstGeom prst="rect">
            <a:avLst/>
          </a:prstGeom>
          <a:noFill/>
          <a:ln>
            <a:noFill/>
          </a:ln>
        </p:spPr>
        <p:txBody>
          <a:bodyPr anchorCtr="0" anchor="t" bIns="79125" lIns="79125" spcFirstLastPara="1" rIns="79125" wrap="square" tIns="791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" sz="2000" u="sng">
                <a:solidFill>
                  <a:schemeClr val="dk1"/>
                </a:solidFill>
                <a:latin typeface="Kosugi Maru"/>
                <a:ea typeface="Kosugi Maru"/>
                <a:cs typeface="Kosugi Maru"/>
                <a:sym typeface="Kosugi Maru"/>
              </a:rPr>
              <a:t>育脳子育てカウンセラー</a:t>
            </a:r>
            <a:endParaRPr sz="2000" u="sng">
              <a:solidFill>
                <a:schemeClr val="dk1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  <p:sp>
        <p:nvSpPr>
          <p:cNvPr id="522" name="Google Shape;522;p64"/>
          <p:cNvSpPr txBox="1"/>
          <p:nvPr/>
        </p:nvSpPr>
        <p:spPr>
          <a:xfrm>
            <a:off x="386375" y="1487425"/>
            <a:ext cx="3872400" cy="341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500">
                <a:latin typeface="Kosugi Maru"/>
                <a:ea typeface="Kosugi Maru"/>
                <a:cs typeface="Kosugi Maru"/>
                <a:sym typeface="Kosugi Maru"/>
              </a:rPr>
              <a:t>・</a:t>
            </a:r>
            <a:r>
              <a:rPr b="1" lang="ja" sz="1500">
                <a:solidFill>
                  <a:schemeClr val="accent1"/>
                </a:solidFill>
                <a:latin typeface="Kosugi Maru"/>
                <a:ea typeface="Kosugi Maru"/>
                <a:cs typeface="Kosugi Maru"/>
                <a:sym typeface="Kosugi Maru"/>
              </a:rPr>
              <a:t>短期でサービスを完了</a:t>
            </a:r>
            <a:r>
              <a:rPr lang="ja" sz="1500">
                <a:latin typeface="Kosugi Maru"/>
                <a:ea typeface="Kosugi Maru"/>
                <a:cs typeface="Kosugi Maru"/>
                <a:sym typeface="Kosugi Maru"/>
              </a:rPr>
              <a:t>するものが多い</a:t>
            </a:r>
            <a:endParaRPr sz="1500"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500">
                <a:latin typeface="Kosugi Maru"/>
                <a:ea typeface="Kosugi Maru"/>
                <a:cs typeface="Kosugi Maru"/>
                <a:sym typeface="Kosugi Maru"/>
              </a:rPr>
              <a:t>　＜語学系＞</a:t>
            </a:r>
            <a:endParaRPr sz="1500"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500">
                <a:latin typeface="Kosugi Maru"/>
                <a:ea typeface="Kosugi Maru"/>
                <a:cs typeface="Kosugi Maru"/>
                <a:sym typeface="Kosugi Maru"/>
              </a:rPr>
              <a:t>　　お客様本人の努力がないと結果でず</a:t>
            </a:r>
            <a:endParaRPr sz="1500"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500">
                <a:latin typeface="Kosugi Maru"/>
                <a:ea typeface="Kosugi Maru"/>
                <a:cs typeface="Kosugi Maru"/>
                <a:sym typeface="Kosugi Maru"/>
              </a:rPr>
              <a:t>　　サービスの利用終了になる</a:t>
            </a:r>
            <a:endParaRPr sz="1500"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500">
                <a:latin typeface="Kosugi Maru"/>
                <a:ea typeface="Kosugi Maru"/>
                <a:cs typeface="Kosugi Maru"/>
                <a:sym typeface="Kosugi Maru"/>
              </a:rPr>
              <a:t>　　→</a:t>
            </a:r>
            <a:r>
              <a:rPr lang="ja" sz="1500">
                <a:solidFill>
                  <a:schemeClr val="accent1"/>
                </a:solidFill>
                <a:latin typeface="Kosugi Maru"/>
                <a:ea typeface="Kosugi Maru"/>
                <a:cs typeface="Kosugi Maru"/>
                <a:sym typeface="Kosugi Maru"/>
              </a:rPr>
              <a:t>また集客が必要</a:t>
            </a:r>
            <a:endParaRPr sz="1500">
              <a:solidFill>
                <a:schemeClr val="accent1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500">
                <a:latin typeface="Kosugi Maru"/>
                <a:ea typeface="Kosugi Maru"/>
                <a:cs typeface="Kosugi Maru"/>
                <a:sym typeface="Kosugi Maru"/>
              </a:rPr>
              <a:t>　＜投資系＞</a:t>
            </a:r>
            <a:endParaRPr sz="1500"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1500">
                <a:latin typeface="Kosugi Maru"/>
                <a:ea typeface="Kosugi Maru"/>
                <a:cs typeface="Kosugi Maru"/>
                <a:sym typeface="Kosugi Maru"/>
              </a:rPr>
              <a:t>　　ある程度結果が出る</a:t>
            </a:r>
            <a:endParaRPr sz="1500"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1500">
                <a:latin typeface="Kosugi Maru"/>
                <a:ea typeface="Kosugi Maru"/>
                <a:cs typeface="Kosugi Maru"/>
                <a:sym typeface="Kosugi Maru"/>
              </a:rPr>
              <a:t>　　「あとは自分で伸ばしていける」</a:t>
            </a:r>
            <a:endParaRPr sz="1500"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500">
                <a:latin typeface="Kosugi Maru"/>
                <a:ea typeface="Kosugi Maru"/>
                <a:cs typeface="Kosugi Maru"/>
                <a:sym typeface="Kosugi Maru"/>
              </a:rPr>
              <a:t>　　と考えてサービス利用を終了する</a:t>
            </a:r>
            <a:endParaRPr sz="1500"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500">
                <a:latin typeface="Kosugi Maru"/>
                <a:ea typeface="Kosugi Maru"/>
                <a:cs typeface="Kosugi Maru"/>
                <a:sym typeface="Kosugi Maru"/>
              </a:rPr>
              <a:t>	→</a:t>
            </a:r>
            <a:r>
              <a:rPr lang="ja" sz="1500">
                <a:solidFill>
                  <a:schemeClr val="accent1"/>
                </a:solidFill>
                <a:latin typeface="Kosugi Maru"/>
                <a:ea typeface="Kosugi Maru"/>
                <a:cs typeface="Kosugi Maru"/>
                <a:sym typeface="Kosugi Maru"/>
              </a:rPr>
              <a:t>また集客が必要</a:t>
            </a:r>
            <a:endParaRPr sz="1500">
              <a:solidFill>
                <a:schemeClr val="accent1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500">
                <a:latin typeface="Kosugi Maru"/>
                <a:ea typeface="Kosugi Maru"/>
                <a:cs typeface="Kosugi Maru"/>
                <a:sym typeface="Kosugi Maru"/>
              </a:rPr>
              <a:t>・平均的なサービスは半年〜1年単位</a:t>
            </a:r>
            <a:endParaRPr sz="1500"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500">
                <a:latin typeface="Kosugi Maru"/>
                <a:ea typeface="Kosugi Maru"/>
                <a:cs typeface="Kosugi Maru"/>
                <a:sym typeface="Kosugi Maru"/>
              </a:rPr>
              <a:t>→そのサイクルでまた新しいお客様獲得、</a:t>
            </a:r>
            <a:endParaRPr sz="1500"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500">
                <a:latin typeface="Kosugi Maru"/>
                <a:ea typeface="Kosugi Maru"/>
                <a:cs typeface="Kosugi Maru"/>
                <a:sym typeface="Kosugi Maru"/>
              </a:rPr>
              <a:t>　信頼関係構築が必要</a:t>
            </a:r>
            <a:endParaRPr sz="1500"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Kosugi Maru"/>
              <a:ea typeface="Kosugi Maru"/>
              <a:cs typeface="Kosugi Maru"/>
              <a:sym typeface="Kosugi Maru"/>
            </a:endParaRPr>
          </a:p>
        </p:txBody>
      </p:sp>
      <p:sp>
        <p:nvSpPr>
          <p:cNvPr id="523" name="Google Shape;523;p64"/>
          <p:cNvSpPr txBox="1"/>
          <p:nvPr/>
        </p:nvSpPr>
        <p:spPr>
          <a:xfrm>
            <a:off x="4894250" y="1487425"/>
            <a:ext cx="4148100" cy="24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1500">
                <a:latin typeface="Kosugi Maru"/>
                <a:ea typeface="Kosugi Maru"/>
                <a:cs typeface="Kosugi Maru"/>
                <a:sym typeface="Kosugi Maru"/>
              </a:rPr>
              <a:t>・</a:t>
            </a:r>
            <a:r>
              <a:rPr lang="ja" sz="1500">
                <a:solidFill>
                  <a:schemeClr val="dk1"/>
                </a:solidFill>
                <a:latin typeface="Kosugi Maru"/>
                <a:ea typeface="Kosugi Maru"/>
                <a:cs typeface="Kosugi Maru"/>
                <a:sym typeface="Kosugi Maru"/>
              </a:rPr>
              <a:t>サポートを</a:t>
            </a:r>
            <a:r>
              <a:rPr b="1" lang="ja" sz="1500">
                <a:solidFill>
                  <a:srgbClr val="EF84C9"/>
                </a:solidFill>
                <a:latin typeface="Kosugi Maru"/>
                <a:ea typeface="Kosugi Maru"/>
                <a:cs typeface="Kosugi Maru"/>
                <a:sym typeface="Kosugi Maru"/>
              </a:rPr>
              <a:t>継続依頼</a:t>
            </a:r>
            <a:r>
              <a:rPr lang="ja" sz="1500">
                <a:solidFill>
                  <a:schemeClr val="dk1"/>
                </a:solidFill>
                <a:latin typeface="Kosugi Maru"/>
                <a:ea typeface="Kosugi Maru"/>
                <a:cs typeface="Kosugi Maru"/>
                <a:sym typeface="Kosugi Maru"/>
              </a:rPr>
              <a:t>されるケースが多い</a:t>
            </a:r>
            <a:endParaRPr sz="1500">
              <a:solidFill>
                <a:schemeClr val="dk1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1500">
                <a:latin typeface="Kosugi Maru"/>
                <a:ea typeface="Kosugi Maru"/>
                <a:cs typeface="Kosugi Maru"/>
                <a:sym typeface="Kosugi Maru"/>
              </a:rPr>
              <a:t>・</a:t>
            </a:r>
            <a:r>
              <a:rPr b="1" lang="ja" sz="1500">
                <a:solidFill>
                  <a:srgbClr val="EF84C9"/>
                </a:solidFill>
                <a:latin typeface="Kosugi Maru"/>
                <a:ea typeface="Kosugi Maru"/>
                <a:cs typeface="Kosugi Maru"/>
                <a:sym typeface="Kosugi Maru"/>
              </a:rPr>
              <a:t>年齢や成長と共に次のステップ</a:t>
            </a:r>
            <a:r>
              <a:rPr lang="ja" sz="1500">
                <a:solidFill>
                  <a:schemeClr val="dk1"/>
                </a:solidFill>
                <a:latin typeface="Kosugi Maru"/>
                <a:ea typeface="Kosugi Maru"/>
                <a:cs typeface="Kosugi Maru"/>
                <a:sym typeface="Kosugi Maru"/>
              </a:rPr>
              <a:t>がある</a:t>
            </a:r>
            <a:endParaRPr sz="1500">
              <a:solidFill>
                <a:schemeClr val="dk1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500">
                <a:latin typeface="Kosugi Maru"/>
                <a:ea typeface="Kosugi Maru"/>
                <a:cs typeface="Kosugi Maru"/>
                <a:sym typeface="Kosugi Maru"/>
              </a:rPr>
              <a:t>→</a:t>
            </a:r>
            <a:r>
              <a:rPr lang="ja" sz="1500">
                <a:latin typeface="Kosugi Maru"/>
                <a:ea typeface="Kosugi Maru"/>
                <a:cs typeface="Kosugi Maru"/>
                <a:sym typeface="Kosugi Maru"/>
              </a:rPr>
              <a:t>「これだけ知ったから後は自分でやろう」</a:t>
            </a:r>
            <a:endParaRPr sz="1500"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500">
                <a:latin typeface="Kosugi Maru"/>
                <a:ea typeface="Kosugi Maru"/>
                <a:cs typeface="Kosugi Maru"/>
                <a:sym typeface="Kosugi Maru"/>
              </a:rPr>
              <a:t>	とはならない！！</a:t>
            </a:r>
            <a:endParaRPr sz="1500"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1500">
                <a:latin typeface="Kosugi Maru"/>
                <a:ea typeface="Kosugi Maru"/>
                <a:cs typeface="Kosugi Maru"/>
                <a:sym typeface="Kosugi Maru"/>
              </a:rPr>
              <a:t>・メソッドの効果を実感したママは年齢や</a:t>
            </a:r>
            <a:endParaRPr sz="1500"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1500">
                <a:latin typeface="Kosugi Maru"/>
                <a:ea typeface="Kosugi Maru"/>
                <a:cs typeface="Kosugi Maru"/>
                <a:sym typeface="Kosugi Maru"/>
              </a:rPr>
              <a:t>　成長に合わせた次のｽﾃｯﾌﾟを知りたくなる</a:t>
            </a:r>
            <a:endParaRPr sz="1500"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1500">
                <a:latin typeface="Kosugi Maru"/>
                <a:ea typeface="Kosugi Maru"/>
                <a:cs typeface="Kosugi Maru"/>
                <a:sym typeface="Kosugi Maru"/>
              </a:rPr>
              <a:t>・</a:t>
            </a:r>
            <a:r>
              <a:rPr b="1" lang="ja" sz="1500">
                <a:solidFill>
                  <a:srgbClr val="EF84C9"/>
                </a:solidFill>
                <a:latin typeface="Kosugi Maru"/>
                <a:ea typeface="Kosugi Maru"/>
                <a:cs typeface="Kosugi Maru"/>
                <a:sym typeface="Kosugi Maru"/>
              </a:rPr>
              <a:t>長く続けるほど</a:t>
            </a:r>
            <a:r>
              <a:rPr lang="ja" sz="1500">
                <a:latin typeface="Kosugi Maru"/>
                <a:ea typeface="Kosugi Maru"/>
                <a:cs typeface="Kosugi Maru"/>
                <a:sym typeface="Kosugi Maru"/>
              </a:rPr>
              <a:t>子どもの育てやすさが</a:t>
            </a:r>
            <a:endParaRPr sz="1500"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500">
                <a:latin typeface="Kosugi Maru"/>
                <a:ea typeface="Kosugi Maru"/>
                <a:cs typeface="Kosugi Maru"/>
                <a:sym typeface="Kosugi Maru"/>
              </a:rPr>
              <a:t>　</a:t>
            </a:r>
            <a:r>
              <a:rPr b="1" lang="ja" sz="1500">
                <a:solidFill>
                  <a:srgbClr val="EF84C9"/>
                </a:solidFill>
                <a:latin typeface="Kosugi Maru"/>
                <a:ea typeface="Kosugi Maru"/>
                <a:cs typeface="Kosugi Maru"/>
                <a:sym typeface="Kosugi Maru"/>
              </a:rPr>
              <a:t>加速度的にUP</a:t>
            </a:r>
            <a:r>
              <a:rPr lang="ja" sz="1500">
                <a:latin typeface="Kosugi Maru"/>
                <a:ea typeface="Kosugi Maru"/>
                <a:cs typeface="Kosugi Maru"/>
                <a:sym typeface="Kosugi Maru"/>
              </a:rPr>
              <a:t>→</a:t>
            </a:r>
            <a:r>
              <a:rPr b="1" lang="ja" sz="1500">
                <a:solidFill>
                  <a:srgbClr val="EF84C9"/>
                </a:solidFill>
                <a:latin typeface="Kosugi Maru"/>
                <a:ea typeface="Kosugi Maru"/>
                <a:cs typeface="Kosugi Maru"/>
                <a:sym typeface="Kosugi Maru"/>
              </a:rPr>
              <a:t>長年に渡り感謝の声</a:t>
            </a:r>
            <a:endParaRPr b="1" sz="1500">
              <a:solidFill>
                <a:srgbClr val="EF84C9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1500">
                <a:latin typeface="Kosugi Maru"/>
                <a:ea typeface="Kosugi Maru"/>
                <a:cs typeface="Kosugi Maru"/>
                <a:sym typeface="Kosugi Maru"/>
              </a:rPr>
              <a:t>→そのご家庭が</a:t>
            </a:r>
            <a:r>
              <a:rPr b="1" lang="ja" sz="1500">
                <a:solidFill>
                  <a:srgbClr val="EF84C9"/>
                </a:solidFill>
                <a:latin typeface="Kosugi Maru"/>
                <a:ea typeface="Kosugi Maru"/>
                <a:cs typeface="Kosugi Maru"/>
                <a:sym typeface="Kosugi Maru"/>
              </a:rPr>
              <a:t>口コミでご新規様を呼び込む</a:t>
            </a:r>
            <a:endParaRPr b="1" sz="1500">
              <a:solidFill>
                <a:srgbClr val="EF84C9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  <p:pic>
        <p:nvPicPr>
          <p:cNvPr id="524" name="Google Shape;524;p6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99625" y="4357375"/>
            <a:ext cx="859151" cy="786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25" name="Google Shape;525;p6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923575" y="4357375"/>
            <a:ext cx="467700" cy="467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26" name="Google Shape;526;p6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332200" y="4568850"/>
            <a:ext cx="524375" cy="524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27" name="Google Shape;527;p6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594400" y="4272275"/>
            <a:ext cx="1641900" cy="820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28" name="Google Shape;528;p64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596675" y="4097562"/>
            <a:ext cx="1013475" cy="987325"/>
          </a:xfrm>
          <a:prstGeom prst="rect">
            <a:avLst/>
          </a:prstGeom>
          <a:noFill/>
          <a:ln>
            <a:noFill/>
          </a:ln>
        </p:spPr>
      </p:pic>
      <p:sp>
        <p:nvSpPr>
          <p:cNvPr id="529" name="Google Shape;529;p64"/>
          <p:cNvSpPr/>
          <p:nvPr/>
        </p:nvSpPr>
        <p:spPr>
          <a:xfrm>
            <a:off x="7336825" y="4529825"/>
            <a:ext cx="293100" cy="2010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3" name="Shape 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Google Shape;534;p65"/>
          <p:cNvSpPr txBox="1"/>
          <p:nvPr/>
        </p:nvSpPr>
        <p:spPr>
          <a:xfrm>
            <a:off x="25" y="342613"/>
            <a:ext cx="91440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" sz="3200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育脳子育てカウンセラーの魅力</a:t>
            </a:r>
            <a:endParaRPr sz="3200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  <p:cxnSp>
        <p:nvCxnSpPr>
          <p:cNvPr id="535" name="Google Shape;535;p65"/>
          <p:cNvCxnSpPr/>
          <p:nvPr/>
        </p:nvCxnSpPr>
        <p:spPr>
          <a:xfrm>
            <a:off x="828450" y="976525"/>
            <a:ext cx="7487100" cy="0"/>
          </a:xfrm>
          <a:prstGeom prst="straightConnector1">
            <a:avLst/>
          </a:prstGeom>
          <a:noFill/>
          <a:ln cap="flat" cmpd="sng" w="28575">
            <a:solidFill>
              <a:srgbClr val="EF84C9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36" name="Google Shape;536;p65"/>
          <p:cNvSpPr txBox="1"/>
          <p:nvPr/>
        </p:nvSpPr>
        <p:spPr>
          <a:xfrm>
            <a:off x="1057200" y="2020200"/>
            <a:ext cx="7966800" cy="1386600"/>
          </a:xfrm>
          <a:prstGeom prst="rect">
            <a:avLst/>
          </a:prstGeom>
          <a:noFill/>
          <a:ln>
            <a:noFill/>
          </a:ln>
        </p:spPr>
        <p:txBody>
          <a:bodyPr anchorCtr="0" anchor="t" bIns="79125" lIns="79125" spcFirstLastPara="1" rIns="79125" wrap="square" tIns="791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" sz="3800">
                <a:solidFill>
                  <a:schemeClr val="dk1"/>
                </a:solidFill>
                <a:latin typeface="Kosugi Maru"/>
                <a:ea typeface="Kosugi Maru"/>
                <a:cs typeface="Kosugi Maru"/>
                <a:sym typeface="Kosugi Maru"/>
              </a:rPr>
              <a:t>その５　</a:t>
            </a:r>
            <a:endParaRPr sz="3600">
              <a:solidFill>
                <a:srgbClr val="EF84C9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" sz="3600">
                <a:solidFill>
                  <a:srgbClr val="EF84C9"/>
                </a:solidFill>
                <a:latin typeface="Kosugi Maru"/>
                <a:ea typeface="Kosugi Maru"/>
                <a:cs typeface="Kosugi Maru"/>
                <a:sym typeface="Kosugi Maru"/>
              </a:rPr>
              <a:t>オンラインで自由な働き方ができる</a:t>
            </a:r>
            <a:endParaRPr b="1" sz="3600">
              <a:solidFill>
                <a:srgbClr val="EF84C9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0" name="Shape 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66"/>
          <p:cNvSpPr txBox="1"/>
          <p:nvPr/>
        </p:nvSpPr>
        <p:spPr>
          <a:xfrm>
            <a:off x="25" y="342613"/>
            <a:ext cx="91440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" sz="3200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育脳子育てカウンセラーの魅力</a:t>
            </a:r>
            <a:endParaRPr sz="3200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  <p:cxnSp>
        <p:nvCxnSpPr>
          <p:cNvPr id="542" name="Google Shape;542;p66"/>
          <p:cNvCxnSpPr/>
          <p:nvPr/>
        </p:nvCxnSpPr>
        <p:spPr>
          <a:xfrm>
            <a:off x="828450" y="976525"/>
            <a:ext cx="7487100" cy="0"/>
          </a:xfrm>
          <a:prstGeom prst="straightConnector1">
            <a:avLst/>
          </a:prstGeom>
          <a:noFill/>
          <a:ln cap="flat" cmpd="sng" w="28575">
            <a:solidFill>
              <a:srgbClr val="EF84C9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43" name="Google Shape;543;p66"/>
          <p:cNvSpPr txBox="1"/>
          <p:nvPr/>
        </p:nvSpPr>
        <p:spPr>
          <a:xfrm>
            <a:off x="327500" y="1019725"/>
            <a:ext cx="3978300" cy="467700"/>
          </a:xfrm>
          <a:prstGeom prst="rect">
            <a:avLst/>
          </a:prstGeom>
          <a:noFill/>
          <a:ln>
            <a:noFill/>
          </a:ln>
        </p:spPr>
        <p:txBody>
          <a:bodyPr anchorCtr="0" anchor="t" bIns="79125" lIns="79125" spcFirstLastPara="1" rIns="79125" wrap="square" tIns="791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" sz="2000" u="sng">
                <a:solidFill>
                  <a:schemeClr val="dk1"/>
                </a:solidFill>
                <a:latin typeface="Kosugi Maru"/>
                <a:ea typeface="Kosugi Maru"/>
                <a:cs typeface="Kosugi Maru"/>
                <a:sym typeface="Kosugi Maru"/>
              </a:rPr>
              <a:t>オンライン化できない仕事</a:t>
            </a:r>
            <a:endParaRPr sz="2300" u="sng">
              <a:solidFill>
                <a:schemeClr val="dk1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  <p:sp>
        <p:nvSpPr>
          <p:cNvPr id="544" name="Google Shape;544;p66"/>
          <p:cNvSpPr txBox="1"/>
          <p:nvPr/>
        </p:nvSpPr>
        <p:spPr>
          <a:xfrm>
            <a:off x="4894250" y="1019725"/>
            <a:ext cx="3872400" cy="467700"/>
          </a:xfrm>
          <a:prstGeom prst="rect">
            <a:avLst/>
          </a:prstGeom>
          <a:noFill/>
          <a:ln>
            <a:noFill/>
          </a:ln>
        </p:spPr>
        <p:txBody>
          <a:bodyPr anchorCtr="0" anchor="t" bIns="79125" lIns="79125" spcFirstLastPara="1" rIns="79125" wrap="square" tIns="791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" sz="2000" u="sng">
                <a:solidFill>
                  <a:schemeClr val="dk1"/>
                </a:solidFill>
                <a:latin typeface="Kosugi Maru"/>
                <a:ea typeface="Kosugi Maru"/>
                <a:cs typeface="Kosugi Maru"/>
                <a:sym typeface="Kosugi Maru"/>
              </a:rPr>
              <a:t>育脳子育てカウンセラー</a:t>
            </a:r>
            <a:endParaRPr sz="2000" u="sng">
              <a:solidFill>
                <a:schemeClr val="dk1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  <p:sp>
        <p:nvSpPr>
          <p:cNvPr id="545" name="Google Shape;545;p66"/>
          <p:cNvSpPr txBox="1"/>
          <p:nvPr/>
        </p:nvSpPr>
        <p:spPr>
          <a:xfrm>
            <a:off x="386375" y="1487425"/>
            <a:ext cx="3872400" cy="295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500">
                <a:latin typeface="Kosugi Maru"/>
                <a:ea typeface="Kosugi Maru"/>
                <a:cs typeface="Kosugi Maru"/>
                <a:sym typeface="Kosugi Maru"/>
              </a:rPr>
              <a:t>・自由な働き方ができない</a:t>
            </a:r>
            <a:endParaRPr sz="1500"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500">
                <a:latin typeface="Kosugi Maru"/>
                <a:ea typeface="Kosugi Maru"/>
                <a:cs typeface="Kosugi Maru"/>
                <a:sym typeface="Kosugi Maru"/>
              </a:rPr>
              <a:t>・</a:t>
            </a:r>
            <a:r>
              <a:rPr b="1" lang="ja" sz="1500">
                <a:solidFill>
                  <a:schemeClr val="accent1"/>
                </a:solidFill>
                <a:latin typeface="Kosugi Maru"/>
                <a:ea typeface="Kosugi Maru"/>
                <a:cs typeface="Kosugi Maru"/>
                <a:sym typeface="Kosugi Maru"/>
              </a:rPr>
              <a:t>時間も場所も拘束される</a:t>
            </a:r>
            <a:endParaRPr b="1" sz="1500">
              <a:solidFill>
                <a:schemeClr val="accent1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1500">
                <a:latin typeface="Kosugi Maru"/>
                <a:ea typeface="Kosugi Maru"/>
                <a:cs typeface="Kosugi Maru"/>
                <a:sym typeface="Kosugi Maru"/>
              </a:rPr>
              <a:t>・</a:t>
            </a:r>
            <a:r>
              <a:rPr lang="ja" sz="1500">
                <a:solidFill>
                  <a:schemeClr val="accent1"/>
                </a:solidFill>
                <a:latin typeface="Kosugi Maru"/>
                <a:ea typeface="Kosugi Maru"/>
                <a:cs typeface="Kosugi Maru"/>
                <a:sym typeface="Kosugi Maru"/>
              </a:rPr>
              <a:t>移動が必須</a:t>
            </a:r>
            <a:r>
              <a:rPr lang="ja" sz="1500">
                <a:latin typeface="Kosugi Maru"/>
                <a:ea typeface="Kosugi Maru"/>
                <a:cs typeface="Kosugi Maru"/>
                <a:sym typeface="Kosugi Maru"/>
              </a:rPr>
              <a:t>だから、コロナやインフル</a:t>
            </a:r>
            <a:endParaRPr sz="1500"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500">
                <a:latin typeface="Kosugi Maru"/>
                <a:ea typeface="Kosugi Maru"/>
                <a:cs typeface="Kosugi Maru"/>
                <a:sym typeface="Kosugi Maru"/>
              </a:rPr>
              <a:t>　をもらう可能性も上がる</a:t>
            </a:r>
            <a:endParaRPr sz="1500"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500">
                <a:latin typeface="Kosugi Maru"/>
                <a:ea typeface="Kosugi Maru"/>
                <a:cs typeface="Kosugi Maru"/>
                <a:sym typeface="Kosugi Maru"/>
              </a:rPr>
              <a:t>→大変なママ、病気に弱いお子様に</a:t>
            </a:r>
            <a:endParaRPr sz="1500"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500">
                <a:latin typeface="Kosugi Maru"/>
                <a:ea typeface="Kosugi Maru"/>
                <a:cs typeface="Kosugi Maru"/>
                <a:sym typeface="Kosugi Maru"/>
              </a:rPr>
              <a:t>　</a:t>
            </a:r>
            <a:r>
              <a:rPr lang="ja" sz="1500">
                <a:solidFill>
                  <a:schemeClr val="accent1"/>
                </a:solidFill>
                <a:latin typeface="Kosugi Maru"/>
                <a:ea typeface="Kosugi Maru"/>
                <a:cs typeface="Kosugi Maru"/>
                <a:sym typeface="Kosugi Maru"/>
              </a:rPr>
              <a:t>病気を運んでしまう可能性あり</a:t>
            </a:r>
            <a:endParaRPr sz="1500">
              <a:solidFill>
                <a:schemeClr val="accent1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500"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500">
                <a:latin typeface="Kosugi Maru"/>
                <a:ea typeface="Kosugi Maru"/>
                <a:cs typeface="Kosugi Maru"/>
                <a:sym typeface="Kosugi Maru"/>
              </a:rPr>
              <a:t>・</a:t>
            </a:r>
            <a:r>
              <a:rPr lang="ja" sz="1500">
                <a:solidFill>
                  <a:schemeClr val="accent1"/>
                </a:solidFill>
                <a:latin typeface="Kosugi Maru"/>
                <a:ea typeface="Kosugi Maru"/>
                <a:cs typeface="Kosugi Maru"/>
                <a:sym typeface="Kosugi Maru"/>
              </a:rPr>
              <a:t>緊急対応</a:t>
            </a:r>
            <a:r>
              <a:rPr lang="ja" sz="1500">
                <a:latin typeface="Kosugi Maru"/>
                <a:ea typeface="Kosugi Maru"/>
                <a:cs typeface="Kosugi Maru"/>
                <a:sym typeface="Kosugi Maru"/>
              </a:rPr>
              <a:t>が必要な時にサポートが</a:t>
            </a:r>
            <a:r>
              <a:rPr lang="ja" sz="1500">
                <a:solidFill>
                  <a:schemeClr val="accent1"/>
                </a:solidFill>
                <a:latin typeface="Kosugi Maru"/>
                <a:ea typeface="Kosugi Maru"/>
                <a:cs typeface="Kosugi Maru"/>
                <a:sym typeface="Kosugi Maru"/>
              </a:rPr>
              <a:t>難しい</a:t>
            </a:r>
            <a:endParaRPr sz="1500">
              <a:solidFill>
                <a:schemeClr val="accent1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1500">
                <a:latin typeface="Kosugi Maru"/>
                <a:ea typeface="Kosugi Maru"/>
                <a:cs typeface="Kosugi Maru"/>
                <a:sym typeface="Kosugi Maru"/>
              </a:rPr>
              <a:t>・制約やリスクが多く</a:t>
            </a:r>
            <a:r>
              <a:rPr lang="ja" sz="1500">
                <a:solidFill>
                  <a:schemeClr val="accent1"/>
                </a:solidFill>
                <a:latin typeface="Kosugi Maru"/>
                <a:ea typeface="Kosugi Maru"/>
                <a:cs typeface="Kosugi Maru"/>
                <a:sym typeface="Kosugi Maru"/>
              </a:rPr>
              <a:t>自由な働き方が</a:t>
            </a:r>
            <a:endParaRPr sz="1500">
              <a:solidFill>
                <a:schemeClr val="accent1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500">
                <a:solidFill>
                  <a:schemeClr val="accent1"/>
                </a:solidFill>
                <a:latin typeface="Kosugi Maru"/>
                <a:ea typeface="Kosugi Maru"/>
                <a:cs typeface="Kosugi Maru"/>
                <a:sym typeface="Kosugi Maru"/>
              </a:rPr>
              <a:t>　難しい</a:t>
            </a:r>
            <a:endParaRPr sz="1500">
              <a:solidFill>
                <a:schemeClr val="accent1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Kosugi Maru"/>
              <a:ea typeface="Kosugi Maru"/>
              <a:cs typeface="Kosugi Maru"/>
              <a:sym typeface="Kosugi Maru"/>
            </a:endParaRPr>
          </a:p>
        </p:txBody>
      </p:sp>
      <p:sp>
        <p:nvSpPr>
          <p:cNvPr id="546" name="Google Shape;546;p66"/>
          <p:cNvSpPr txBox="1"/>
          <p:nvPr/>
        </p:nvSpPr>
        <p:spPr>
          <a:xfrm>
            <a:off x="4894250" y="1487425"/>
            <a:ext cx="4148100" cy="295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1500">
                <a:latin typeface="Kosugi Maru"/>
                <a:ea typeface="Kosugi Maru"/>
                <a:cs typeface="Kosugi Maru"/>
                <a:sym typeface="Kosugi Maru"/>
              </a:rPr>
              <a:t>・</a:t>
            </a:r>
            <a:r>
              <a:rPr b="1" lang="ja" sz="1500">
                <a:solidFill>
                  <a:srgbClr val="EF84C9"/>
                </a:solidFill>
                <a:latin typeface="Kosugi Maru"/>
                <a:ea typeface="Kosugi Maru"/>
                <a:cs typeface="Kosugi Maru"/>
                <a:sym typeface="Kosugi Maru"/>
              </a:rPr>
              <a:t>オンライン</a:t>
            </a:r>
            <a:r>
              <a:rPr lang="ja" sz="1500">
                <a:latin typeface="Kosugi Maru"/>
                <a:ea typeface="Kosugi Maru"/>
                <a:cs typeface="Kosugi Maru"/>
                <a:sym typeface="Kosugi Maru"/>
              </a:rPr>
              <a:t>でも可能</a:t>
            </a:r>
            <a:endParaRPr sz="1500"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500"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500">
                <a:latin typeface="Kosugi Maru"/>
                <a:ea typeface="Kosugi Maru"/>
                <a:cs typeface="Kosugi Maru"/>
                <a:sym typeface="Kosugi Maru"/>
              </a:rPr>
              <a:t>・画面を通してお悩み相談が可能</a:t>
            </a:r>
            <a:endParaRPr sz="1500"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500">
                <a:latin typeface="Kosugi Maru"/>
                <a:ea typeface="Kosugi Maru"/>
                <a:cs typeface="Kosugi Maru"/>
                <a:sym typeface="Kosugi Maru"/>
              </a:rPr>
              <a:t>・育脳メソッドは</a:t>
            </a:r>
            <a:r>
              <a:rPr b="1" lang="ja" sz="1500">
                <a:solidFill>
                  <a:srgbClr val="EF84C9"/>
                </a:solidFill>
                <a:latin typeface="Kosugi Maru"/>
                <a:ea typeface="Kosugi Maru"/>
                <a:cs typeface="Kosugi Maru"/>
                <a:sym typeface="Kosugi Maru"/>
              </a:rPr>
              <a:t>全てオンラインで指導可能</a:t>
            </a:r>
            <a:endParaRPr b="1" sz="1500">
              <a:solidFill>
                <a:srgbClr val="EF84C9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1500">
                <a:latin typeface="Kosugi Maru"/>
                <a:ea typeface="Kosugi Maru"/>
                <a:cs typeface="Kosugi Maru"/>
                <a:sym typeface="Kosugi Maru"/>
              </a:rPr>
              <a:t>・触れ合いが絡む内容は動画で学習、</a:t>
            </a:r>
            <a:endParaRPr sz="1500"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1500">
                <a:latin typeface="Kosugi Maru"/>
                <a:ea typeface="Kosugi Maru"/>
                <a:cs typeface="Kosugi Maru"/>
                <a:sym typeface="Kosugi Maru"/>
              </a:rPr>
              <a:t>　復習が可能</a:t>
            </a:r>
            <a:endParaRPr sz="1500"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1500">
                <a:latin typeface="Kosugi Maru"/>
                <a:ea typeface="Kosugi Maru"/>
                <a:cs typeface="Kosugi Maru"/>
                <a:sym typeface="Kosugi Maru"/>
              </a:rPr>
              <a:t>→</a:t>
            </a:r>
            <a:r>
              <a:rPr b="1" lang="ja" sz="1500">
                <a:solidFill>
                  <a:srgbClr val="EF84C9"/>
                </a:solidFill>
                <a:latin typeface="Kosugi Maru"/>
                <a:ea typeface="Kosugi Maru"/>
                <a:cs typeface="Kosugi Maru"/>
                <a:sym typeface="Kosugi Maru"/>
              </a:rPr>
              <a:t>時間や働く場所に制限を受けない</a:t>
            </a:r>
            <a:endParaRPr b="1" sz="1500">
              <a:solidFill>
                <a:srgbClr val="EF84C9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500"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1500">
                <a:latin typeface="Kosugi Maru"/>
                <a:ea typeface="Kosugi Maru"/>
                <a:cs typeface="Kosugi Maru"/>
                <a:sym typeface="Kosugi Maru"/>
              </a:rPr>
              <a:t>・</a:t>
            </a:r>
            <a:r>
              <a:rPr b="1" lang="ja" sz="1500">
                <a:solidFill>
                  <a:srgbClr val="EF84C9"/>
                </a:solidFill>
                <a:latin typeface="Kosugi Maru"/>
                <a:ea typeface="Kosugi Maru"/>
                <a:cs typeface="Kosugi Maru"/>
                <a:sym typeface="Kosugi Maru"/>
              </a:rPr>
              <a:t>移動や対面がないので病気を運ぶ</a:t>
            </a:r>
            <a:endParaRPr b="1" sz="1500">
              <a:solidFill>
                <a:srgbClr val="EF84C9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ja" sz="1500">
                <a:solidFill>
                  <a:srgbClr val="EF84C9"/>
                </a:solidFill>
                <a:latin typeface="Kosugi Maru"/>
                <a:ea typeface="Kosugi Maru"/>
                <a:cs typeface="Kosugi Maru"/>
                <a:sym typeface="Kosugi Maru"/>
              </a:rPr>
              <a:t>　リスクなし</a:t>
            </a:r>
            <a:endParaRPr b="1" sz="1500">
              <a:solidFill>
                <a:srgbClr val="EF84C9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Kosugi Maru"/>
              <a:ea typeface="Kosugi Maru"/>
              <a:cs typeface="Kosugi Maru"/>
              <a:sym typeface="Kosugi Maru"/>
            </a:endParaRPr>
          </a:p>
        </p:txBody>
      </p:sp>
      <p:pic>
        <p:nvPicPr>
          <p:cNvPr id="547" name="Google Shape;547;p6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87000" y="3961000"/>
            <a:ext cx="2171800" cy="1142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48" name="Google Shape;548;p6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79800" y="3909925"/>
            <a:ext cx="2762551" cy="1193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3" name="Shape 5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4" name="Google Shape;554;p67"/>
          <p:cNvSpPr txBox="1"/>
          <p:nvPr>
            <p:ph idx="12" type="sldNum"/>
          </p:nvPr>
        </p:nvSpPr>
        <p:spPr>
          <a:xfrm>
            <a:off x="6457951" y="4767264"/>
            <a:ext cx="2057400" cy="273900"/>
          </a:xfrm>
          <a:prstGeom prst="rect">
            <a:avLst/>
          </a:prstGeom>
        </p:spPr>
        <p:txBody>
          <a:bodyPr anchorCtr="0" anchor="ctr" bIns="39550" lIns="79125" spcFirstLastPara="1" rIns="79125" wrap="square" tIns="3955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  <p:sp>
        <p:nvSpPr>
          <p:cNvPr id="555" name="Google Shape;555;p67"/>
          <p:cNvSpPr txBox="1"/>
          <p:nvPr>
            <p:ph idx="11" type="ftr"/>
          </p:nvPr>
        </p:nvSpPr>
        <p:spPr>
          <a:xfrm>
            <a:off x="3028973" y="4817889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>
                <a:latin typeface="M PLUS Rounded 1c Light"/>
                <a:ea typeface="M PLUS Rounded 1c Light"/>
                <a:cs typeface="M PLUS Rounded 1c Light"/>
                <a:sym typeface="M PLUS Rounded 1c Light"/>
              </a:rPr>
              <a:t>©︎2025日本ママアカデミー協会</a:t>
            </a:r>
            <a:endParaRPr>
              <a:latin typeface="M PLUS Rounded 1c Light"/>
              <a:ea typeface="M PLUS Rounded 1c Light"/>
              <a:cs typeface="M PLUS Rounded 1c Light"/>
              <a:sym typeface="M PLUS Rounded 1c Light"/>
            </a:endParaRPr>
          </a:p>
        </p:txBody>
      </p:sp>
      <p:sp>
        <p:nvSpPr>
          <p:cNvPr id="556" name="Google Shape;556;p67"/>
          <p:cNvSpPr txBox="1"/>
          <p:nvPr/>
        </p:nvSpPr>
        <p:spPr>
          <a:xfrm>
            <a:off x="1555575" y="641100"/>
            <a:ext cx="6535500" cy="372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 sz="3000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ここまでの気づきを</a:t>
            </a:r>
            <a:endParaRPr sz="3000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 sz="3000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アウトプットしましょう！</a:t>
            </a:r>
            <a:endParaRPr sz="3000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3000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 sz="3000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Zoomのチャットにてご記入</a:t>
            </a:r>
            <a:endParaRPr sz="3000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 sz="3000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お願いします。</a:t>
            </a:r>
            <a:endParaRPr sz="3000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2500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①育脳について初耳の知識があった</a:t>
            </a:r>
            <a:endParaRPr sz="2500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2500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②５つの魅力の中に気になるものがあった</a:t>
            </a:r>
            <a:endParaRPr sz="2500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1" name="Shape 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2" name="Google Shape;562;p68"/>
          <p:cNvSpPr txBox="1"/>
          <p:nvPr>
            <p:ph idx="12" type="sldNum"/>
          </p:nvPr>
        </p:nvSpPr>
        <p:spPr>
          <a:xfrm>
            <a:off x="6457951" y="4767264"/>
            <a:ext cx="2057400" cy="273900"/>
          </a:xfrm>
          <a:prstGeom prst="rect">
            <a:avLst/>
          </a:prstGeom>
        </p:spPr>
        <p:txBody>
          <a:bodyPr anchorCtr="0" anchor="ctr" bIns="39550" lIns="79125" spcFirstLastPara="1" rIns="79125" wrap="square" tIns="3955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  <p:sp>
        <p:nvSpPr>
          <p:cNvPr id="563" name="Google Shape;563;p68"/>
          <p:cNvSpPr txBox="1"/>
          <p:nvPr>
            <p:ph idx="11" type="ftr"/>
          </p:nvPr>
        </p:nvSpPr>
        <p:spPr>
          <a:xfrm>
            <a:off x="3028973" y="4817889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>
                <a:latin typeface="M PLUS Rounded 1c Light"/>
                <a:ea typeface="M PLUS Rounded 1c Light"/>
                <a:cs typeface="M PLUS Rounded 1c Light"/>
                <a:sym typeface="M PLUS Rounded 1c Light"/>
              </a:rPr>
              <a:t>©︎2025日本ママアカデミー協会</a:t>
            </a:r>
            <a:endParaRPr>
              <a:latin typeface="M PLUS Rounded 1c Light"/>
              <a:ea typeface="M PLUS Rounded 1c Light"/>
              <a:cs typeface="M PLUS Rounded 1c Light"/>
              <a:sym typeface="M PLUS Rounded 1c Light"/>
            </a:endParaRPr>
          </a:p>
        </p:txBody>
      </p:sp>
      <p:sp>
        <p:nvSpPr>
          <p:cNvPr id="564" name="Google Shape;564;p68"/>
          <p:cNvSpPr txBox="1"/>
          <p:nvPr/>
        </p:nvSpPr>
        <p:spPr>
          <a:xfrm>
            <a:off x="1639350" y="1227475"/>
            <a:ext cx="6535500" cy="217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 sz="3000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ここで少し私のこれまでの</a:t>
            </a:r>
            <a:endParaRPr sz="3000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 sz="3900">
                <a:solidFill>
                  <a:srgbClr val="EF84C9"/>
                </a:solidFill>
                <a:latin typeface="Kosugi Maru"/>
                <a:ea typeface="Kosugi Maru"/>
                <a:cs typeface="Kosugi Maru"/>
                <a:sym typeface="Kosugi Maru"/>
              </a:rPr>
              <a:t>"あゆみ"</a:t>
            </a:r>
            <a:endParaRPr sz="3900">
              <a:solidFill>
                <a:srgbClr val="EF84C9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 sz="3000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をお話させてください</a:t>
            </a:r>
            <a:endParaRPr sz="3000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9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" name="Google Shape;570;p69"/>
          <p:cNvSpPr txBox="1"/>
          <p:nvPr>
            <p:ph idx="12" type="sldNum"/>
          </p:nvPr>
        </p:nvSpPr>
        <p:spPr>
          <a:xfrm>
            <a:off x="6457951" y="4767264"/>
            <a:ext cx="2057400" cy="273900"/>
          </a:xfrm>
          <a:prstGeom prst="rect">
            <a:avLst/>
          </a:prstGeom>
        </p:spPr>
        <p:txBody>
          <a:bodyPr anchorCtr="0" anchor="ctr" bIns="39550" lIns="79125" spcFirstLastPara="1" rIns="79125" wrap="square" tIns="3955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  <p:sp>
        <p:nvSpPr>
          <p:cNvPr id="571" name="Google Shape;571;p69"/>
          <p:cNvSpPr txBox="1"/>
          <p:nvPr>
            <p:ph idx="11" type="ftr"/>
          </p:nvPr>
        </p:nvSpPr>
        <p:spPr>
          <a:xfrm>
            <a:off x="3028973" y="4817889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>
                <a:latin typeface="M PLUS Rounded 1c Light"/>
                <a:ea typeface="M PLUS Rounded 1c Light"/>
                <a:cs typeface="M PLUS Rounded 1c Light"/>
                <a:sym typeface="M PLUS Rounded 1c Light"/>
              </a:rPr>
              <a:t>©︎2025日本ママアカデミー協会</a:t>
            </a:r>
            <a:endParaRPr>
              <a:latin typeface="M PLUS Rounded 1c Light"/>
              <a:ea typeface="M PLUS Rounded 1c Light"/>
              <a:cs typeface="M PLUS Rounded 1c Light"/>
              <a:sym typeface="M PLUS Rounded 1c Light"/>
            </a:endParaRPr>
          </a:p>
        </p:txBody>
      </p:sp>
      <p:sp>
        <p:nvSpPr>
          <p:cNvPr id="572" name="Google Shape;572;p69"/>
          <p:cNvSpPr txBox="1"/>
          <p:nvPr/>
        </p:nvSpPr>
        <p:spPr>
          <a:xfrm>
            <a:off x="25" y="342613"/>
            <a:ext cx="91440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" sz="3200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元々は専業主婦でした</a:t>
            </a:r>
            <a:endParaRPr sz="3200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  <p:sp>
        <p:nvSpPr>
          <p:cNvPr id="573" name="Google Shape;573;p69"/>
          <p:cNvSpPr txBox="1"/>
          <p:nvPr/>
        </p:nvSpPr>
        <p:spPr>
          <a:xfrm>
            <a:off x="828450" y="1256600"/>
            <a:ext cx="8174100" cy="2675100"/>
          </a:xfrm>
          <a:prstGeom prst="rect">
            <a:avLst/>
          </a:prstGeom>
          <a:noFill/>
          <a:ln>
            <a:noFill/>
          </a:ln>
        </p:spPr>
        <p:txBody>
          <a:bodyPr anchorCtr="0" anchor="t" bIns="79125" lIns="79125" spcFirstLastPara="1" rIns="79125" wrap="square" tIns="791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2600">
                <a:solidFill>
                  <a:schemeClr val="dk1"/>
                </a:solidFill>
                <a:latin typeface="Kosugi Maru"/>
                <a:ea typeface="Kosugi Maru"/>
                <a:cs typeface="Kosugi Maru"/>
                <a:sym typeface="Kosugi Maru"/>
              </a:rPr>
              <a:t>普通の会社員と主婦の一般的な家庭で・・・</a:t>
            </a:r>
            <a:endParaRPr sz="2600">
              <a:solidFill>
                <a:schemeClr val="dk1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rgbClr val="EF84C9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" sz="3000">
                <a:solidFill>
                  <a:srgbClr val="EF84C9"/>
                </a:solidFill>
                <a:latin typeface="Kosugi Maru"/>
                <a:ea typeface="Kosugi Maru"/>
                <a:cs typeface="Kosugi Maru"/>
                <a:sym typeface="Kosugi Maru"/>
              </a:rPr>
              <a:t>長男：医者（医学部卒）</a:t>
            </a:r>
            <a:endParaRPr sz="3000">
              <a:solidFill>
                <a:srgbClr val="EF84C9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" sz="3000">
                <a:solidFill>
                  <a:srgbClr val="EF84C9"/>
                </a:solidFill>
                <a:latin typeface="Kosugi Maru"/>
                <a:ea typeface="Kosugi Maru"/>
                <a:cs typeface="Kosugi Maru"/>
                <a:sym typeface="Kosugi Maru"/>
              </a:rPr>
              <a:t>長女：幼稚園教諭（教育学部卒、特待生）</a:t>
            </a:r>
            <a:endParaRPr sz="3000">
              <a:solidFill>
                <a:srgbClr val="EF84C9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" sz="3000">
                <a:solidFill>
                  <a:srgbClr val="EF84C9"/>
                </a:solidFill>
                <a:latin typeface="Kosugi Maru"/>
                <a:ea typeface="Kosugi Maru"/>
                <a:cs typeface="Kosugi Maru"/>
                <a:sym typeface="Kosugi Maru"/>
              </a:rPr>
              <a:t>次男：</a:t>
            </a:r>
            <a:r>
              <a:rPr lang="ja" sz="3000">
                <a:solidFill>
                  <a:srgbClr val="EF84C9"/>
                </a:solidFill>
                <a:latin typeface="Kosugi Maru"/>
                <a:ea typeface="Kosugi Maru"/>
                <a:cs typeface="Kosugi Maru"/>
                <a:sym typeface="Kosugi Maru"/>
              </a:rPr>
              <a:t>独立行政法人職員（国立大学卒）</a:t>
            </a:r>
            <a:endParaRPr sz="3000">
              <a:solidFill>
                <a:srgbClr val="EF84C9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  <p:cxnSp>
        <p:nvCxnSpPr>
          <p:cNvPr id="574" name="Google Shape;574;p69"/>
          <p:cNvCxnSpPr/>
          <p:nvPr/>
        </p:nvCxnSpPr>
        <p:spPr>
          <a:xfrm>
            <a:off x="828450" y="976525"/>
            <a:ext cx="7487100" cy="0"/>
          </a:xfrm>
          <a:prstGeom prst="straightConnector1">
            <a:avLst/>
          </a:prstGeom>
          <a:noFill/>
          <a:ln cap="flat" cmpd="sng" w="28575">
            <a:solidFill>
              <a:srgbClr val="EF84C9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75" name="Google Shape;575;p69"/>
          <p:cNvSpPr txBox="1"/>
          <p:nvPr/>
        </p:nvSpPr>
        <p:spPr>
          <a:xfrm rot="1025518">
            <a:off x="5353697" y="2436479"/>
            <a:ext cx="3521531" cy="73979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2400">
                <a:solidFill>
                  <a:srgbClr val="434343"/>
                </a:solidFill>
                <a:highlight>
                  <a:srgbClr val="FFF2CC"/>
                </a:highlight>
                <a:latin typeface="Calibri"/>
                <a:ea typeface="Calibri"/>
                <a:cs typeface="Calibri"/>
                <a:sym typeface="Calibri"/>
              </a:rPr>
              <a:t>先ほどお伝えした通り</a:t>
            </a:r>
            <a:endParaRPr sz="2400">
              <a:solidFill>
                <a:srgbClr val="434343"/>
              </a:solidFill>
              <a:highlight>
                <a:srgbClr val="FFF2CC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0" name="Shape 5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1" name="Google Shape;581;p70"/>
          <p:cNvSpPr txBox="1"/>
          <p:nvPr>
            <p:ph idx="12" type="sldNum"/>
          </p:nvPr>
        </p:nvSpPr>
        <p:spPr>
          <a:xfrm>
            <a:off x="6457951" y="4767264"/>
            <a:ext cx="2057400" cy="273900"/>
          </a:xfrm>
          <a:prstGeom prst="rect">
            <a:avLst/>
          </a:prstGeom>
        </p:spPr>
        <p:txBody>
          <a:bodyPr anchorCtr="0" anchor="ctr" bIns="39550" lIns="79125" spcFirstLastPara="1" rIns="79125" wrap="square" tIns="3955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  <p:sp>
        <p:nvSpPr>
          <p:cNvPr id="582" name="Google Shape;582;p70"/>
          <p:cNvSpPr txBox="1"/>
          <p:nvPr>
            <p:ph idx="11" type="ftr"/>
          </p:nvPr>
        </p:nvSpPr>
        <p:spPr>
          <a:xfrm>
            <a:off x="3028973" y="4817889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>
                <a:latin typeface="M PLUS Rounded 1c Light"/>
                <a:ea typeface="M PLUS Rounded 1c Light"/>
                <a:cs typeface="M PLUS Rounded 1c Light"/>
                <a:sym typeface="M PLUS Rounded 1c Light"/>
              </a:rPr>
              <a:t>©︎2025日本ママアカデミー協会</a:t>
            </a:r>
            <a:endParaRPr>
              <a:latin typeface="M PLUS Rounded 1c Light"/>
              <a:ea typeface="M PLUS Rounded 1c Light"/>
              <a:cs typeface="M PLUS Rounded 1c Light"/>
              <a:sym typeface="M PLUS Rounded 1c Light"/>
            </a:endParaRPr>
          </a:p>
        </p:txBody>
      </p:sp>
      <p:sp>
        <p:nvSpPr>
          <p:cNvPr id="583" name="Google Shape;583;p70"/>
          <p:cNvSpPr txBox="1"/>
          <p:nvPr/>
        </p:nvSpPr>
        <p:spPr>
          <a:xfrm>
            <a:off x="25" y="342613"/>
            <a:ext cx="91440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" sz="3200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起業のきっかけ</a:t>
            </a:r>
            <a:endParaRPr sz="3200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  <p:cxnSp>
        <p:nvCxnSpPr>
          <p:cNvPr id="584" name="Google Shape;584;p70"/>
          <p:cNvCxnSpPr/>
          <p:nvPr/>
        </p:nvCxnSpPr>
        <p:spPr>
          <a:xfrm>
            <a:off x="828450" y="976525"/>
            <a:ext cx="7487100" cy="0"/>
          </a:xfrm>
          <a:prstGeom prst="straightConnector1">
            <a:avLst/>
          </a:prstGeom>
          <a:noFill/>
          <a:ln cap="flat" cmpd="sng" w="28575">
            <a:solidFill>
              <a:srgbClr val="EF84C9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85" name="Google Shape;585;p70"/>
          <p:cNvSpPr txBox="1"/>
          <p:nvPr/>
        </p:nvSpPr>
        <p:spPr>
          <a:xfrm>
            <a:off x="1442325" y="2501950"/>
            <a:ext cx="6753600" cy="203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3000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で・・・</a:t>
            </a:r>
            <a:endParaRPr sz="3000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3000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子育てがひと段落したタイミングから</a:t>
            </a:r>
            <a:endParaRPr sz="3000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3000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ベビーマッサージ</a:t>
            </a:r>
            <a:r>
              <a:rPr lang="ja" sz="3000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講師</a:t>
            </a:r>
            <a:r>
              <a:rPr lang="ja" sz="3000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やベビー</a:t>
            </a:r>
            <a:r>
              <a:rPr lang="ja" sz="3000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専門</a:t>
            </a:r>
            <a:r>
              <a:rPr lang="ja" sz="3000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フォト</a:t>
            </a:r>
            <a:r>
              <a:rPr lang="ja" sz="3000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グラファーの仕事を</a:t>
            </a:r>
            <a:r>
              <a:rPr lang="ja" sz="3000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始めました</a:t>
            </a:r>
            <a:endParaRPr sz="3000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  <p:sp>
        <p:nvSpPr>
          <p:cNvPr id="586" name="Google Shape;586;p70"/>
          <p:cNvSpPr txBox="1"/>
          <p:nvPr/>
        </p:nvSpPr>
        <p:spPr>
          <a:xfrm>
            <a:off x="1389300" y="1232688"/>
            <a:ext cx="6753600" cy="98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2600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ある時、長男に言われました</a:t>
            </a:r>
            <a:endParaRPr sz="2600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2600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「なんでお母さん働かないの？」</a:t>
            </a:r>
            <a:endParaRPr sz="2600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1" name="Shape 5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2" name="Google Shape;592;p71"/>
          <p:cNvSpPr txBox="1"/>
          <p:nvPr>
            <p:ph idx="12" type="sldNum"/>
          </p:nvPr>
        </p:nvSpPr>
        <p:spPr>
          <a:xfrm>
            <a:off x="6457951" y="4767264"/>
            <a:ext cx="2057400" cy="273900"/>
          </a:xfrm>
          <a:prstGeom prst="rect">
            <a:avLst/>
          </a:prstGeom>
        </p:spPr>
        <p:txBody>
          <a:bodyPr anchorCtr="0" anchor="ctr" bIns="39550" lIns="79125" spcFirstLastPara="1" rIns="79125" wrap="square" tIns="3955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  <p:sp>
        <p:nvSpPr>
          <p:cNvPr id="593" name="Google Shape;593;p71"/>
          <p:cNvSpPr txBox="1"/>
          <p:nvPr>
            <p:ph idx="11" type="ftr"/>
          </p:nvPr>
        </p:nvSpPr>
        <p:spPr>
          <a:xfrm>
            <a:off x="3028973" y="4817889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>
                <a:latin typeface="M PLUS Rounded 1c Light"/>
                <a:ea typeface="M PLUS Rounded 1c Light"/>
                <a:cs typeface="M PLUS Rounded 1c Light"/>
                <a:sym typeface="M PLUS Rounded 1c Light"/>
              </a:rPr>
              <a:t>©︎2025日本ママアカデミー協会</a:t>
            </a:r>
            <a:endParaRPr>
              <a:latin typeface="M PLUS Rounded 1c Light"/>
              <a:ea typeface="M PLUS Rounded 1c Light"/>
              <a:cs typeface="M PLUS Rounded 1c Light"/>
              <a:sym typeface="M PLUS Rounded 1c Light"/>
            </a:endParaRPr>
          </a:p>
        </p:txBody>
      </p:sp>
      <p:sp>
        <p:nvSpPr>
          <p:cNvPr id="594" name="Google Shape;594;p71"/>
          <p:cNvSpPr txBox="1"/>
          <p:nvPr/>
        </p:nvSpPr>
        <p:spPr>
          <a:xfrm>
            <a:off x="25" y="342613"/>
            <a:ext cx="91440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" sz="3200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ある時、お客様から聞かれました</a:t>
            </a:r>
            <a:endParaRPr sz="3200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  <p:cxnSp>
        <p:nvCxnSpPr>
          <p:cNvPr id="595" name="Google Shape;595;p71"/>
          <p:cNvCxnSpPr/>
          <p:nvPr/>
        </p:nvCxnSpPr>
        <p:spPr>
          <a:xfrm>
            <a:off x="828450" y="976525"/>
            <a:ext cx="7487100" cy="0"/>
          </a:xfrm>
          <a:prstGeom prst="straightConnector1">
            <a:avLst/>
          </a:prstGeom>
          <a:noFill/>
          <a:ln cap="flat" cmpd="sng" w="28575">
            <a:solidFill>
              <a:srgbClr val="EF84C9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96" name="Google Shape;596;p71"/>
          <p:cNvSpPr txBox="1"/>
          <p:nvPr/>
        </p:nvSpPr>
        <p:spPr>
          <a:xfrm>
            <a:off x="1395800" y="1152113"/>
            <a:ext cx="6753600" cy="178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2600">
                <a:solidFill>
                  <a:srgbClr val="EF84C9"/>
                </a:solidFill>
                <a:latin typeface="Kosugi Maru"/>
                <a:ea typeface="Kosugi Maru"/>
                <a:cs typeface="Kosugi Maru"/>
                <a:sym typeface="Kosugi Maru"/>
              </a:rPr>
              <a:t>地元で皆んなが知ってる進学校、</a:t>
            </a:r>
            <a:endParaRPr sz="2600">
              <a:solidFill>
                <a:srgbClr val="EF84C9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2600">
                <a:solidFill>
                  <a:srgbClr val="EF84C9"/>
                </a:solidFill>
                <a:latin typeface="Kosugi Maru"/>
                <a:ea typeface="Kosugi Maru"/>
                <a:cs typeface="Kosugi Maru"/>
                <a:sym typeface="Kosugi Maru"/>
              </a:rPr>
              <a:t>挨拶しっかり＆兄弟の仲もいい</a:t>
            </a:r>
            <a:endParaRPr sz="2600">
              <a:solidFill>
                <a:srgbClr val="EF84C9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00">
              <a:solidFill>
                <a:srgbClr val="EF84C9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2600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そんな子ども達を見たお客様から質問が</a:t>
            </a:r>
            <a:endParaRPr sz="2600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  <p:sp>
        <p:nvSpPr>
          <p:cNvPr id="597" name="Google Shape;597;p71"/>
          <p:cNvSpPr txBox="1"/>
          <p:nvPr/>
        </p:nvSpPr>
        <p:spPr>
          <a:xfrm>
            <a:off x="736800" y="3070127"/>
            <a:ext cx="7670400" cy="144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 sz="4100">
                <a:solidFill>
                  <a:srgbClr val="EF84C9"/>
                </a:solidFill>
                <a:latin typeface="Kosugi Maru"/>
                <a:ea typeface="Kosugi Maru"/>
                <a:cs typeface="Kosugi Maru"/>
                <a:sym typeface="Kosugi Maru"/>
              </a:rPr>
              <a:t>「どうやってそんなお子様を</a:t>
            </a:r>
            <a:endParaRPr sz="4100">
              <a:solidFill>
                <a:srgbClr val="EF84C9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 sz="4100">
                <a:solidFill>
                  <a:srgbClr val="EF84C9"/>
                </a:solidFill>
                <a:latin typeface="Kosugi Maru"/>
                <a:ea typeface="Kosugi Maru"/>
                <a:cs typeface="Kosugi Maru"/>
                <a:sym typeface="Kosugi Maru"/>
              </a:rPr>
              <a:t>　育てられたんですか？」</a:t>
            </a:r>
            <a:endParaRPr sz="4100">
              <a:solidFill>
                <a:srgbClr val="EF84C9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2" name="Shape 6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3" name="Google Shape;603;p72"/>
          <p:cNvSpPr txBox="1"/>
          <p:nvPr>
            <p:ph idx="12" type="sldNum"/>
          </p:nvPr>
        </p:nvSpPr>
        <p:spPr>
          <a:xfrm>
            <a:off x="6457951" y="4767264"/>
            <a:ext cx="2057400" cy="273900"/>
          </a:xfrm>
          <a:prstGeom prst="rect">
            <a:avLst/>
          </a:prstGeom>
        </p:spPr>
        <p:txBody>
          <a:bodyPr anchorCtr="0" anchor="ctr" bIns="39550" lIns="79125" spcFirstLastPara="1" rIns="79125" wrap="square" tIns="3955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  <p:sp>
        <p:nvSpPr>
          <p:cNvPr id="604" name="Google Shape;604;p72"/>
          <p:cNvSpPr txBox="1"/>
          <p:nvPr>
            <p:ph idx="11" type="ftr"/>
          </p:nvPr>
        </p:nvSpPr>
        <p:spPr>
          <a:xfrm>
            <a:off x="3028973" y="4817889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>
                <a:latin typeface="M PLUS Rounded 1c Light"/>
                <a:ea typeface="M PLUS Rounded 1c Light"/>
                <a:cs typeface="M PLUS Rounded 1c Light"/>
                <a:sym typeface="M PLUS Rounded 1c Light"/>
              </a:rPr>
              <a:t>©︎2025日本ママアカデミー協会</a:t>
            </a:r>
            <a:endParaRPr>
              <a:latin typeface="M PLUS Rounded 1c Light"/>
              <a:ea typeface="M PLUS Rounded 1c Light"/>
              <a:cs typeface="M PLUS Rounded 1c Light"/>
              <a:sym typeface="M PLUS Rounded 1c Light"/>
            </a:endParaRPr>
          </a:p>
        </p:txBody>
      </p:sp>
      <p:sp>
        <p:nvSpPr>
          <p:cNvPr id="605" name="Google Shape;605;p72"/>
          <p:cNvSpPr txBox="1"/>
          <p:nvPr/>
        </p:nvSpPr>
        <p:spPr>
          <a:xfrm>
            <a:off x="25" y="342613"/>
            <a:ext cx="91440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" sz="3200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あれ、うまくいかない？</a:t>
            </a:r>
            <a:endParaRPr sz="3200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  <p:cxnSp>
        <p:nvCxnSpPr>
          <p:cNvPr id="606" name="Google Shape;606;p72"/>
          <p:cNvCxnSpPr/>
          <p:nvPr/>
        </p:nvCxnSpPr>
        <p:spPr>
          <a:xfrm>
            <a:off x="828450" y="976525"/>
            <a:ext cx="7487100" cy="0"/>
          </a:xfrm>
          <a:prstGeom prst="straightConnector1">
            <a:avLst/>
          </a:prstGeom>
          <a:noFill/>
          <a:ln cap="flat" cmpd="sng" w="28575">
            <a:solidFill>
              <a:srgbClr val="EF84C9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07" name="Google Shape;607;p72"/>
          <p:cNvSpPr txBox="1"/>
          <p:nvPr/>
        </p:nvSpPr>
        <p:spPr>
          <a:xfrm>
            <a:off x="1407338" y="1643925"/>
            <a:ext cx="6329400" cy="10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 sz="2900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はじめは”まみ式育て方”を</a:t>
            </a:r>
            <a:endParaRPr sz="2900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 sz="2900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そのまま伝えようとした</a:t>
            </a:r>
            <a:endParaRPr sz="2900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  <p:sp>
        <p:nvSpPr>
          <p:cNvPr id="608" name="Google Shape;608;p72"/>
          <p:cNvSpPr txBox="1"/>
          <p:nvPr/>
        </p:nvSpPr>
        <p:spPr>
          <a:xfrm>
            <a:off x="1407313" y="3022575"/>
            <a:ext cx="6329400" cy="10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 sz="2900">
                <a:solidFill>
                  <a:srgbClr val="3C78D8"/>
                </a:solidFill>
                <a:latin typeface="Kosugi Maru"/>
                <a:ea typeface="Kosugi Maru"/>
                <a:cs typeface="Kosugi Maru"/>
                <a:sym typeface="Kosugi Maru"/>
              </a:rPr>
              <a:t>ケースが当てはまらないことが</a:t>
            </a:r>
            <a:endParaRPr sz="2900">
              <a:solidFill>
                <a:srgbClr val="3C78D8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 sz="2900">
                <a:solidFill>
                  <a:srgbClr val="3C78D8"/>
                </a:solidFill>
                <a:latin typeface="Kosugi Maru"/>
                <a:ea typeface="Kosugi Maru"/>
                <a:cs typeface="Kosugi Maru"/>
                <a:sym typeface="Kosugi Maru"/>
              </a:rPr>
              <a:t>たくさん出てきた💦</a:t>
            </a:r>
            <a:endParaRPr sz="2900">
              <a:solidFill>
                <a:srgbClr val="3C78D8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3" name="Shape 6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" name="Google Shape;614;p73"/>
          <p:cNvSpPr txBox="1"/>
          <p:nvPr>
            <p:ph idx="12" type="sldNum"/>
          </p:nvPr>
        </p:nvSpPr>
        <p:spPr>
          <a:xfrm>
            <a:off x="6457951" y="4767264"/>
            <a:ext cx="2057400" cy="273900"/>
          </a:xfrm>
          <a:prstGeom prst="rect">
            <a:avLst/>
          </a:prstGeom>
        </p:spPr>
        <p:txBody>
          <a:bodyPr anchorCtr="0" anchor="ctr" bIns="39550" lIns="79125" spcFirstLastPara="1" rIns="79125" wrap="square" tIns="3955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  <p:sp>
        <p:nvSpPr>
          <p:cNvPr id="615" name="Google Shape;615;p73"/>
          <p:cNvSpPr txBox="1"/>
          <p:nvPr>
            <p:ph idx="11" type="ftr"/>
          </p:nvPr>
        </p:nvSpPr>
        <p:spPr>
          <a:xfrm>
            <a:off x="3028973" y="4817889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>
                <a:latin typeface="M PLUS Rounded 1c Light"/>
                <a:ea typeface="M PLUS Rounded 1c Light"/>
                <a:cs typeface="M PLUS Rounded 1c Light"/>
                <a:sym typeface="M PLUS Rounded 1c Light"/>
              </a:rPr>
              <a:t>©︎2025日本ママアカデミー協会</a:t>
            </a:r>
            <a:endParaRPr>
              <a:latin typeface="M PLUS Rounded 1c Light"/>
              <a:ea typeface="M PLUS Rounded 1c Light"/>
              <a:cs typeface="M PLUS Rounded 1c Light"/>
              <a:sym typeface="M PLUS Rounded 1c Light"/>
            </a:endParaRPr>
          </a:p>
        </p:txBody>
      </p:sp>
      <p:sp>
        <p:nvSpPr>
          <p:cNvPr id="616" name="Google Shape;616;p73"/>
          <p:cNvSpPr txBox="1"/>
          <p:nvPr/>
        </p:nvSpPr>
        <p:spPr>
          <a:xfrm>
            <a:off x="25" y="342613"/>
            <a:ext cx="91440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" sz="3200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全部を伝えちゃダメかも？</a:t>
            </a:r>
            <a:endParaRPr sz="3200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  <p:cxnSp>
        <p:nvCxnSpPr>
          <p:cNvPr id="617" name="Google Shape;617;p73"/>
          <p:cNvCxnSpPr/>
          <p:nvPr/>
        </p:nvCxnSpPr>
        <p:spPr>
          <a:xfrm>
            <a:off x="828450" y="976525"/>
            <a:ext cx="7487100" cy="0"/>
          </a:xfrm>
          <a:prstGeom prst="straightConnector1">
            <a:avLst/>
          </a:prstGeom>
          <a:noFill/>
          <a:ln cap="flat" cmpd="sng" w="28575">
            <a:solidFill>
              <a:srgbClr val="EF84C9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18" name="Google Shape;618;p73"/>
          <p:cNvSpPr txBox="1"/>
          <p:nvPr/>
        </p:nvSpPr>
        <p:spPr>
          <a:xfrm>
            <a:off x="1338325" y="1421075"/>
            <a:ext cx="6467400" cy="98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2600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そもそも時間も心の余裕もないママに</a:t>
            </a:r>
            <a:endParaRPr sz="2600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2600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たくさんのこと伝えては駄目かも</a:t>
            </a:r>
            <a:endParaRPr sz="2600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  <p:sp>
        <p:nvSpPr>
          <p:cNvPr id="619" name="Google Shape;619;p73"/>
          <p:cNvSpPr txBox="1"/>
          <p:nvPr/>
        </p:nvSpPr>
        <p:spPr>
          <a:xfrm>
            <a:off x="1338300" y="3287600"/>
            <a:ext cx="6467400" cy="98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 sz="2600">
                <a:solidFill>
                  <a:srgbClr val="EF84C9"/>
                </a:solidFill>
                <a:latin typeface="Kosugi Maru"/>
                <a:ea typeface="Kosugi Maru"/>
                <a:cs typeface="Kosugi Maru"/>
                <a:sym typeface="Kosugi Maru"/>
              </a:rPr>
              <a:t>時間がなくてもできる</a:t>
            </a:r>
            <a:endParaRPr sz="2600">
              <a:solidFill>
                <a:srgbClr val="EF84C9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 sz="2600">
                <a:solidFill>
                  <a:srgbClr val="EF84C9"/>
                </a:solidFill>
                <a:latin typeface="Kosugi Maru"/>
                <a:ea typeface="Kosugi Maru"/>
                <a:cs typeface="Kosugi Maru"/>
                <a:sym typeface="Kosugi Maru"/>
              </a:rPr>
              <a:t>ママが楽（ラク）になる方法を探した</a:t>
            </a:r>
            <a:endParaRPr sz="2600">
              <a:solidFill>
                <a:srgbClr val="EF84C9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  <p:sp>
        <p:nvSpPr>
          <p:cNvPr id="620" name="Google Shape;620;p73"/>
          <p:cNvSpPr/>
          <p:nvPr/>
        </p:nvSpPr>
        <p:spPr>
          <a:xfrm>
            <a:off x="4073575" y="2468275"/>
            <a:ext cx="996900" cy="52440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21" name="Google Shape;621;p7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67225" y="2098837"/>
            <a:ext cx="1834375" cy="1589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6" name="Shape 6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7" name="Google Shape;627;p74"/>
          <p:cNvSpPr txBox="1"/>
          <p:nvPr>
            <p:ph idx="12" type="sldNum"/>
          </p:nvPr>
        </p:nvSpPr>
        <p:spPr>
          <a:xfrm>
            <a:off x="6457951" y="4767264"/>
            <a:ext cx="2057400" cy="273900"/>
          </a:xfrm>
          <a:prstGeom prst="rect">
            <a:avLst/>
          </a:prstGeom>
        </p:spPr>
        <p:txBody>
          <a:bodyPr anchorCtr="0" anchor="ctr" bIns="39550" lIns="79125" spcFirstLastPara="1" rIns="79125" wrap="square" tIns="3955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  <p:sp>
        <p:nvSpPr>
          <p:cNvPr id="628" name="Google Shape;628;p74"/>
          <p:cNvSpPr txBox="1"/>
          <p:nvPr>
            <p:ph idx="11" type="ftr"/>
          </p:nvPr>
        </p:nvSpPr>
        <p:spPr>
          <a:xfrm>
            <a:off x="3028973" y="4817889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>
                <a:latin typeface="M PLUS Rounded 1c Light"/>
                <a:ea typeface="M PLUS Rounded 1c Light"/>
                <a:cs typeface="M PLUS Rounded 1c Light"/>
                <a:sym typeface="M PLUS Rounded 1c Light"/>
              </a:rPr>
              <a:t>©︎2025日本ママアカデミー協会</a:t>
            </a:r>
            <a:endParaRPr>
              <a:latin typeface="M PLUS Rounded 1c Light"/>
              <a:ea typeface="M PLUS Rounded 1c Light"/>
              <a:cs typeface="M PLUS Rounded 1c Light"/>
              <a:sym typeface="M PLUS Rounded 1c Light"/>
            </a:endParaRPr>
          </a:p>
        </p:txBody>
      </p:sp>
      <p:sp>
        <p:nvSpPr>
          <p:cNvPr id="629" name="Google Shape;629;p74"/>
          <p:cNvSpPr txBox="1"/>
          <p:nvPr/>
        </p:nvSpPr>
        <p:spPr>
          <a:xfrm>
            <a:off x="539050" y="1590775"/>
            <a:ext cx="8208600" cy="186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" sz="3000">
                <a:solidFill>
                  <a:schemeClr val="dk1"/>
                </a:solidFill>
                <a:latin typeface="Kosugi Maru"/>
                <a:ea typeface="Kosugi Maru"/>
                <a:cs typeface="Kosugi Maru"/>
                <a:sym typeface="Kosugi Maru"/>
              </a:rPr>
              <a:t>それが・・・</a:t>
            </a:r>
            <a:endParaRPr sz="3000">
              <a:solidFill>
                <a:schemeClr val="dk1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chemeClr val="dk1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" sz="4000">
                <a:solidFill>
                  <a:srgbClr val="EF84C9"/>
                </a:solidFill>
                <a:latin typeface="Kosugi Maru"/>
                <a:ea typeface="Kosugi Maru"/>
                <a:cs typeface="Kosugi Maru"/>
                <a:sym typeface="Kosugi Maru"/>
              </a:rPr>
              <a:t>"１秒育脳®︎"</a:t>
            </a:r>
            <a:r>
              <a:rPr lang="ja" sz="3000">
                <a:solidFill>
                  <a:schemeClr val="dk1"/>
                </a:solidFill>
                <a:latin typeface="Kosugi Maru"/>
                <a:ea typeface="Kosugi Maru"/>
                <a:cs typeface="Kosugi Maru"/>
                <a:sym typeface="Kosugi Maru"/>
              </a:rPr>
              <a:t>のはじまり</a:t>
            </a:r>
            <a:endParaRPr sz="3000">
              <a:solidFill>
                <a:schemeClr val="dk1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  <p:pic>
        <p:nvPicPr>
          <p:cNvPr id="630" name="Google Shape;630;p7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23475" y="3062150"/>
            <a:ext cx="1561350" cy="1529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5" name="Shape 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6" name="Google Shape;636;p75"/>
          <p:cNvSpPr txBox="1"/>
          <p:nvPr>
            <p:ph idx="12" type="sldNum"/>
          </p:nvPr>
        </p:nvSpPr>
        <p:spPr>
          <a:xfrm>
            <a:off x="6457951" y="4767264"/>
            <a:ext cx="2057400" cy="273900"/>
          </a:xfrm>
          <a:prstGeom prst="rect">
            <a:avLst/>
          </a:prstGeom>
        </p:spPr>
        <p:txBody>
          <a:bodyPr anchorCtr="0" anchor="ctr" bIns="39550" lIns="79125" spcFirstLastPara="1" rIns="79125" wrap="square" tIns="3955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  <p:sp>
        <p:nvSpPr>
          <p:cNvPr id="637" name="Google Shape;637;p75"/>
          <p:cNvSpPr txBox="1"/>
          <p:nvPr>
            <p:ph idx="11" type="ftr"/>
          </p:nvPr>
        </p:nvSpPr>
        <p:spPr>
          <a:xfrm>
            <a:off x="3028973" y="4817889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>
                <a:latin typeface="M PLUS Rounded 1c Light"/>
                <a:ea typeface="M PLUS Rounded 1c Light"/>
                <a:cs typeface="M PLUS Rounded 1c Light"/>
                <a:sym typeface="M PLUS Rounded 1c Light"/>
              </a:rPr>
              <a:t>©︎2025日本ママアカデミー協会</a:t>
            </a:r>
            <a:endParaRPr>
              <a:latin typeface="M PLUS Rounded 1c Light"/>
              <a:ea typeface="M PLUS Rounded 1c Light"/>
              <a:cs typeface="M PLUS Rounded 1c Light"/>
              <a:sym typeface="M PLUS Rounded 1c Light"/>
            </a:endParaRPr>
          </a:p>
        </p:txBody>
      </p:sp>
      <p:sp>
        <p:nvSpPr>
          <p:cNvPr id="638" name="Google Shape;638;p75"/>
          <p:cNvSpPr txBox="1"/>
          <p:nvPr/>
        </p:nvSpPr>
        <p:spPr>
          <a:xfrm>
            <a:off x="25" y="342613"/>
            <a:ext cx="91440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" sz="3200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１秒育脳®︎を取り入れたところ</a:t>
            </a:r>
            <a:endParaRPr sz="3200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  <p:cxnSp>
        <p:nvCxnSpPr>
          <p:cNvPr id="639" name="Google Shape;639;p75"/>
          <p:cNvCxnSpPr/>
          <p:nvPr/>
        </p:nvCxnSpPr>
        <p:spPr>
          <a:xfrm>
            <a:off x="828450" y="976525"/>
            <a:ext cx="7487100" cy="0"/>
          </a:xfrm>
          <a:prstGeom prst="straightConnector1">
            <a:avLst/>
          </a:prstGeom>
          <a:noFill/>
          <a:ln cap="flat" cmpd="sng" w="28575">
            <a:solidFill>
              <a:srgbClr val="EF84C9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40" name="Google Shape;640;p75"/>
          <p:cNvSpPr txBox="1"/>
          <p:nvPr/>
        </p:nvSpPr>
        <p:spPr>
          <a:xfrm>
            <a:off x="1407288" y="1156075"/>
            <a:ext cx="6329400" cy="63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 sz="2900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ママ達から喜びの声が！！</a:t>
            </a:r>
            <a:endParaRPr sz="2900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  <p:pic>
        <p:nvPicPr>
          <p:cNvPr id="641" name="Google Shape;641;p7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4175" y="2153875"/>
            <a:ext cx="2157675" cy="1931475"/>
          </a:xfrm>
          <a:prstGeom prst="rect">
            <a:avLst/>
          </a:prstGeom>
          <a:noFill/>
          <a:ln>
            <a:noFill/>
          </a:ln>
        </p:spPr>
      </p:pic>
      <p:sp>
        <p:nvSpPr>
          <p:cNvPr id="642" name="Google Shape;642;p75"/>
          <p:cNvSpPr/>
          <p:nvPr/>
        </p:nvSpPr>
        <p:spPr>
          <a:xfrm>
            <a:off x="3222150" y="1843813"/>
            <a:ext cx="4178400" cy="536400"/>
          </a:xfrm>
          <a:prstGeom prst="wedgeRoundRectCallout">
            <a:avLst>
              <a:gd fmla="val -60553" name="adj1"/>
              <a:gd fmla="val -285" name="adj2"/>
              <a:gd fmla="val 0" name="adj3"/>
            </a:avLst>
          </a:prstGeom>
          <a:solidFill>
            <a:srgbClr val="FFE5F6"/>
          </a:solidFill>
          <a:ln cap="flat" cmpd="sng" w="38100">
            <a:solidFill>
              <a:srgbClr val="C27B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2000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　これならできる！</a:t>
            </a:r>
            <a:endParaRPr sz="2000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  <p:sp>
        <p:nvSpPr>
          <p:cNvPr id="643" name="Google Shape;643;p75"/>
          <p:cNvSpPr/>
          <p:nvPr/>
        </p:nvSpPr>
        <p:spPr>
          <a:xfrm>
            <a:off x="3222150" y="2526850"/>
            <a:ext cx="4178400" cy="677100"/>
          </a:xfrm>
          <a:prstGeom prst="wedgeRoundRectCallout">
            <a:avLst>
              <a:gd fmla="val -60553" name="adj1"/>
              <a:gd fmla="val -285" name="adj2"/>
              <a:gd fmla="val 0" name="adj3"/>
            </a:avLst>
          </a:prstGeom>
          <a:solidFill>
            <a:srgbClr val="FFE5F6"/>
          </a:solidFill>
          <a:ln cap="flat" cmpd="sng" w="38100">
            <a:solidFill>
              <a:srgbClr val="C27B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2000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　触れ合いながら、遊びながら</a:t>
            </a:r>
            <a:endParaRPr sz="2000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2000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　できるから自分も楽しい！</a:t>
            </a:r>
            <a:endParaRPr sz="2000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  <p:sp>
        <p:nvSpPr>
          <p:cNvPr id="644" name="Google Shape;644;p75"/>
          <p:cNvSpPr/>
          <p:nvPr/>
        </p:nvSpPr>
        <p:spPr>
          <a:xfrm>
            <a:off x="3222150" y="3350588"/>
            <a:ext cx="4178400" cy="677100"/>
          </a:xfrm>
          <a:prstGeom prst="wedgeRoundRectCallout">
            <a:avLst>
              <a:gd fmla="val -58743" name="adj1"/>
              <a:gd fmla="val -41522" name="adj2"/>
              <a:gd fmla="val 0" name="adj3"/>
            </a:avLst>
          </a:prstGeom>
          <a:solidFill>
            <a:srgbClr val="FFE5F6"/>
          </a:solidFill>
          <a:ln cap="flat" cmpd="sng" w="38100">
            <a:solidFill>
              <a:srgbClr val="C27B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2000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　１秒の触れ合いで</a:t>
            </a:r>
            <a:endParaRPr sz="2000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2000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　子どもも笑っててビックリ!</a:t>
            </a:r>
            <a:endParaRPr sz="2000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  <p:sp>
        <p:nvSpPr>
          <p:cNvPr id="645" name="Google Shape;645;p75"/>
          <p:cNvSpPr/>
          <p:nvPr/>
        </p:nvSpPr>
        <p:spPr>
          <a:xfrm>
            <a:off x="3222150" y="4174325"/>
            <a:ext cx="4178400" cy="536400"/>
          </a:xfrm>
          <a:prstGeom prst="wedgeRoundRectCallout">
            <a:avLst>
              <a:gd fmla="val -59391" name="adj1"/>
              <a:gd fmla="val -48348" name="adj2"/>
              <a:gd fmla="val 0" name="adj3"/>
            </a:avLst>
          </a:prstGeom>
          <a:solidFill>
            <a:srgbClr val="FFE5F6"/>
          </a:solidFill>
          <a:ln cap="flat" cmpd="sng" w="38100">
            <a:solidFill>
              <a:srgbClr val="C27B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2000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　とっても簡単！！</a:t>
            </a:r>
            <a:endParaRPr sz="2000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0" name="Shape 6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1" name="Google Shape;651;p76"/>
          <p:cNvSpPr txBox="1"/>
          <p:nvPr>
            <p:ph idx="12" type="sldNum"/>
          </p:nvPr>
        </p:nvSpPr>
        <p:spPr>
          <a:xfrm>
            <a:off x="6457951" y="4767264"/>
            <a:ext cx="2057400" cy="273900"/>
          </a:xfrm>
          <a:prstGeom prst="rect">
            <a:avLst/>
          </a:prstGeom>
        </p:spPr>
        <p:txBody>
          <a:bodyPr anchorCtr="0" anchor="ctr" bIns="39550" lIns="79125" spcFirstLastPara="1" rIns="79125" wrap="square" tIns="3955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  <p:sp>
        <p:nvSpPr>
          <p:cNvPr id="652" name="Google Shape;652;p76"/>
          <p:cNvSpPr txBox="1"/>
          <p:nvPr>
            <p:ph idx="11" type="ftr"/>
          </p:nvPr>
        </p:nvSpPr>
        <p:spPr>
          <a:xfrm>
            <a:off x="3028973" y="4817889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>
                <a:latin typeface="M PLUS Rounded 1c Light"/>
                <a:ea typeface="M PLUS Rounded 1c Light"/>
                <a:cs typeface="M PLUS Rounded 1c Light"/>
                <a:sym typeface="M PLUS Rounded 1c Light"/>
              </a:rPr>
              <a:t>©︎2025日本ママアカデミー協会</a:t>
            </a:r>
            <a:endParaRPr>
              <a:latin typeface="M PLUS Rounded 1c Light"/>
              <a:ea typeface="M PLUS Rounded 1c Light"/>
              <a:cs typeface="M PLUS Rounded 1c Light"/>
              <a:sym typeface="M PLUS Rounded 1c Light"/>
            </a:endParaRPr>
          </a:p>
        </p:txBody>
      </p:sp>
      <p:sp>
        <p:nvSpPr>
          <p:cNvPr id="653" name="Google Shape;653;p76"/>
          <p:cNvSpPr txBox="1"/>
          <p:nvPr/>
        </p:nvSpPr>
        <p:spPr>
          <a:xfrm>
            <a:off x="25" y="342613"/>
            <a:ext cx="91440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" sz="3200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さらなる進化</a:t>
            </a:r>
            <a:endParaRPr sz="3200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  <p:cxnSp>
        <p:nvCxnSpPr>
          <p:cNvPr id="654" name="Google Shape;654;p76"/>
          <p:cNvCxnSpPr/>
          <p:nvPr/>
        </p:nvCxnSpPr>
        <p:spPr>
          <a:xfrm>
            <a:off x="828450" y="976525"/>
            <a:ext cx="7487100" cy="0"/>
          </a:xfrm>
          <a:prstGeom prst="straightConnector1">
            <a:avLst/>
          </a:prstGeom>
          <a:noFill/>
          <a:ln cap="flat" cmpd="sng" w="28575">
            <a:solidFill>
              <a:srgbClr val="EF84C9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55" name="Google Shape;655;p76"/>
          <p:cNvSpPr txBox="1"/>
          <p:nvPr/>
        </p:nvSpPr>
        <p:spPr>
          <a:xfrm>
            <a:off x="1407275" y="1686850"/>
            <a:ext cx="6329400" cy="10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 sz="2900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様々な子育てを研究中に</a:t>
            </a:r>
            <a:endParaRPr sz="2900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 sz="2900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こんな言葉に出会った</a:t>
            </a:r>
            <a:endParaRPr sz="2900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  <p:sp>
        <p:nvSpPr>
          <p:cNvPr id="656" name="Google Shape;656;p76"/>
          <p:cNvSpPr txBox="1"/>
          <p:nvPr/>
        </p:nvSpPr>
        <p:spPr>
          <a:xfrm>
            <a:off x="1407300" y="2910938"/>
            <a:ext cx="6329400" cy="84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 sz="4300">
                <a:solidFill>
                  <a:srgbClr val="EF84C9"/>
                </a:solidFill>
                <a:latin typeface="Kosugi Maru"/>
                <a:ea typeface="Kosugi Maru"/>
                <a:cs typeface="Kosugi Maru"/>
                <a:sym typeface="Kosugi Maru"/>
              </a:rPr>
              <a:t>「非認知能力」</a:t>
            </a:r>
            <a:endParaRPr sz="2900">
              <a:solidFill>
                <a:srgbClr val="EF84C9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1" name="Shape 6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2" name="Google Shape;662;p77"/>
          <p:cNvSpPr txBox="1"/>
          <p:nvPr>
            <p:ph idx="12" type="sldNum"/>
          </p:nvPr>
        </p:nvSpPr>
        <p:spPr>
          <a:xfrm>
            <a:off x="6457951" y="4767264"/>
            <a:ext cx="2057400" cy="273900"/>
          </a:xfrm>
          <a:prstGeom prst="rect">
            <a:avLst/>
          </a:prstGeom>
        </p:spPr>
        <p:txBody>
          <a:bodyPr anchorCtr="0" anchor="ctr" bIns="39550" lIns="79125" spcFirstLastPara="1" rIns="79125" wrap="square" tIns="3955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  <p:sp>
        <p:nvSpPr>
          <p:cNvPr id="663" name="Google Shape;663;p77"/>
          <p:cNvSpPr txBox="1"/>
          <p:nvPr>
            <p:ph idx="11" type="ftr"/>
          </p:nvPr>
        </p:nvSpPr>
        <p:spPr>
          <a:xfrm>
            <a:off x="3028973" y="4817889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>
                <a:latin typeface="M PLUS Rounded 1c Light"/>
                <a:ea typeface="M PLUS Rounded 1c Light"/>
                <a:cs typeface="M PLUS Rounded 1c Light"/>
                <a:sym typeface="M PLUS Rounded 1c Light"/>
              </a:rPr>
              <a:t>©︎2025日本ママアカデミー協会</a:t>
            </a:r>
            <a:endParaRPr>
              <a:latin typeface="M PLUS Rounded 1c Light"/>
              <a:ea typeface="M PLUS Rounded 1c Light"/>
              <a:cs typeface="M PLUS Rounded 1c Light"/>
              <a:sym typeface="M PLUS Rounded 1c Light"/>
            </a:endParaRPr>
          </a:p>
        </p:txBody>
      </p:sp>
      <p:sp>
        <p:nvSpPr>
          <p:cNvPr id="664" name="Google Shape;664;p77"/>
          <p:cNvSpPr txBox="1"/>
          <p:nvPr/>
        </p:nvSpPr>
        <p:spPr>
          <a:xfrm>
            <a:off x="25" y="342613"/>
            <a:ext cx="91440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" sz="3200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非認知能力？</a:t>
            </a:r>
            <a:endParaRPr sz="3200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  <p:cxnSp>
        <p:nvCxnSpPr>
          <p:cNvPr id="665" name="Google Shape;665;p77"/>
          <p:cNvCxnSpPr/>
          <p:nvPr/>
        </p:nvCxnSpPr>
        <p:spPr>
          <a:xfrm>
            <a:off x="828450" y="976525"/>
            <a:ext cx="7487100" cy="0"/>
          </a:xfrm>
          <a:prstGeom prst="straightConnector1">
            <a:avLst/>
          </a:prstGeom>
          <a:noFill/>
          <a:ln cap="flat" cmpd="sng" w="28575">
            <a:solidFill>
              <a:srgbClr val="EF84C9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66" name="Google Shape;666;p77"/>
          <p:cNvSpPr txBox="1"/>
          <p:nvPr/>
        </p:nvSpPr>
        <p:spPr>
          <a:xfrm>
            <a:off x="1715575" y="1044200"/>
            <a:ext cx="5712900" cy="156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" sz="2600">
                <a:solidFill>
                  <a:srgbClr val="EF84C9"/>
                </a:solidFill>
                <a:latin typeface="Kosugi Maru"/>
                <a:ea typeface="Kosugi Maru"/>
                <a:cs typeface="Kosugi Maru"/>
                <a:sym typeface="Kosugi Maru"/>
              </a:rPr>
              <a:t>挑戦心、協調性、努力、</a:t>
            </a:r>
            <a:endParaRPr sz="2600">
              <a:solidFill>
                <a:srgbClr val="EF84C9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" sz="2600">
                <a:solidFill>
                  <a:srgbClr val="EF84C9"/>
                </a:solidFill>
                <a:latin typeface="Kosugi Maru"/>
                <a:ea typeface="Kosugi Maru"/>
                <a:cs typeface="Kosugi Maru"/>
                <a:sym typeface="Kosugi Maru"/>
              </a:rPr>
              <a:t>自己肯定感、自制心</a:t>
            </a:r>
            <a:endParaRPr sz="2600">
              <a:solidFill>
                <a:srgbClr val="EF84C9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" sz="3000">
                <a:solidFill>
                  <a:srgbClr val="EF84C9"/>
                </a:solidFill>
                <a:latin typeface="Kosugi Maru"/>
                <a:ea typeface="Kosugi Maru"/>
                <a:cs typeface="Kosugi Maru"/>
                <a:sym typeface="Kosugi Maru"/>
              </a:rPr>
              <a:t>これらのベースになるもの</a:t>
            </a:r>
            <a:endParaRPr sz="3000">
              <a:solidFill>
                <a:srgbClr val="EF84C9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  <p:sp>
        <p:nvSpPr>
          <p:cNvPr id="667" name="Google Shape;667;p77"/>
          <p:cNvSpPr txBox="1"/>
          <p:nvPr/>
        </p:nvSpPr>
        <p:spPr>
          <a:xfrm>
            <a:off x="1715575" y="2841775"/>
            <a:ext cx="5712900" cy="140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" sz="2400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絵本の読み聞かせ</a:t>
            </a:r>
            <a:endParaRPr sz="2400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" sz="2400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スキンシップなど</a:t>
            </a:r>
            <a:endParaRPr sz="2400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" sz="2400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簡単なもので効果あり</a:t>
            </a:r>
            <a:endParaRPr sz="2400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  <p:sp>
        <p:nvSpPr>
          <p:cNvPr id="668" name="Google Shape;668;p77"/>
          <p:cNvSpPr txBox="1"/>
          <p:nvPr/>
        </p:nvSpPr>
        <p:spPr>
          <a:xfrm>
            <a:off x="4572000" y="4191225"/>
            <a:ext cx="43524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" sz="2400">
                <a:solidFill>
                  <a:schemeClr val="dk1"/>
                </a:solidFill>
                <a:latin typeface="Kosugi Maru"/>
                <a:ea typeface="Kosugi Maru"/>
                <a:cs typeface="Kosugi Maru"/>
                <a:sym typeface="Kosugi Maru"/>
              </a:rPr>
              <a:t>→詳しくはDay2以降で</a:t>
            </a:r>
            <a:endParaRPr sz="2400">
              <a:solidFill>
                <a:schemeClr val="dk1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3" name="Shape 6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4" name="Google Shape;674;p78"/>
          <p:cNvSpPr txBox="1"/>
          <p:nvPr>
            <p:ph idx="12" type="sldNum"/>
          </p:nvPr>
        </p:nvSpPr>
        <p:spPr>
          <a:xfrm>
            <a:off x="6457951" y="4767264"/>
            <a:ext cx="2057400" cy="273900"/>
          </a:xfrm>
          <a:prstGeom prst="rect">
            <a:avLst/>
          </a:prstGeom>
        </p:spPr>
        <p:txBody>
          <a:bodyPr anchorCtr="0" anchor="ctr" bIns="39550" lIns="79125" spcFirstLastPara="1" rIns="79125" wrap="square" tIns="3955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  <p:sp>
        <p:nvSpPr>
          <p:cNvPr id="675" name="Google Shape;675;p78"/>
          <p:cNvSpPr txBox="1"/>
          <p:nvPr>
            <p:ph idx="11" type="ftr"/>
          </p:nvPr>
        </p:nvSpPr>
        <p:spPr>
          <a:xfrm>
            <a:off x="3028973" y="4817889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>
                <a:latin typeface="M PLUS Rounded 1c Light"/>
                <a:ea typeface="M PLUS Rounded 1c Light"/>
                <a:cs typeface="M PLUS Rounded 1c Light"/>
                <a:sym typeface="M PLUS Rounded 1c Light"/>
              </a:rPr>
              <a:t>©︎2025日本ママアカデミー協会</a:t>
            </a:r>
            <a:endParaRPr>
              <a:latin typeface="M PLUS Rounded 1c Light"/>
              <a:ea typeface="M PLUS Rounded 1c Light"/>
              <a:cs typeface="M PLUS Rounded 1c Light"/>
              <a:sym typeface="M PLUS Rounded 1c Light"/>
            </a:endParaRPr>
          </a:p>
        </p:txBody>
      </p:sp>
      <p:sp>
        <p:nvSpPr>
          <p:cNvPr id="676" name="Google Shape;676;p78"/>
          <p:cNvSpPr txBox="1"/>
          <p:nvPr/>
        </p:nvSpPr>
        <p:spPr>
          <a:xfrm>
            <a:off x="25" y="342613"/>
            <a:ext cx="91440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" sz="3200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確立と実践</a:t>
            </a:r>
            <a:endParaRPr sz="3200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  <p:cxnSp>
        <p:nvCxnSpPr>
          <p:cNvPr id="677" name="Google Shape;677;p78"/>
          <p:cNvCxnSpPr/>
          <p:nvPr/>
        </p:nvCxnSpPr>
        <p:spPr>
          <a:xfrm>
            <a:off x="828450" y="976525"/>
            <a:ext cx="7487100" cy="0"/>
          </a:xfrm>
          <a:prstGeom prst="straightConnector1">
            <a:avLst/>
          </a:prstGeom>
          <a:noFill/>
          <a:ln cap="flat" cmpd="sng" w="28575">
            <a:solidFill>
              <a:srgbClr val="EF84C9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78" name="Google Shape;678;p78"/>
          <p:cNvSpPr txBox="1"/>
          <p:nvPr/>
        </p:nvSpPr>
        <p:spPr>
          <a:xfrm>
            <a:off x="887800" y="1317513"/>
            <a:ext cx="7533900" cy="33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 sz="2600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1秒育脳®︎を起点に</a:t>
            </a:r>
            <a:endParaRPr sz="2600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 sz="2600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独自の子育てメソッドを体系化</a:t>
            </a:r>
            <a:endParaRPr sz="2600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00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2600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　　・どんな方でも効果が得られるように</a:t>
            </a:r>
            <a:endParaRPr sz="2600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2600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　　・お子さまの色んな才能が伸ばせるように</a:t>
            </a:r>
            <a:endParaRPr sz="2600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2600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　　・ママがラクになれるように</a:t>
            </a:r>
            <a:endParaRPr sz="2600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00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 sz="2600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磨き続けてきました</a:t>
            </a:r>
            <a:endParaRPr sz="2600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3" name="Shape 6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4" name="Google Shape;684;p79"/>
          <p:cNvSpPr txBox="1"/>
          <p:nvPr>
            <p:ph idx="12" type="sldNum"/>
          </p:nvPr>
        </p:nvSpPr>
        <p:spPr>
          <a:xfrm>
            <a:off x="6457951" y="4767264"/>
            <a:ext cx="2057400" cy="273900"/>
          </a:xfrm>
          <a:prstGeom prst="rect">
            <a:avLst/>
          </a:prstGeom>
        </p:spPr>
        <p:txBody>
          <a:bodyPr anchorCtr="0" anchor="ctr" bIns="39550" lIns="79125" spcFirstLastPara="1" rIns="79125" wrap="square" tIns="3955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  <p:sp>
        <p:nvSpPr>
          <p:cNvPr id="685" name="Google Shape;685;p79"/>
          <p:cNvSpPr txBox="1"/>
          <p:nvPr>
            <p:ph idx="11" type="ftr"/>
          </p:nvPr>
        </p:nvSpPr>
        <p:spPr>
          <a:xfrm>
            <a:off x="3028973" y="4817889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>
                <a:latin typeface="M PLUS Rounded 1c Light"/>
                <a:ea typeface="M PLUS Rounded 1c Light"/>
                <a:cs typeface="M PLUS Rounded 1c Light"/>
                <a:sym typeface="M PLUS Rounded 1c Light"/>
              </a:rPr>
              <a:t>©︎2025日本ママアカデミー協会</a:t>
            </a:r>
            <a:endParaRPr>
              <a:latin typeface="M PLUS Rounded 1c Light"/>
              <a:ea typeface="M PLUS Rounded 1c Light"/>
              <a:cs typeface="M PLUS Rounded 1c Light"/>
              <a:sym typeface="M PLUS Rounded 1c Light"/>
            </a:endParaRPr>
          </a:p>
        </p:txBody>
      </p:sp>
      <p:sp>
        <p:nvSpPr>
          <p:cNvPr id="686" name="Google Shape;686;p79"/>
          <p:cNvSpPr txBox="1"/>
          <p:nvPr/>
        </p:nvSpPr>
        <p:spPr>
          <a:xfrm>
            <a:off x="25" y="342613"/>
            <a:ext cx="91440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  <p:sp>
        <p:nvSpPr>
          <p:cNvPr id="687" name="Google Shape;687;p79"/>
          <p:cNvSpPr txBox="1"/>
          <p:nvPr/>
        </p:nvSpPr>
        <p:spPr>
          <a:xfrm>
            <a:off x="866425" y="1670413"/>
            <a:ext cx="7533900" cy="138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 sz="3900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このメソッドを学ばれた</a:t>
            </a:r>
            <a:endParaRPr sz="3900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 sz="3900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受講生も成果を出しています</a:t>
            </a:r>
            <a:endParaRPr sz="3900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2" name="Shape 6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3" name="Google Shape;693;p80"/>
          <p:cNvSpPr txBox="1"/>
          <p:nvPr>
            <p:ph idx="12" type="sldNum"/>
          </p:nvPr>
        </p:nvSpPr>
        <p:spPr>
          <a:xfrm>
            <a:off x="6457951" y="4767264"/>
            <a:ext cx="2057400" cy="273900"/>
          </a:xfrm>
          <a:prstGeom prst="rect">
            <a:avLst/>
          </a:prstGeom>
        </p:spPr>
        <p:txBody>
          <a:bodyPr anchorCtr="0" anchor="ctr" bIns="39550" lIns="79125" spcFirstLastPara="1" rIns="79125" wrap="square" tIns="3955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  <p:sp>
        <p:nvSpPr>
          <p:cNvPr id="694" name="Google Shape;694;p80"/>
          <p:cNvSpPr txBox="1"/>
          <p:nvPr>
            <p:ph idx="11" type="ftr"/>
          </p:nvPr>
        </p:nvSpPr>
        <p:spPr>
          <a:xfrm>
            <a:off x="3028973" y="4817889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>
                <a:latin typeface="M PLUS Rounded 1c Light"/>
                <a:ea typeface="M PLUS Rounded 1c Light"/>
                <a:cs typeface="M PLUS Rounded 1c Light"/>
                <a:sym typeface="M PLUS Rounded 1c Light"/>
              </a:rPr>
              <a:t>©︎2025日本ママアカデミー協会</a:t>
            </a:r>
            <a:endParaRPr>
              <a:latin typeface="M PLUS Rounded 1c Light"/>
              <a:ea typeface="M PLUS Rounded 1c Light"/>
              <a:cs typeface="M PLUS Rounded 1c Light"/>
              <a:sym typeface="M PLUS Rounded 1c Light"/>
            </a:endParaRPr>
          </a:p>
        </p:txBody>
      </p:sp>
      <p:sp>
        <p:nvSpPr>
          <p:cNvPr id="695" name="Google Shape;695;p80"/>
          <p:cNvSpPr txBox="1"/>
          <p:nvPr/>
        </p:nvSpPr>
        <p:spPr>
          <a:xfrm>
            <a:off x="25" y="342613"/>
            <a:ext cx="91440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" sz="3200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卒業生</a:t>
            </a:r>
            <a:r>
              <a:rPr lang="ja" sz="3200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の声</a:t>
            </a:r>
            <a:endParaRPr sz="3200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  <p:cxnSp>
        <p:nvCxnSpPr>
          <p:cNvPr id="696" name="Google Shape;696;p80"/>
          <p:cNvCxnSpPr/>
          <p:nvPr/>
        </p:nvCxnSpPr>
        <p:spPr>
          <a:xfrm>
            <a:off x="828450" y="976525"/>
            <a:ext cx="7487100" cy="0"/>
          </a:xfrm>
          <a:prstGeom prst="straightConnector1">
            <a:avLst/>
          </a:prstGeom>
          <a:noFill/>
          <a:ln cap="flat" cmpd="sng" w="28575">
            <a:solidFill>
              <a:srgbClr val="EF84C9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97" name="Google Shape;697;p80"/>
          <p:cNvSpPr txBox="1"/>
          <p:nvPr/>
        </p:nvSpPr>
        <p:spPr>
          <a:xfrm>
            <a:off x="250025" y="4326875"/>
            <a:ext cx="3086100" cy="7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" sz="1600">
                <a:solidFill>
                  <a:schemeClr val="dk1"/>
                </a:solidFill>
                <a:latin typeface="Kosugi Maru"/>
                <a:ea typeface="Kosugi Maru"/>
                <a:cs typeface="Kosugi Maru"/>
                <a:sym typeface="Kosugi Maru"/>
              </a:rPr>
              <a:t>転勤族の専業主婦・2児のママ　　　　　ユカさん</a:t>
            </a:r>
            <a:endParaRPr sz="1600">
              <a:solidFill>
                <a:schemeClr val="dk1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  <p:sp>
        <p:nvSpPr>
          <p:cNvPr id="698" name="Google Shape;698;p80"/>
          <p:cNvSpPr txBox="1"/>
          <p:nvPr/>
        </p:nvSpPr>
        <p:spPr>
          <a:xfrm>
            <a:off x="3924575" y="1063525"/>
            <a:ext cx="4962300" cy="382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600">
                <a:solidFill>
                  <a:schemeClr val="dk1"/>
                </a:solidFill>
                <a:latin typeface="Kosugi Maru"/>
                <a:ea typeface="Kosugi Maru"/>
                <a:cs typeface="Kosugi Maru"/>
                <a:sym typeface="Kosugi Maru"/>
              </a:rPr>
              <a:t>受講前：</a:t>
            </a:r>
            <a:endParaRPr sz="1600">
              <a:solidFill>
                <a:schemeClr val="dk1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600">
                <a:solidFill>
                  <a:schemeClr val="dk1"/>
                </a:solidFill>
                <a:latin typeface="Kosugi Maru"/>
                <a:ea typeface="Kosugi Maru"/>
                <a:cs typeface="Kosugi Maru"/>
                <a:sym typeface="Kosugi Maru"/>
              </a:rPr>
              <a:t>転勤族で孤独な育児。</a:t>
            </a:r>
            <a:endParaRPr sz="1600">
              <a:solidFill>
                <a:schemeClr val="dk1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ja" sz="1600">
                <a:solidFill>
                  <a:srgbClr val="1155CC"/>
                </a:solidFill>
                <a:latin typeface="Kosugi Maru"/>
                <a:ea typeface="Kosugi Maru"/>
                <a:cs typeface="Kosugi Maru"/>
                <a:sym typeface="Kosugi Maru"/>
              </a:rPr>
              <a:t>「自分の夢も諦めなきゃ…」</a:t>
            </a:r>
            <a:r>
              <a:rPr lang="ja" sz="1600">
                <a:solidFill>
                  <a:schemeClr val="dk1"/>
                </a:solidFill>
                <a:latin typeface="Kosugi Maru"/>
                <a:ea typeface="Kosugi Maru"/>
                <a:cs typeface="Kosugi Maru"/>
                <a:sym typeface="Kosugi Maru"/>
              </a:rPr>
              <a:t>と焦っていました。</a:t>
            </a:r>
            <a:endParaRPr sz="1600">
              <a:solidFill>
                <a:schemeClr val="dk1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600">
                <a:solidFill>
                  <a:schemeClr val="dk1"/>
                </a:solidFill>
                <a:latin typeface="Kosugi Maru"/>
                <a:ea typeface="Kosugi Maru"/>
                <a:cs typeface="Kosugi Maru"/>
                <a:sym typeface="Kosugi Maru"/>
              </a:rPr>
              <a:t>受講後：</a:t>
            </a:r>
            <a:endParaRPr sz="1600">
              <a:solidFill>
                <a:schemeClr val="dk1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600">
                <a:solidFill>
                  <a:schemeClr val="dk1"/>
                </a:solidFill>
                <a:latin typeface="Kosugi Maru"/>
                <a:ea typeface="Kosugi Maru"/>
                <a:cs typeface="Kosugi Maru"/>
                <a:sym typeface="Kosugi Maru"/>
              </a:rPr>
              <a:t>講座で学んだ</a:t>
            </a:r>
            <a:r>
              <a:rPr lang="ja" sz="1600">
                <a:solidFill>
                  <a:srgbClr val="FF00FF"/>
                </a:solidFill>
                <a:latin typeface="Kosugi Maru"/>
                <a:ea typeface="Kosugi Maru"/>
                <a:cs typeface="Kosugi Maru"/>
                <a:sym typeface="Kosugi Maru"/>
              </a:rPr>
              <a:t>“脳を育てる視点”</a:t>
            </a:r>
            <a:r>
              <a:rPr lang="ja" sz="1600">
                <a:solidFill>
                  <a:schemeClr val="dk1"/>
                </a:solidFill>
                <a:latin typeface="Kosugi Maru"/>
                <a:ea typeface="Kosugi Maru"/>
                <a:cs typeface="Kosugi Maru"/>
                <a:sym typeface="Kosugi Maru"/>
              </a:rPr>
              <a:t>で、</a:t>
            </a:r>
            <a:endParaRPr sz="1600">
              <a:solidFill>
                <a:schemeClr val="dk1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600">
                <a:solidFill>
                  <a:srgbClr val="FF00FF"/>
                </a:solidFill>
                <a:latin typeface="Kosugi Maru"/>
                <a:ea typeface="Kosugi Maru"/>
                <a:cs typeface="Kosugi Maru"/>
                <a:sym typeface="Kosugi Maru"/>
              </a:rPr>
              <a:t>子どもの行動が「成長のサイン」に！</a:t>
            </a:r>
            <a:endParaRPr sz="1600">
              <a:solidFill>
                <a:srgbClr val="FF00FF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600">
                <a:solidFill>
                  <a:schemeClr val="dk1"/>
                </a:solidFill>
                <a:latin typeface="Kosugi Maru"/>
                <a:ea typeface="Kosugi Maru"/>
                <a:cs typeface="Kosugi Maru"/>
                <a:sym typeface="Kosugi Maru"/>
              </a:rPr>
              <a:t>今：家族に「ありがとう」をいう回数が増え、</a:t>
            </a:r>
            <a:endParaRPr sz="1600">
              <a:solidFill>
                <a:schemeClr val="dk1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600">
                <a:solidFill>
                  <a:srgbClr val="FF00FF"/>
                </a:solidFill>
                <a:latin typeface="Kosugi Maru"/>
                <a:ea typeface="Kosugi Maru"/>
                <a:cs typeface="Kosugi Maru"/>
                <a:sym typeface="Kosugi Maru"/>
              </a:rPr>
              <a:t>自分の人生も楽しむ</a:t>
            </a:r>
            <a:r>
              <a:rPr lang="ja" sz="1600">
                <a:solidFill>
                  <a:schemeClr val="dk1"/>
                </a:solidFill>
                <a:latin typeface="Kosugi Maru"/>
                <a:ea typeface="Kosugi Maru"/>
                <a:cs typeface="Kosugi Maru"/>
                <a:sym typeface="Kosugi Maru"/>
              </a:rPr>
              <a:t>余裕も生まれました。</a:t>
            </a:r>
            <a:endParaRPr sz="1600">
              <a:solidFill>
                <a:schemeClr val="dk1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600">
                <a:solidFill>
                  <a:srgbClr val="FF00FF"/>
                </a:solidFill>
                <a:latin typeface="Kosugi Maru"/>
                <a:ea typeface="Kosugi Maru"/>
                <a:cs typeface="Kosugi Maru"/>
                <a:sym typeface="Kosugi Maru"/>
              </a:rPr>
              <a:t>「育児に悩むママや、子育てに関わる仕事の方に</a:t>
            </a:r>
            <a:endParaRPr sz="1600">
              <a:solidFill>
                <a:srgbClr val="FF00FF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600">
                <a:solidFill>
                  <a:srgbClr val="FF00FF"/>
                </a:solidFill>
                <a:latin typeface="Kosugi Maru"/>
                <a:ea typeface="Kosugi Maru"/>
                <a:cs typeface="Kosugi Maru"/>
                <a:sym typeface="Kosugi Maru"/>
              </a:rPr>
              <a:t>絶対おすすめです！」</a:t>
            </a:r>
            <a:endParaRPr sz="1500">
              <a:solidFill>
                <a:srgbClr val="FF00FF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  <p:pic>
        <p:nvPicPr>
          <p:cNvPr id="699" name="Google Shape;699;p80" title="ゆかさん.JPEG"/>
          <p:cNvPicPr preferRelativeResize="0"/>
          <p:nvPr/>
        </p:nvPicPr>
        <p:blipFill rotWithShape="1">
          <a:blip r:embed="rId3">
            <a:alphaModFix/>
          </a:blip>
          <a:srcRect b="27232" l="0" r="9494" t="5892"/>
          <a:stretch/>
        </p:blipFill>
        <p:spPr>
          <a:xfrm>
            <a:off x="448575" y="1254350"/>
            <a:ext cx="2688999" cy="29956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4" name="Shape 7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5" name="Google Shape;705;p81"/>
          <p:cNvSpPr txBox="1"/>
          <p:nvPr>
            <p:ph idx="12" type="sldNum"/>
          </p:nvPr>
        </p:nvSpPr>
        <p:spPr>
          <a:xfrm>
            <a:off x="6457951" y="4767264"/>
            <a:ext cx="2057400" cy="273900"/>
          </a:xfrm>
          <a:prstGeom prst="rect">
            <a:avLst/>
          </a:prstGeom>
        </p:spPr>
        <p:txBody>
          <a:bodyPr anchorCtr="0" anchor="ctr" bIns="39550" lIns="79125" spcFirstLastPara="1" rIns="79125" wrap="square" tIns="3955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  <p:sp>
        <p:nvSpPr>
          <p:cNvPr id="706" name="Google Shape;706;p81"/>
          <p:cNvSpPr txBox="1"/>
          <p:nvPr>
            <p:ph idx="11" type="ftr"/>
          </p:nvPr>
        </p:nvSpPr>
        <p:spPr>
          <a:xfrm>
            <a:off x="3028973" y="4817889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>
                <a:latin typeface="M PLUS Rounded 1c Light"/>
                <a:ea typeface="M PLUS Rounded 1c Light"/>
                <a:cs typeface="M PLUS Rounded 1c Light"/>
                <a:sym typeface="M PLUS Rounded 1c Light"/>
              </a:rPr>
              <a:t>©︎2025日本ママアカデミー協会</a:t>
            </a:r>
            <a:endParaRPr>
              <a:latin typeface="M PLUS Rounded 1c Light"/>
              <a:ea typeface="M PLUS Rounded 1c Light"/>
              <a:cs typeface="M PLUS Rounded 1c Light"/>
              <a:sym typeface="M PLUS Rounded 1c Light"/>
            </a:endParaRPr>
          </a:p>
        </p:txBody>
      </p:sp>
      <p:sp>
        <p:nvSpPr>
          <p:cNvPr id="707" name="Google Shape;707;p81"/>
          <p:cNvSpPr txBox="1"/>
          <p:nvPr/>
        </p:nvSpPr>
        <p:spPr>
          <a:xfrm>
            <a:off x="25" y="342613"/>
            <a:ext cx="91440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" sz="3200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お客様の声</a:t>
            </a:r>
            <a:endParaRPr sz="3200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  <p:cxnSp>
        <p:nvCxnSpPr>
          <p:cNvPr id="708" name="Google Shape;708;p81"/>
          <p:cNvCxnSpPr/>
          <p:nvPr/>
        </p:nvCxnSpPr>
        <p:spPr>
          <a:xfrm>
            <a:off x="828450" y="976525"/>
            <a:ext cx="7487100" cy="0"/>
          </a:xfrm>
          <a:prstGeom prst="straightConnector1">
            <a:avLst/>
          </a:prstGeom>
          <a:noFill/>
          <a:ln cap="flat" cmpd="sng" w="28575">
            <a:solidFill>
              <a:srgbClr val="EF84C9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09" name="Google Shape;709;p81"/>
          <p:cNvSpPr txBox="1"/>
          <p:nvPr/>
        </p:nvSpPr>
        <p:spPr>
          <a:xfrm>
            <a:off x="203225" y="4393550"/>
            <a:ext cx="3508800" cy="7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" sz="1650">
                <a:solidFill>
                  <a:schemeClr val="dk1"/>
                </a:solidFill>
                <a:latin typeface="Kosugi Maru"/>
                <a:ea typeface="Kosugi Maru"/>
                <a:cs typeface="Kosugi Maru"/>
                <a:sym typeface="Kosugi Maru"/>
              </a:rPr>
              <a:t>児童発達支援事業所・児童指導員</a:t>
            </a:r>
            <a:endParaRPr sz="1650">
              <a:solidFill>
                <a:schemeClr val="dk1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" sz="1650">
                <a:solidFill>
                  <a:schemeClr val="dk1"/>
                </a:solidFill>
                <a:latin typeface="Kosugi Maru"/>
                <a:ea typeface="Kosugi Maru"/>
                <a:cs typeface="Kosugi Maru"/>
                <a:sym typeface="Kosugi Maru"/>
              </a:rPr>
              <a:t>やすこさん</a:t>
            </a:r>
            <a:endParaRPr sz="1650">
              <a:solidFill>
                <a:schemeClr val="dk1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  <p:sp>
        <p:nvSpPr>
          <p:cNvPr id="710" name="Google Shape;710;p81"/>
          <p:cNvSpPr txBox="1"/>
          <p:nvPr/>
        </p:nvSpPr>
        <p:spPr>
          <a:xfrm>
            <a:off x="3904425" y="1072575"/>
            <a:ext cx="4851600" cy="386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" sz="1500">
                <a:solidFill>
                  <a:schemeClr val="dk1"/>
                </a:solidFill>
                <a:latin typeface="Kosugi Maru"/>
                <a:ea typeface="Kosugi Maru"/>
                <a:cs typeface="Kosugi Maru"/>
                <a:sym typeface="Kosugi Maru"/>
              </a:rPr>
              <a:t>受講前：</a:t>
            </a:r>
            <a:endParaRPr sz="1500">
              <a:solidFill>
                <a:schemeClr val="dk1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" sz="1500">
                <a:solidFill>
                  <a:schemeClr val="dk1"/>
                </a:solidFill>
                <a:latin typeface="Kosugi Maru"/>
                <a:ea typeface="Kosugi Maru"/>
                <a:cs typeface="Kosugi Maru"/>
                <a:sym typeface="Kosugi Maru"/>
              </a:rPr>
              <a:t>子育て経験は豊富でも、</a:t>
            </a:r>
            <a:endParaRPr sz="1500">
              <a:solidFill>
                <a:schemeClr val="dk1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500">
                <a:solidFill>
                  <a:srgbClr val="1155CC"/>
                </a:solidFill>
                <a:latin typeface="Kosugi Maru"/>
                <a:ea typeface="Kosugi Maru"/>
                <a:cs typeface="Kosugi Maru"/>
                <a:sym typeface="Kosugi Maru"/>
              </a:rPr>
              <a:t>「もっと寄り添いたい」</a:t>
            </a:r>
            <a:r>
              <a:rPr lang="ja" sz="1500">
                <a:solidFill>
                  <a:schemeClr val="dk1"/>
                </a:solidFill>
                <a:latin typeface="Kosugi Maru"/>
                <a:ea typeface="Kosugi Maru"/>
                <a:cs typeface="Kosugi Maru"/>
                <a:sym typeface="Kosugi Maru"/>
              </a:rPr>
              <a:t>と限界を感じていました。</a:t>
            </a:r>
            <a:endParaRPr sz="1500">
              <a:solidFill>
                <a:schemeClr val="dk1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" sz="1500">
                <a:solidFill>
                  <a:schemeClr val="dk1"/>
                </a:solidFill>
                <a:latin typeface="Kosugi Maru"/>
                <a:ea typeface="Kosugi Maru"/>
                <a:cs typeface="Kosugi Maru"/>
                <a:sym typeface="Kosugi Maru"/>
              </a:rPr>
              <a:t>受講後：</a:t>
            </a:r>
            <a:endParaRPr sz="1500">
              <a:solidFill>
                <a:schemeClr val="dk1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" sz="1500">
                <a:solidFill>
                  <a:schemeClr val="dk1"/>
                </a:solidFill>
                <a:latin typeface="Kosugi Maru"/>
                <a:ea typeface="Kosugi Maru"/>
                <a:cs typeface="Kosugi Maru"/>
                <a:sym typeface="Kosugi Maru"/>
              </a:rPr>
              <a:t>講座で“</a:t>
            </a:r>
            <a:r>
              <a:rPr lang="ja" sz="1500">
                <a:solidFill>
                  <a:srgbClr val="FF00FF"/>
                </a:solidFill>
                <a:latin typeface="Kosugi Maru"/>
                <a:ea typeface="Kosugi Maru"/>
                <a:cs typeface="Kosugi Maru"/>
                <a:sym typeface="Kosugi Maru"/>
              </a:rPr>
              <a:t>脳の発達</a:t>
            </a:r>
            <a:r>
              <a:rPr lang="ja" sz="1500">
                <a:solidFill>
                  <a:schemeClr val="dk1"/>
                </a:solidFill>
                <a:latin typeface="Kosugi Maru"/>
                <a:ea typeface="Kosugi Maru"/>
                <a:cs typeface="Kosugi Maru"/>
                <a:sym typeface="Kosugi Maru"/>
              </a:rPr>
              <a:t>”を知り、</a:t>
            </a:r>
            <a:endParaRPr sz="1500">
              <a:solidFill>
                <a:schemeClr val="dk1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" sz="1500">
                <a:solidFill>
                  <a:srgbClr val="FF00FF"/>
                </a:solidFill>
                <a:latin typeface="Kosugi Maru"/>
                <a:ea typeface="Kosugi Maru"/>
                <a:cs typeface="Kosugi Maru"/>
                <a:sym typeface="Kosugi Maru"/>
              </a:rPr>
              <a:t>泣き叫ぶ理由が「学びのプロセス」</a:t>
            </a:r>
            <a:r>
              <a:rPr lang="ja" sz="1500">
                <a:solidFill>
                  <a:schemeClr val="dk1"/>
                </a:solidFill>
                <a:latin typeface="Kosugi Maru"/>
                <a:ea typeface="Kosugi Maru"/>
                <a:cs typeface="Kosugi Maru"/>
                <a:sym typeface="Kosugi Maru"/>
              </a:rPr>
              <a:t>と分かるように。</a:t>
            </a:r>
            <a:endParaRPr sz="1500">
              <a:solidFill>
                <a:schemeClr val="dk1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" sz="1500">
                <a:solidFill>
                  <a:schemeClr val="dk1"/>
                </a:solidFill>
                <a:latin typeface="Kosugi Maru"/>
                <a:ea typeface="Kosugi Maru"/>
                <a:cs typeface="Kosugi Maru"/>
                <a:sym typeface="Kosugi Maru"/>
              </a:rPr>
              <a:t>今：</a:t>
            </a:r>
            <a:endParaRPr sz="1500">
              <a:solidFill>
                <a:schemeClr val="dk1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" sz="1500">
                <a:solidFill>
                  <a:schemeClr val="dk1"/>
                </a:solidFill>
                <a:latin typeface="Kosugi Maru"/>
                <a:ea typeface="Kosugi Maru"/>
                <a:cs typeface="Kosugi Maru"/>
                <a:sym typeface="Kosugi Maru"/>
              </a:rPr>
              <a:t>発達に課題のある子との関わり方も変わり、</a:t>
            </a:r>
            <a:endParaRPr sz="1500">
              <a:solidFill>
                <a:schemeClr val="dk1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" sz="1500">
                <a:solidFill>
                  <a:srgbClr val="FF00FF"/>
                </a:solidFill>
                <a:latin typeface="Kosugi Maru"/>
                <a:ea typeface="Kosugi Maru"/>
                <a:cs typeface="Kosugi Maru"/>
                <a:sym typeface="Kosugi Maru"/>
              </a:rPr>
              <a:t>保護者サポートの幅が広がりました！</a:t>
            </a:r>
            <a:endParaRPr sz="1500">
              <a:solidFill>
                <a:srgbClr val="FF00FF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" sz="1500">
                <a:solidFill>
                  <a:srgbClr val="FF00FF"/>
                </a:solidFill>
                <a:latin typeface="Kosugi Maru"/>
                <a:ea typeface="Kosugi Maru"/>
                <a:cs typeface="Kosugi Maru"/>
                <a:sym typeface="Kosugi Maru"/>
              </a:rPr>
              <a:t>「保育士・先生・悩む保護者にぜひ。</a:t>
            </a:r>
            <a:endParaRPr sz="1500">
              <a:solidFill>
                <a:srgbClr val="FF00FF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" sz="1500">
                <a:solidFill>
                  <a:srgbClr val="FF00FF"/>
                </a:solidFill>
                <a:latin typeface="Kosugi Maru"/>
                <a:ea typeface="Kosugi Maru"/>
                <a:cs typeface="Kosugi Maru"/>
                <a:sym typeface="Kosugi Maru"/>
              </a:rPr>
              <a:t>勉強できる子＝良い子、じゃないんです」</a:t>
            </a:r>
            <a:endParaRPr sz="1500">
              <a:solidFill>
                <a:srgbClr val="FF00FF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  <p:pic>
        <p:nvPicPr>
          <p:cNvPr id="711" name="Google Shape;711;p81" title="image_2025_11_6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6850" y="1220650"/>
            <a:ext cx="2738704" cy="30532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6" name="Shape 7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" name="Google Shape;717;p82"/>
          <p:cNvSpPr txBox="1"/>
          <p:nvPr>
            <p:ph idx="12" type="sldNum"/>
          </p:nvPr>
        </p:nvSpPr>
        <p:spPr>
          <a:xfrm>
            <a:off x="6457951" y="4767264"/>
            <a:ext cx="2057400" cy="273900"/>
          </a:xfrm>
          <a:prstGeom prst="rect">
            <a:avLst/>
          </a:prstGeom>
        </p:spPr>
        <p:txBody>
          <a:bodyPr anchorCtr="0" anchor="ctr" bIns="39550" lIns="79125" spcFirstLastPara="1" rIns="79125" wrap="square" tIns="3955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  <p:sp>
        <p:nvSpPr>
          <p:cNvPr id="718" name="Google Shape;718;p82"/>
          <p:cNvSpPr txBox="1"/>
          <p:nvPr>
            <p:ph idx="11" type="ftr"/>
          </p:nvPr>
        </p:nvSpPr>
        <p:spPr>
          <a:xfrm>
            <a:off x="3028973" y="4817889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>
                <a:latin typeface="M PLUS Rounded 1c Light"/>
                <a:ea typeface="M PLUS Rounded 1c Light"/>
                <a:cs typeface="M PLUS Rounded 1c Light"/>
                <a:sym typeface="M PLUS Rounded 1c Light"/>
              </a:rPr>
              <a:t>©︎2025日本ママアカデミー協会</a:t>
            </a:r>
            <a:endParaRPr>
              <a:latin typeface="M PLUS Rounded 1c Light"/>
              <a:ea typeface="M PLUS Rounded 1c Light"/>
              <a:cs typeface="M PLUS Rounded 1c Light"/>
              <a:sym typeface="M PLUS Rounded 1c Light"/>
            </a:endParaRPr>
          </a:p>
        </p:txBody>
      </p:sp>
      <p:sp>
        <p:nvSpPr>
          <p:cNvPr id="719" name="Google Shape;719;p82"/>
          <p:cNvSpPr txBox="1"/>
          <p:nvPr/>
        </p:nvSpPr>
        <p:spPr>
          <a:xfrm>
            <a:off x="25" y="342613"/>
            <a:ext cx="91440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" sz="3200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お客様の声</a:t>
            </a:r>
            <a:endParaRPr sz="3200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  <p:cxnSp>
        <p:nvCxnSpPr>
          <p:cNvPr id="720" name="Google Shape;720;p82"/>
          <p:cNvCxnSpPr/>
          <p:nvPr/>
        </p:nvCxnSpPr>
        <p:spPr>
          <a:xfrm>
            <a:off x="828450" y="976525"/>
            <a:ext cx="7487100" cy="0"/>
          </a:xfrm>
          <a:prstGeom prst="straightConnector1">
            <a:avLst/>
          </a:prstGeom>
          <a:noFill/>
          <a:ln cap="flat" cmpd="sng" w="28575">
            <a:solidFill>
              <a:srgbClr val="EF84C9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21" name="Google Shape;721;p82"/>
          <p:cNvSpPr txBox="1"/>
          <p:nvPr/>
        </p:nvSpPr>
        <p:spPr>
          <a:xfrm>
            <a:off x="3833200" y="1220650"/>
            <a:ext cx="4810800" cy="374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" sz="1450">
                <a:solidFill>
                  <a:schemeClr val="dk1"/>
                </a:solidFill>
                <a:latin typeface="Kosugi Maru"/>
                <a:ea typeface="Kosugi Maru"/>
                <a:cs typeface="Kosugi Maru"/>
                <a:sym typeface="Kosugi Maru"/>
              </a:rPr>
              <a:t>受講前：</a:t>
            </a:r>
            <a:endParaRPr sz="1450">
              <a:solidFill>
                <a:schemeClr val="dk1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" sz="1450">
                <a:solidFill>
                  <a:schemeClr val="dk1"/>
                </a:solidFill>
                <a:latin typeface="Kosugi Maru"/>
                <a:ea typeface="Kosugi Maru"/>
                <a:cs typeface="Kosugi Maru"/>
                <a:sym typeface="Kosugi Maru"/>
              </a:rPr>
              <a:t>看護師→フリーランス転身も、</a:t>
            </a:r>
            <a:r>
              <a:rPr b="1" lang="ja" sz="1450">
                <a:solidFill>
                  <a:srgbClr val="4472C4"/>
                </a:solidFill>
                <a:latin typeface="Kosugi Maru"/>
                <a:ea typeface="Kosugi Maru"/>
                <a:cs typeface="Kosugi Maru"/>
                <a:sym typeface="Kosugi Maru"/>
              </a:rPr>
              <a:t>子どもと遊ぶ時間ゼロ。いたずらにイライラ…</a:t>
            </a:r>
            <a:endParaRPr b="1" sz="1450">
              <a:solidFill>
                <a:srgbClr val="4472C4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50">
              <a:solidFill>
                <a:schemeClr val="dk1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" sz="1450">
                <a:solidFill>
                  <a:schemeClr val="dk1"/>
                </a:solidFill>
                <a:latin typeface="Kosugi Maru"/>
                <a:ea typeface="Kosugi Maru"/>
                <a:cs typeface="Kosugi Maru"/>
                <a:sym typeface="Kosugi Maru"/>
              </a:rPr>
              <a:t>受講後：</a:t>
            </a:r>
            <a:endParaRPr sz="1450">
              <a:solidFill>
                <a:schemeClr val="dk1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" sz="1450">
                <a:solidFill>
                  <a:srgbClr val="FF00FF"/>
                </a:solidFill>
                <a:latin typeface="Kosugi Maru"/>
                <a:ea typeface="Kosugi Maru"/>
                <a:cs typeface="Kosugi Maru"/>
                <a:sym typeface="Kosugi Maru"/>
              </a:rPr>
              <a:t>「いたずら＝脳を育てる遊び」</a:t>
            </a:r>
            <a:r>
              <a:rPr lang="ja" sz="1450">
                <a:solidFill>
                  <a:schemeClr val="dk1"/>
                </a:solidFill>
                <a:latin typeface="Kosugi Maru"/>
                <a:ea typeface="Kosugi Maru"/>
                <a:cs typeface="Kosugi Maru"/>
                <a:sym typeface="Kosugi Maru"/>
              </a:rPr>
              <a:t>と気づき、</a:t>
            </a:r>
            <a:endParaRPr sz="1450">
              <a:solidFill>
                <a:schemeClr val="dk1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" sz="1450">
                <a:solidFill>
                  <a:schemeClr val="dk1"/>
                </a:solidFill>
                <a:latin typeface="Kosugi Maru"/>
                <a:ea typeface="Kosugi Maru"/>
                <a:cs typeface="Kosugi Maru"/>
                <a:sym typeface="Kosugi Maru"/>
              </a:rPr>
              <a:t>毎日一緒に遊ぶ時間が出来ました。</a:t>
            </a:r>
            <a:endParaRPr sz="1450">
              <a:solidFill>
                <a:schemeClr val="dk1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50">
              <a:solidFill>
                <a:schemeClr val="dk1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" sz="1450">
                <a:solidFill>
                  <a:schemeClr val="dk1"/>
                </a:solidFill>
                <a:latin typeface="Kosugi Maru"/>
                <a:ea typeface="Kosugi Maru"/>
                <a:cs typeface="Kosugi Maru"/>
                <a:sym typeface="Kosugi Maru"/>
              </a:rPr>
              <a:t>今：</a:t>
            </a:r>
            <a:endParaRPr sz="1450">
              <a:solidFill>
                <a:schemeClr val="dk1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" sz="1450">
                <a:solidFill>
                  <a:schemeClr val="dk1"/>
                </a:solidFill>
                <a:latin typeface="Kosugi Maru"/>
                <a:ea typeface="Kosugi Maru"/>
                <a:cs typeface="Kosugi Maru"/>
                <a:sym typeface="Kosugi Maru"/>
              </a:rPr>
              <a:t>自己肯定感UPの活動に</a:t>
            </a:r>
            <a:r>
              <a:rPr lang="ja" sz="1450">
                <a:solidFill>
                  <a:srgbClr val="FF00FF"/>
                </a:solidFill>
                <a:latin typeface="Kosugi Maru"/>
                <a:ea typeface="Kosugi Maru"/>
                <a:cs typeface="Kosugi Maru"/>
                <a:sym typeface="Kosugi Maru"/>
              </a:rPr>
              <a:t>“育脳”をプラス。</a:t>
            </a:r>
            <a:endParaRPr sz="1450">
              <a:solidFill>
                <a:srgbClr val="FF00FF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" sz="1450">
                <a:solidFill>
                  <a:srgbClr val="FF00FF"/>
                </a:solidFill>
                <a:latin typeface="Kosugi Maru"/>
                <a:ea typeface="Kosugi Maru"/>
                <a:cs typeface="Kosugi Maru"/>
                <a:sym typeface="Kosugi Maru"/>
              </a:rPr>
              <a:t>子どもの無限の可能性を育脳でもっと広げたいです！</a:t>
            </a:r>
            <a:endParaRPr sz="1450">
              <a:solidFill>
                <a:srgbClr val="FF00FF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50">
              <a:solidFill>
                <a:schemeClr val="dk1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" sz="1450">
                <a:solidFill>
                  <a:srgbClr val="FF00FF"/>
                </a:solidFill>
                <a:latin typeface="Kosugi Maru"/>
                <a:ea typeface="Kosugi Maru"/>
                <a:cs typeface="Kosugi Maru"/>
                <a:sym typeface="Kosugi Maru"/>
              </a:rPr>
              <a:t>「孤独なママにこそ！</a:t>
            </a:r>
            <a:endParaRPr sz="1450">
              <a:solidFill>
                <a:srgbClr val="FF00FF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" sz="1450">
                <a:solidFill>
                  <a:srgbClr val="FF00FF"/>
                </a:solidFill>
                <a:latin typeface="Kosugi Maru"/>
                <a:ea typeface="Kosugi Maru"/>
                <a:cs typeface="Kosugi Maru"/>
                <a:sym typeface="Kosugi Maru"/>
              </a:rPr>
              <a:t>子どももママも笑顔になれる講座です」</a:t>
            </a:r>
            <a:endParaRPr sz="1450">
              <a:solidFill>
                <a:srgbClr val="FF00FF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  <p:pic>
        <p:nvPicPr>
          <p:cNvPr id="722" name="Google Shape;722;p82" title="受講生の声 - 3.png"/>
          <p:cNvPicPr preferRelativeResize="0"/>
          <p:nvPr/>
        </p:nvPicPr>
        <p:blipFill rotWithShape="1">
          <a:blip r:embed="rId3">
            <a:alphaModFix/>
          </a:blip>
          <a:srcRect b="23219" l="11416" r="11608" t="0"/>
          <a:stretch/>
        </p:blipFill>
        <p:spPr>
          <a:xfrm>
            <a:off x="572600" y="1172125"/>
            <a:ext cx="2833375" cy="3014850"/>
          </a:xfrm>
          <a:prstGeom prst="rect">
            <a:avLst/>
          </a:prstGeom>
          <a:noFill/>
          <a:ln>
            <a:noFill/>
          </a:ln>
        </p:spPr>
      </p:pic>
      <p:sp>
        <p:nvSpPr>
          <p:cNvPr id="723" name="Google Shape;723;p82"/>
          <p:cNvSpPr txBox="1"/>
          <p:nvPr/>
        </p:nvSpPr>
        <p:spPr>
          <a:xfrm>
            <a:off x="234888" y="4310375"/>
            <a:ext cx="3508800" cy="7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" sz="1650">
                <a:solidFill>
                  <a:schemeClr val="dk1"/>
                </a:solidFill>
                <a:latin typeface="Kosugi Maru"/>
                <a:ea typeface="Kosugi Maru"/>
                <a:cs typeface="Kosugi Maru"/>
                <a:sym typeface="Kosugi Maru"/>
              </a:rPr>
              <a:t>元看護師・フリーランス</a:t>
            </a:r>
            <a:endParaRPr sz="1650">
              <a:solidFill>
                <a:schemeClr val="dk1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" sz="1650">
                <a:solidFill>
                  <a:schemeClr val="dk1"/>
                </a:solidFill>
                <a:latin typeface="Kosugi Maru"/>
                <a:ea typeface="Kosugi Maru"/>
                <a:cs typeface="Kosugi Maru"/>
                <a:sym typeface="Kosugi Maru"/>
              </a:rPr>
              <a:t>ななさん</a:t>
            </a:r>
            <a:endParaRPr sz="1650">
              <a:solidFill>
                <a:schemeClr val="dk1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8" name="Shape 7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9" name="Google Shape;729;p83"/>
          <p:cNvSpPr txBox="1"/>
          <p:nvPr>
            <p:ph idx="12" type="sldNum"/>
          </p:nvPr>
        </p:nvSpPr>
        <p:spPr>
          <a:xfrm>
            <a:off x="6457951" y="4767264"/>
            <a:ext cx="2057400" cy="273900"/>
          </a:xfrm>
          <a:prstGeom prst="rect">
            <a:avLst/>
          </a:prstGeom>
        </p:spPr>
        <p:txBody>
          <a:bodyPr anchorCtr="0" anchor="ctr" bIns="39550" lIns="79125" spcFirstLastPara="1" rIns="79125" wrap="square" tIns="3955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  <p:sp>
        <p:nvSpPr>
          <p:cNvPr id="730" name="Google Shape;730;p83"/>
          <p:cNvSpPr txBox="1"/>
          <p:nvPr>
            <p:ph idx="11" type="ftr"/>
          </p:nvPr>
        </p:nvSpPr>
        <p:spPr>
          <a:xfrm>
            <a:off x="3028973" y="4817889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>
                <a:latin typeface="M PLUS Rounded 1c Light"/>
                <a:ea typeface="M PLUS Rounded 1c Light"/>
                <a:cs typeface="M PLUS Rounded 1c Light"/>
                <a:sym typeface="M PLUS Rounded 1c Light"/>
              </a:rPr>
              <a:t>©︎2025日本ママアカデミー協会</a:t>
            </a:r>
            <a:endParaRPr>
              <a:latin typeface="M PLUS Rounded 1c Light"/>
              <a:ea typeface="M PLUS Rounded 1c Light"/>
              <a:cs typeface="M PLUS Rounded 1c Light"/>
              <a:sym typeface="M PLUS Rounded 1c Light"/>
            </a:endParaRPr>
          </a:p>
        </p:txBody>
      </p:sp>
      <p:sp>
        <p:nvSpPr>
          <p:cNvPr id="731" name="Google Shape;731;p83"/>
          <p:cNvSpPr txBox="1"/>
          <p:nvPr/>
        </p:nvSpPr>
        <p:spPr>
          <a:xfrm>
            <a:off x="25" y="342613"/>
            <a:ext cx="91440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  <p:sp>
        <p:nvSpPr>
          <p:cNvPr id="732" name="Google Shape;732;p83"/>
          <p:cNvSpPr txBox="1"/>
          <p:nvPr/>
        </p:nvSpPr>
        <p:spPr>
          <a:xfrm>
            <a:off x="866425" y="1670413"/>
            <a:ext cx="7533900" cy="138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 sz="3900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覚えることは</a:t>
            </a:r>
            <a:endParaRPr sz="3900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 sz="3900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とてもカンタンな内容</a:t>
            </a:r>
            <a:endParaRPr sz="3900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7" name="Shape 7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8" name="Google Shape;738;p84"/>
          <p:cNvSpPr txBox="1"/>
          <p:nvPr/>
        </p:nvSpPr>
        <p:spPr>
          <a:xfrm>
            <a:off x="25" y="342613"/>
            <a:ext cx="91440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" sz="3200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大事な３つのポイント</a:t>
            </a:r>
            <a:endParaRPr sz="3200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  <p:cxnSp>
        <p:nvCxnSpPr>
          <p:cNvPr id="739" name="Google Shape;739;p84"/>
          <p:cNvCxnSpPr/>
          <p:nvPr/>
        </p:nvCxnSpPr>
        <p:spPr>
          <a:xfrm>
            <a:off x="828450" y="976525"/>
            <a:ext cx="7487100" cy="0"/>
          </a:xfrm>
          <a:prstGeom prst="straightConnector1">
            <a:avLst/>
          </a:prstGeom>
          <a:noFill/>
          <a:ln cap="flat" cmpd="sng" w="28575">
            <a:solidFill>
              <a:srgbClr val="EF84C9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40" name="Google Shape;740;p84"/>
          <p:cNvSpPr txBox="1"/>
          <p:nvPr/>
        </p:nvSpPr>
        <p:spPr>
          <a:xfrm>
            <a:off x="877125" y="1445838"/>
            <a:ext cx="7533900" cy="78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 sz="3900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その１：</a:t>
            </a:r>
            <a:r>
              <a:rPr lang="ja" sz="3900">
                <a:solidFill>
                  <a:srgbClr val="EF84C9"/>
                </a:solidFill>
                <a:latin typeface="Kosugi Maru"/>
                <a:ea typeface="Kosugi Maru"/>
                <a:cs typeface="Kosugi Maru"/>
                <a:sym typeface="Kosugi Maru"/>
              </a:rPr>
              <a:t>育脳マインド</a:t>
            </a:r>
            <a:endParaRPr sz="3900">
              <a:solidFill>
                <a:srgbClr val="EF84C9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  <p:sp>
        <p:nvSpPr>
          <p:cNvPr id="741" name="Google Shape;741;p84"/>
          <p:cNvSpPr txBox="1"/>
          <p:nvPr/>
        </p:nvSpPr>
        <p:spPr>
          <a:xfrm>
            <a:off x="2084250" y="2657075"/>
            <a:ext cx="6231300" cy="181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2650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一見「イラっ」とする子どもの行動も</a:t>
            </a:r>
            <a:endParaRPr sz="2650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2650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実は育脳に役立っていると思うと</a:t>
            </a:r>
            <a:endParaRPr sz="2650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" sz="2650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気にならなくなる</a:t>
            </a:r>
            <a:endParaRPr sz="2650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50">
              <a:solidFill>
                <a:schemeClr val="accent1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6" name="Shape 7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" name="Google Shape;747;p85"/>
          <p:cNvSpPr txBox="1"/>
          <p:nvPr/>
        </p:nvSpPr>
        <p:spPr>
          <a:xfrm>
            <a:off x="25" y="342613"/>
            <a:ext cx="91440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" sz="3200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大事な３つのポイント</a:t>
            </a:r>
            <a:endParaRPr sz="3200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  <p:cxnSp>
        <p:nvCxnSpPr>
          <p:cNvPr id="748" name="Google Shape;748;p85"/>
          <p:cNvCxnSpPr/>
          <p:nvPr/>
        </p:nvCxnSpPr>
        <p:spPr>
          <a:xfrm>
            <a:off x="828450" y="976525"/>
            <a:ext cx="7487100" cy="0"/>
          </a:xfrm>
          <a:prstGeom prst="straightConnector1">
            <a:avLst/>
          </a:prstGeom>
          <a:noFill/>
          <a:ln cap="flat" cmpd="sng" w="28575">
            <a:solidFill>
              <a:srgbClr val="EF84C9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49" name="Google Shape;749;p85"/>
          <p:cNvSpPr txBox="1"/>
          <p:nvPr/>
        </p:nvSpPr>
        <p:spPr>
          <a:xfrm>
            <a:off x="877125" y="1445838"/>
            <a:ext cx="75339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 sz="3900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その２：</a:t>
            </a:r>
            <a:r>
              <a:rPr lang="ja" sz="4000">
                <a:solidFill>
                  <a:srgbClr val="EF84C9"/>
                </a:solidFill>
                <a:latin typeface="Kosugi Maru"/>
                <a:ea typeface="Kosugi Maru"/>
                <a:cs typeface="Kosugi Maru"/>
                <a:sym typeface="Kosugi Maru"/>
              </a:rPr>
              <a:t>1秒育脳®︎</a:t>
            </a:r>
            <a:endParaRPr sz="3900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  <p:sp>
        <p:nvSpPr>
          <p:cNvPr id="750" name="Google Shape;750;p85"/>
          <p:cNvSpPr txBox="1"/>
          <p:nvPr/>
        </p:nvSpPr>
        <p:spPr>
          <a:xfrm>
            <a:off x="2084250" y="2657075"/>
            <a:ext cx="6231300" cy="228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" sz="2650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1秒でできる”タッチケア”の</a:t>
            </a:r>
            <a:endParaRPr sz="2650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2650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触れ合いメニュー</a:t>
            </a:r>
            <a:endParaRPr sz="2650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" sz="2650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ママが楽になるために考案した</a:t>
            </a:r>
            <a:endParaRPr sz="2650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" sz="2650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メソッドだから覚えるのもラク^^</a:t>
            </a:r>
            <a:endParaRPr sz="2650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50">
              <a:solidFill>
                <a:schemeClr val="accent1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5" name="Shape 7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6" name="Google Shape;756;p86"/>
          <p:cNvSpPr txBox="1"/>
          <p:nvPr/>
        </p:nvSpPr>
        <p:spPr>
          <a:xfrm>
            <a:off x="25" y="342613"/>
            <a:ext cx="91440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" sz="3200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大事な３つのポイント</a:t>
            </a:r>
            <a:endParaRPr sz="3200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  <p:cxnSp>
        <p:nvCxnSpPr>
          <p:cNvPr id="757" name="Google Shape;757;p86"/>
          <p:cNvCxnSpPr/>
          <p:nvPr/>
        </p:nvCxnSpPr>
        <p:spPr>
          <a:xfrm>
            <a:off x="828450" y="976525"/>
            <a:ext cx="7487100" cy="0"/>
          </a:xfrm>
          <a:prstGeom prst="straightConnector1">
            <a:avLst/>
          </a:prstGeom>
          <a:noFill/>
          <a:ln cap="flat" cmpd="sng" w="28575">
            <a:solidFill>
              <a:srgbClr val="EF84C9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58" name="Google Shape;758;p86"/>
          <p:cNvSpPr txBox="1"/>
          <p:nvPr/>
        </p:nvSpPr>
        <p:spPr>
          <a:xfrm>
            <a:off x="877125" y="1445838"/>
            <a:ext cx="7533900" cy="78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 sz="3900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その３：</a:t>
            </a:r>
            <a:r>
              <a:rPr lang="ja" sz="3900">
                <a:solidFill>
                  <a:srgbClr val="EF84C9"/>
                </a:solidFill>
                <a:latin typeface="Kosugi Maru"/>
                <a:ea typeface="Kosugi Maru"/>
                <a:cs typeface="Kosugi Maru"/>
                <a:sym typeface="Kosugi Maru"/>
              </a:rPr>
              <a:t>育脳</a:t>
            </a:r>
            <a:r>
              <a:rPr lang="ja" sz="3900">
                <a:solidFill>
                  <a:srgbClr val="EF84C9"/>
                </a:solidFill>
                <a:latin typeface="Kosugi Maru"/>
                <a:ea typeface="Kosugi Maru"/>
                <a:cs typeface="Kosugi Maru"/>
                <a:sym typeface="Kosugi Maru"/>
              </a:rPr>
              <a:t>ルーティン</a:t>
            </a:r>
            <a:endParaRPr sz="3900">
              <a:solidFill>
                <a:srgbClr val="EF84C9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  <p:sp>
        <p:nvSpPr>
          <p:cNvPr id="759" name="Google Shape;759;p86"/>
          <p:cNvSpPr txBox="1"/>
          <p:nvPr/>
        </p:nvSpPr>
        <p:spPr>
          <a:xfrm>
            <a:off x="2084250" y="2657075"/>
            <a:ext cx="6231300" cy="199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" sz="2650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やりたい放題との区別をつけて</a:t>
            </a:r>
            <a:endParaRPr sz="2650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50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2650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決まった時間の行動を習慣づけて</a:t>
            </a:r>
            <a:endParaRPr sz="2650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" sz="2650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育脳時間を確実に確保する</a:t>
            </a:r>
            <a:endParaRPr sz="1450">
              <a:solidFill>
                <a:schemeClr val="accent1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4" name="Shape 7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5" name="Google Shape;765;p87"/>
          <p:cNvSpPr txBox="1"/>
          <p:nvPr/>
        </p:nvSpPr>
        <p:spPr>
          <a:xfrm>
            <a:off x="877125" y="1445838"/>
            <a:ext cx="7533900" cy="209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 sz="3900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なぜ</a:t>
            </a:r>
            <a:endParaRPr sz="3900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4600">
                <a:solidFill>
                  <a:srgbClr val="EF84C9"/>
                </a:solidFill>
                <a:latin typeface="Kosugi Maru"/>
                <a:ea typeface="Kosugi Maru"/>
                <a:cs typeface="Kosugi Maru"/>
                <a:sym typeface="Kosugi Maru"/>
              </a:rPr>
              <a:t>育脳子育てカウンセラー</a:t>
            </a:r>
            <a:endParaRPr b="1" sz="4600">
              <a:solidFill>
                <a:srgbClr val="EF84C9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 sz="3900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のイベントをやっているの？</a:t>
            </a:r>
            <a:endParaRPr sz="3900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0" name="Shape 7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1" name="Google Shape;771;p88"/>
          <p:cNvSpPr txBox="1"/>
          <p:nvPr/>
        </p:nvSpPr>
        <p:spPr>
          <a:xfrm>
            <a:off x="25" y="342613"/>
            <a:ext cx="91440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" sz="3200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私の夢：その１</a:t>
            </a:r>
            <a:endParaRPr sz="3200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  <p:cxnSp>
        <p:nvCxnSpPr>
          <p:cNvPr id="772" name="Google Shape;772;p88"/>
          <p:cNvCxnSpPr/>
          <p:nvPr/>
        </p:nvCxnSpPr>
        <p:spPr>
          <a:xfrm>
            <a:off x="828450" y="976525"/>
            <a:ext cx="7487100" cy="0"/>
          </a:xfrm>
          <a:prstGeom prst="straightConnector1">
            <a:avLst/>
          </a:prstGeom>
          <a:noFill/>
          <a:ln cap="flat" cmpd="sng" w="28575">
            <a:solidFill>
              <a:srgbClr val="EF84C9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73" name="Google Shape;773;p88"/>
          <p:cNvSpPr txBox="1"/>
          <p:nvPr/>
        </p:nvSpPr>
        <p:spPr>
          <a:xfrm>
            <a:off x="877275" y="1144813"/>
            <a:ext cx="7533900" cy="78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 sz="3900">
                <a:solidFill>
                  <a:srgbClr val="EF84C9"/>
                </a:solidFill>
                <a:latin typeface="Kosugi Maru"/>
                <a:ea typeface="Kosugi Maru"/>
                <a:cs typeface="Kosugi Maru"/>
                <a:sym typeface="Kosugi Maru"/>
              </a:rPr>
              <a:t>女性の未来の可能性を広げたい</a:t>
            </a:r>
            <a:endParaRPr sz="3900">
              <a:solidFill>
                <a:srgbClr val="EF84C9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  <p:sp>
        <p:nvSpPr>
          <p:cNvPr id="774" name="Google Shape;774;p88"/>
          <p:cNvSpPr txBox="1"/>
          <p:nvPr/>
        </p:nvSpPr>
        <p:spPr>
          <a:xfrm>
            <a:off x="1110300" y="1929925"/>
            <a:ext cx="7667100" cy="293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2650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・ママ達が将来的にどんどんラクになっていく</a:t>
            </a:r>
            <a:endParaRPr sz="2650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2650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・人生もっと自由に考えられる</a:t>
            </a:r>
            <a:endParaRPr sz="2650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2650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・女性がもっと活躍することもできる</a:t>
            </a:r>
            <a:endParaRPr sz="2650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2650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・家族の選択、収入をあげる選択</a:t>
            </a:r>
            <a:endParaRPr sz="2650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2650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　どちらもできる</a:t>
            </a:r>
            <a:endParaRPr sz="2650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" sz="2650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　→選択肢を増やすことができる</a:t>
            </a:r>
            <a:endParaRPr sz="2650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9" name="Shape 7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0" name="Google Shape;780;p89"/>
          <p:cNvSpPr txBox="1"/>
          <p:nvPr/>
        </p:nvSpPr>
        <p:spPr>
          <a:xfrm>
            <a:off x="25" y="342613"/>
            <a:ext cx="91440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" sz="3200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私の</a:t>
            </a:r>
            <a:r>
              <a:rPr lang="ja" sz="3200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夢：その２</a:t>
            </a:r>
            <a:endParaRPr sz="3200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  <p:cxnSp>
        <p:nvCxnSpPr>
          <p:cNvPr id="781" name="Google Shape;781;p89"/>
          <p:cNvCxnSpPr/>
          <p:nvPr/>
        </p:nvCxnSpPr>
        <p:spPr>
          <a:xfrm>
            <a:off x="828450" y="976525"/>
            <a:ext cx="7487100" cy="0"/>
          </a:xfrm>
          <a:prstGeom prst="straightConnector1">
            <a:avLst/>
          </a:prstGeom>
          <a:noFill/>
          <a:ln cap="flat" cmpd="sng" w="28575">
            <a:solidFill>
              <a:srgbClr val="EF84C9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82" name="Google Shape;782;p89"/>
          <p:cNvSpPr txBox="1"/>
          <p:nvPr/>
        </p:nvSpPr>
        <p:spPr>
          <a:xfrm>
            <a:off x="877275" y="1144813"/>
            <a:ext cx="7533900" cy="138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 sz="3900">
                <a:solidFill>
                  <a:srgbClr val="EF84C9"/>
                </a:solidFill>
                <a:latin typeface="Kosugi Maru"/>
                <a:ea typeface="Kosugi Maru"/>
                <a:cs typeface="Kosugi Maru"/>
                <a:sym typeface="Kosugi Maru"/>
              </a:rPr>
              <a:t>いつまでも仲の良い親子関係が続くご家庭を増やしたい</a:t>
            </a:r>
            <a:endParaRPr sz="3900">
              <a:solidFill>
                <a:srgbClr val="EF84C9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  <p:sp>
        <p:nvSpPr>
          <p:cNvPr id="783" name="Google Shape;783;p89"/>
          <p:cNvSpPr txBox="1"/>
          <p:nvPr/>
        </p:nvSpPr>
        <p:spPr>
          <a:xfrm>
            <a:off x="1056825" y="2530225"/>
            <a:ext cx="7667100" cy="24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2650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・そのための”育脳”というアプローチ</a:t>
            </a:r>
            <a:endParaRPr sz="2650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2650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・賢い子どもが増える、ということよりも</a:t>
            </a:r>
            <a:endParaRPr sz="2650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2650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　人間性が豊かなお子様が増えて</a:t>
            </a:r>
            <a:endParaRPr sz="2650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2650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　心にも余裕を持てるママが増えて</a:t>
            </a:r>
            <a:endParaRPr sz="2650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" sz="2650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　ハッピーなご家庭が増えると素敵、と願う</a:t>
            </a:r>
            <a:endParaRPr sz="2650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8" name="Shape 7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9" name="Google Shape;789;p90"/>
          <p:cNvSpPr txBox="1"/>
          <p:nvPr/>
        </p:nvSpPr>
        <p:spPr>
          <a:xfrm>
            <a:off x="25" y="342613"/>
            <a:ext cx="91440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" sz="3200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私の夢：その３</a:t>
            </a:r>
            <a:endParaRPr sz="3200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  <p:cxnSp>
        <p:nvCxnSpPr>
          <p:cNvPr id="790" name="Google Shape;790;p90"/>
          <p:cNvCxnSpPr/>
          <p:nvPr/>
        </p:nvCxnSpPr>
        <p:spPr>
          <a:xfrm>
            <a:off x="828450" y="976525"/>
            <a:ext cx="7487100" cy="0"/>
          </a:xfrm>
          <a:prstGeom prst="straightConnector1">
            <a:avLst/>
          </a:prstGeom>
          <a:noFill/>
          <a:ln cap="flat" cmpd="sng" w="28575">
            <a:solidFill>
              <a:srgbClr val="EF84C9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91" name="Google Shape;791;p90"/>
          <p:cNvSpPr txBox="1"/>
          <p:nvPr/>
        </p:nvSpPr>
        <p:spPr>
          <a:xfrm>
            <a:off x="583400" y="1144825"/>
            <a:ext cx="7827900" cy="78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 sz="3900">
                <a:solidFill>
                  <a:srgbClr val="EF84C9"/>
                </a:solidFill>
                <a:latin typeface="Kosugi Maru"/>
                <a:ea typeface="Kosugi Maru"/>
                <a:cs typeface="Kosugi Maru"/>
                <a:sym typeface="Kosugi Maru"/>
              </a:rPr>
              <a:t>10,000組の親子をサポートしたい</a:t>
            </a:r>
            <a:endParaRPr sz="3900">
              <a:solidFill>
                <a:srgbClr val="EF84C9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  <p:sp>
        <p:nvSpPr>
          <p:cNvPr id="792" name="Google Shape;792;p90"/>
          <p:cNvSpPr txBox="1"/>
          <p:nvPr/>
        </p:nvSpPr>
        <p:spPr>
          <a:xfrm>
            <a:off x="1134100" y="2310925"/>
            <a:ext cx="7667100" cy="10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2650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・</a:t>
            </a:r>
            <a:r>
              <a:rPr lang="ja" sz="2650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100人のカウンセラーがいたら</a:t>
            </a:r>
            <a:endParaRPr sz="2650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2650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　10,000組の親子をサポートできる</a:t>
            </a:r>
            <a:endParaRPr sz="2650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7" name="Shape 7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" name="Google Shape;798;p91"/>
          <p:cNvSpPr txBox="1"/>
          <p:nvPr/>
        </p:nvSpPr>
        <p:spPr>
          <a:xfrm>
            <a:off x="877125" y="226813"/>
            <a:ext cx="7533900" cy="135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 sz="2300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なぜ</a:t>
            </a:r>
            <a:endParaRPr sz="2300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3000">
                <a:solidFill>
                  <a:srgbClr val="EF84C9"/>
                </a:solidFill>
                <a:latin typeface="Kosugi Maru"/>
                <a:ea typeface="Kosugi Maru"/>
                <a:cs typeface="Kosugi Maru"/>
                <a:sym typeface="Kosugi Maru"/>
              </a:rPr>
              <a:t>育脳子育てカウンセラー</a:t>
            </a:r>
            <a:endParaRPr b="1" sz="3000">
              <a:solidFill>
                <a:srgbClr val="EF84C9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 sz="2300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のイベントをやっているの？</a:t>
            </a:r>
            <a:endParaRPr sz="2300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  <p:sp>
        <p:nvSpPr>
          <p:cNvPr id="799" name="Google Shape;799;p91"/>
          <p:cNvSpPr txBox="1"/>
          <p:nvPr/>
        </p:nvSpPr>
        <p:spPr>
          <a:xfrm>
            <a:off x="877125" y="2504488"/>
            <a:ext cx="7533900" cy="180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3500">
                <a:solidFill>
                  <a:srgbClr val="EF84C9"/>
                </a:solidFill>
                <a:latin typeface="Kosugi Maru"/>
                <a:ea typeface="Kosugi Maru"/>
                <a:cs typeface="Kosugi Maru"/>
                <a:sym typeface="Kosugi Maru"/>
              </a:rPr>
              <a:t>育児に関わりながら</a:t>
            </a:r>
            <a:endParaRPr b="1" sz="3500">
              <a:solidFill>
                <a:srgbClr val="EF84C9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3500">
                <a:solidFill>
                  <a:srgbClr val="EF84C9"/>
                </a:solidFill>
                <a:latin typeface="Kosugi Maru"/>
                <a:ea typeface="Kosugi Maru"/>
                <a:cs typeface="Kosugi Maru"/>
                <a:sym typeface="Kosugi Maru"/>
              </a:rPr>
              <a:t>希望的な未来に繋がることを願って</a:t>
            </a:r>
            <a:endParaRPr b="1" sz="3500">
              <a:solidFill>
                <a:srgbClr val="EF84C9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3500">
                <a:solidFill>
                  <a:srgbClr val="EF84C9"/>
                </a:solidFill>
                <a:latin typeface="Kosugi Maru"/>
                <a:ea typeface="Kosugi Maru"/>
                <a:cs typeface="Kosugi Maru"/>
                <a:sym typeface="Kosugi Maru"/>
              </a:rPr>
              <a:t>カウンセラーを養成しています</a:t>
            </a:r>
            <a:endParaRPr b="1" sz="3500">
              <a:solidFill>
                <a:srgbClr val="EF84C9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4" name="Shape 8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5" name="Google Shape;805;p9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7408925" y="2392550"/>
            <a:ext cx="1456200" cy="2374725"/>
          </a:xfrm>
          <a:prstGeom prst="rect">
            <a:avLst/>
          </a:prstGeom>
          <a:noFill/>
          <a:ln>
            <a:noFill/>
          </a:ln>
        </p:spPr>
      </p:pic>
      <p:sp>
        <p:nvSpPr>
          <p:cNvPr id="806" name="Google Shape;806;p92"/>
          <p:cNvSpPr txBox="1"/>
          <p:nvPr>
            <p:ph idx="12" type="sldNum"/>
          </p:nvPr>
        </p:nvSpPr>
        <p:spPr>
          <a:xfrm>
            <a:off x="6457951" y="4767264"/>
            <a:ext cx="2057400" cy="273900"/>
          </a:xfrm>
          <a:prstGeom prst="rect">
            <a:avLst/>
          </a:prstGeom>
        </p:spPr>
        <p:txBody>
          <a:bodyPr anchorCtr="0" anchor="ctr" bIns="39550" lIns="79125" spcFirstLastPara="1" rIns="79125" wrap="square" tIns="3955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  <p:sp>
        <p:nvSpPr>
          <p:cNvPr id="807" name="Google Shape;807;p92"/>
          <p:cNvSpPr txBox="1"/>
          <p:nvPr>
            <p:ph idx="11" type="ftr"/>
          </p:nvPr>
        </p:nvSpPr>
        <p:spPr>
          <a:xfrm>
            <a:off x="3028973" y="4817889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>
                <a:latin typeface="M PLUS Rounded 1c Light"/>
                <a:ea typeface="M PLUS Rounded 1c Light"/>
                <a:cs typeface="M PLUS Rounded 1c Light"/>
                <a:sym typeface="M PLUS Rounded 1c Light"/>
              </a:rPr>
              <a:t>©︎2025日本ママアカデミー協会</a:t>
            </a:r>
            <a:endParaRPr>
              <a:latin typeface="M PLUS Rounded 1c Light"/>
              <a:ea typeface="M PLUS Rounded 1c Light"/>
              <a:cs typeface="M PLUS Rounded 1c Light"/>
              <a:sym typeface="M PLUS Rounded 1c Light"/>
            </a:endParaRPr>
          </a:p>
        </p:txBody>
      </p:sp>
      <p:sp>
        <p:nvSpPr>
          <p:cNvPr id="808" name="Google Shape;808;p92"/>
          <p:cNvSpPr txBox="1"/>
          <p:nvPr/>
        </p:nvSpPr>
        <p:spPr>
          <a:xfrm>
            <a:off x="467725" y="1743450"/>
            <a:ext cx="8208600" cy="150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" sz="4000">
                <a:solidFill>
                  <a:srgbClr val="EF84C9"/>
                </a:solidFill>
                <a:latin typeface="Kosugi Maru"/>
                <a:ea typeface="Kosugi Maru"/>
                <a:cs typeface="Kosugi Maru"/>
                <a:sym typeface="Kosugi Maru"/>
              </a:rPr>
              <a:t>どうすれば</a:t>
            </a:r>
            <a:endParaRPr sz="4000">
              <a:solidFill>
                <a:srgbClr val="EF84C9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" sz="4000">
                <a:solidFill>
                  <a:srgbClr val="EF84C9"/>
                </a:solidFill>
                <a:latin typeface="Kosugi Maru"/>
                <a:ea typeface="Kosugi Maru"/>
                <a:cs typeface="Kosugi Maru"/>
                <a:sym typeface="Kosugi Maru"/>
              </a:rPr>
              <a:t>カウンセラーになれるの？</a:t>
            </a:r>
            <a:endParaRPr sz="4000">
              <a:solidFill>
                <a:srgbClr val="EF84C9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3" name="Shape 8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4" name="Google Shape;814;p93"/>
          <p:cNvSpPr txBox="1"/>
          <p:nvPr/>
        </p:nvSpPr>
        <p:spPr>
          <a:xfrm>
            <a:off x="25" y="342613"/>
            <a:ext cx="91440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" sz="3200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５日間の全体像</a:t>
            </a:r>
            <a:endParaRPr sz="3200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  <p:cxnSp>
        <p:nvCxnSpPr>
          <p:cNvPr id="815" name="Google Shape;815;p93"/>
          <p:cNvCxnSpPr/>
          <p:nvPr/>
        </p:nvCxnSpPr>
        <p:spPr>
          <a:xfrm>
            <a:off x="828450" y="976525"/>
            <a:ext cx="7487100" cy="0"/>
          </a:xfrm>
          <a:prstGeom prst="straightConnector1">
            <a:avLst/>
          </a:prstGeom>
          <a:noFill/>
          <a:ln cap="flat" cmpd="sng" w="28575">
            <a:solidFill>
              <a:srgbClr val="EF84C9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16" name="Google Shape;816;p93"/>
          <p:cNvSpPr txBox="1"/>
          <p:nvPr/>
        </p:nvSpPr>
        <p:spPr>
          <a:xfrm>
            <a:off x="1056825" y="1333925"/>
            <a:ext cx="7667100" cy="340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2650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Day１　全体概要</a:t>
            </a:r>
            <a:endParaRPr sz="2650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2650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Day２　"育脳"と早期教育の違い</a:t>
            </a:r>
            <a:endParaRPr sz="2650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2650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Day３　育脳に大切な３つの取り組み</a:t>
            </a:r>
            <a:endParaRPr sz="2650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2650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Day４　育脳サービスをお仕事にする、とは？</a:t>
            </a:r>
            <a:endParaRPr sz="2650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" sz="2650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Day５　"育脳子育てカウンセラー"になるための</a:t>
            </a:r>
            <a:endParaRPr sz="2650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2650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        ステップ&amp;５日間のまとめ</a:t>
            </a:r>
            <a:endParaRPr sz="2650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50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1" name="Shape 8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2" name="Google Shape;822;p94"/>
          <p:cNvSpPr txBox="1"/>
          <p:nvPr/>
        </p:nvSpPr>
        <p:spPr>
          <a:xfrm>
            <a:off x="25" y="342613"/>
            <a:ext cx="91440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" sz="3200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今日のまとめ</a:t>
            </a:r>
            <a:endParaRPr sz="3200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  <p:cxnSp>
        <p:nvCxnSpPr>
          <p:cNvPr id="823" name="Google Shape;823;p94"/>
          <p:cNvCxnSpPr/>
          <p:nvPr/>
        </p:nvCxnSpPr>
        <p:spPr>
          <a:xfrm>
            <a:off x="828450" y="976525"/>
            <a:ext cx="7487100" cy="0"/>
          </a:xfrm>
          <a:prstGeom prst="straightConnector1">
            <a:avLst/>
          </a:prstGeom>
          <a:noFill/>
          <a:ln cap="flat" cmpd="sng" w="28575">
            <a:solidFill>
              <a:srgbClr val="EF84C9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24" name="Google Shape;824;p94"/>
          <p:cNvSpPr txBox="1"/>
          <p:nvPr/>
        </p:nvSpPr>
        <p:spPr>
          <a:xfrm>
            <a:off x="1014050" y="1092025"/>
            <a:ext cx="7667100" cy="364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2650" u="sng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育脳子育てカウンセラーというお仕事</a:t>
            </a:r>
            <a:endParaRPr sz="2650" u="sng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" sz="2150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・"育脳"とは6歳までの幼少期に適切な刺激を与えて</a:t>
            </a:r>
            <a:endParaRPr sz="2150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2150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　脳の発達を促す子育て方法</a:t>
            </a:r>
            <a:endParaRPr sz="2150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" sz="2150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・育脳子育てカウンセラーは育脳を軸にして</a:t>
            </a:r>
            <a:endParaRPr sz="2150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2150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　子育てサポートをするカウンセラーのお仕事</a:t>
            </a:r>
            <a:endParaRPr sz="2150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2150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　</a:t>
            </a:r>
            <a:r>
              <a:rPr lang="ja" sz="2150">
                <a:solidFill>
                  <a:srgbClr val="EF84C9"/>
                </a:solidFill>
                <a:latin typeface="Kosugi Maru"/>
                <a:ea typeface="Kosugi Maru"/>
                <a:cs typeface="Kosugi Maru"/>
                <a:sym typeface="Kosugi Maru"/>
              </a:rPr>
              <a:t>　賢いお子様を育てる＆ママの子育てをラクにする</a:t>
            </a:r>
            <a:endParaRPr sz="2150">
              <a:solidFill>
                <a:srgbClr val="EF84C9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2150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　→サービス継続多数＆口コミでお客様が広がりやすい</a:t>
            </a:r>
            <a:endParaRPr sz="2150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50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" sz="2150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そんなハッピー関係で支えられるお仕事です。</a:t>
            </a:r>
            <a:endParaRPr sz="2150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9" name="Shape 8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0" name="Google Shape;830;p95"/>
          <p:cNvSpPr txBox="1"/>
          <p:nvPr/>
        </p:nvSpPr>
        <p:spPr>
          <a:xfrm>
            <a:off x="25" y="342613"/>
            <a:ext cx="91440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" sz="3200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今日のまとめ</a:t>
            </a:r>
            <a:endParaRPr sz="3200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  <p:cxnSp>
        <p:nvCxnSpPr>
          <p:cNvPr id="831" name="Google Shape;831;p95"/>
          <p:cNvCxnSpPr/>
          <p:nvPr/>
        </p:nvCxnSpPr>
        <p:spPr>
          <a:xfrm>
            <a:off x="828450" y="976525"/>
            <a:ext cx="7487100" cy="0"/>
          </a:xfrm>
          <a:prstGeom prst="straightConnector1">
            <a:avLst/>
          </a:prstGeom>
          <a:noFill/>
          <a:ln cap="flat" cmpd="sng" w="28575">
            <a:solidFill>
              <a:srgbClr val="EF84C9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32" name="Google Shape;832;p95"/>
          <p:cNvSpPr txBox="1"/>
          <p:nvPr/>
        </p:nvSpPr>
        <p:spPr>
          <a:xfrm>
            <a:off x="1014050" y="1092025"/>
            <a:ext cx="7667100" cy="402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2650" u="sng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育脳子育てカウンセラーの魅力</a:t>
            </a:r>
            <a:endParaRPr sz="2650" u="sng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50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2150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魅力１　今、注目の”育脳”をお仕事にできる</a:t>
            </a:r>
            <a:endParaRPr sz="2150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2150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魅力２　子育て経験が武器になる</a:t>
            </a:r>
            <a:endParaRPr sz="2150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2150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魅力３　女性として喜びにも近い”やりがい”を</a:t>
            </a:r>
            <a:endParaRPr sz="2150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2150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　　　　とても強く感じられる</a:t>
            </a:r>
            <a:endParaRPr sz="2150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" sz="2150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魅力４　</a:t>
            </a:r>
            <a:r>
              <a:rPr lang="ja" sz="2100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サービスを継続するお客様や新規のお客様の</a:t>
            </a:r>
            <a:endParaRPr sz="2100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2100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　　　　口コミ紹介が多い</a:t>
            </a:r>
            <a:endParaRPr sz="2100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" sz="2150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魅力５　オンラインで自由な働き方もできる</a:t>
            </a:r>
            <a:endParaRPr sz="2150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50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7" name="Shape 8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8" name="Google Shape;838;p96"/>
          <p:cNvSpPr txBox="1"/>
          <p:nvPr>
            <p:ph idx="12" type="sldNum"/>
          </p:nvPr>
        </p:nvSpPr>
        <p:spPr>
          <a:xfrm>
            <a:off x="6457951" y="4767264"/>
            <a:ext cx="2057400" cy="273900"/>
          </a:xfrm>
          <a:prstGeom prst="rect">
            <a:avLst/>
          </a:prstGeom>
        </p:spPr>
        <p:txBody>
          <a:bodyPr anchorCtr="0" anchor="ctr" bIns="39550" lIns="79125" spcFirstLastPara="1" rIns="79125" wrap="square" tIns="3955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  <p:sp>
        <p:nvSpPr>
          <p:cNvPr id="839" name="Google Shape;839;p96"/>
          <p:cNvSpPr txBox="1"/>
          <p:nvPr>
            <p:ph idx="11" type="ftr"/>
          </p:nvPr>
        </p:nvSpPr>
        <p:spPr>
          <a:xfrm>
            <a:off x="3028973" y="4817889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>
                <a:latin typeface="M PLUS Rounded 1c Light"/>
                <a:ea typeface="M PLUS Rounded 1c Light"/>
                <a:cs typeface="M PLUS Rounded 1c Light"/>
                <a:sym typeface="M PLUS Rounded 1c Light"/>
              </a:rPr>
              <a:t>©︎2025日本ママアカデミー協会</a:t>
            </a:r>
            <a:endParaRPr>
              <a:latin typeface="M PLUS Rounded 1c Light"/>
              <a:ea typeface="M PLUS Rounded 1c Light"/>
              <a:cs typeface="M PLUS Rounded 1c Light"/>
              <a:sym typeface="M PLUS Rounded 1c Light"/>
            </a:endParaRPr>
          </a:p>
        </p:txBody>
      </p:sp>
      <p:sp>
        <p:nvSpPr>
          <p:cNvPr id="840" name="Google Shape;840;p96"/>
          <p:cNvSpPr txBox="1"/>
          <p:nvPr/>
        </p:nvSpPr>
        <p:spPr>
          <a:xfrm>
            <a:off x="1387675" y="1824900"/>
            <a:ext cx="6368700" cy="1616100"/>
          </a:xfrm>
          <a:prstGeom prst="rect">
            <a:avLst/>
          </a:prstGeom>
          <a:noFill/>
          <a:ln>
            <a:noFill/>
          </a:ln>
        </p:spPr>
        <p:txBody>
          <a:bodyPr anchorCtr="0" anchor="t" bIns="79125" lIns="79125" spcFirstLastPara="1" rIns="79125" wrap="square" tIns="791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" sz="4400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ＤＡＹ１</a:t>
            </a:r>
            <a:endParaRPr sz="4400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" sz="4400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お疲れ様でした</a:t>
            </a:r>
            <a:endParaRPr sz="4400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5" name="Shape 8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6" name="Google Shape;846;p97"/>
          <p:cNvSpPr txBox="1"/>
          <p:nvPr>
            <p:ph idx="12" type="sldNum"/>
          </p:nvPr>
        </p:nvSpPr>
        <p:spPr>
          <a:xfrm>
            <a:off x="6457951" y="4767264"/>
            <a:ext cx="2057400" cy="273900"/>
          </a:xfrm>
          <a:prstGeom prst="rect">
            <a:avLst/>
          </a:prstGeom>
        </p:spPr>
        <p:txBody>
          <a:bodyPr anchorCtr="0" anchor="ctr" bIns="39550" lIns="79125" spcFirstLastPara="1" rIns="79125" wrap="square" tIns="3955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  <p:sp>
        <p:nvSpPr>
          <p:cNvPr id="847" name="Google Shape;847;p97"/>
          <p:cNvSpPr txBox="1"/>
          <p:nvPr>
            <p:ph idx="11" type="ftr"/>
          </p:nvPr>
        </p:nvSpPr>
        <p:spPr>
          <a:xfrm>
            <a:off x="3028973" y="4817889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>
                <a:latin typeface="M PLUS Rounded 1c Light"/>
                <a:ea typeface="M PLUS Rounded 1c Light"/>
                <a:cs typeface="M PLUS Rounded 1c Light"/>
                <a:sym typeface="M PLUS Rounded 1c Light"/>
              </a:rPr>
              <a:t>©︎2025日本ママアカデミー協会</a:t>
            </a:r>
            <a:endParaRPr>
              <a:latin typeface="M PLUS Rounded 1c Light"/>
              <a:ea typeface="M PLUS Rounded 1c Light"/>
              <a:cs typeface="M PLUS Rounded 1c Light"/>
              <a:sym typeface="M PLUS Rounded 1c Light"/>
            </a:endParaRPr>
          </a:p>
        </p:txBody>
      </p:sp>
      <p:sp>
        <p:nvSpPr>
          <p:cNvPr id="848" name="Google Shape;848;p97"/>
          <p:cNvSpPr txBox="1"/>
          <p:nvPr/>
        </p:nvSpPr>
        <p:spPr>
          <a:xfrm>
            <a:off x="25" y="342613"/>
            <a:ext cx="91440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" sz="2600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課題１</a:t>
            </a:r>
            <a:endParaRPr sz="2600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  <p:cxnSp>
        <p:nvCxnSpPr>
          <p:cNvPr id="849" name="Google Shape;849;p97"/>
          <p:cNvCxnSpPr/>
          <p:nvPr/>
        </p:nvCxnSpPr>
        <p:spPr>
          <a:xfrm>
            <a:off x="828450" y="976525"/>
            <a:ext cx="7487100" cy="0"/>
          </a:xfrm>
          <a:prstGeom prst="straightConnector1">
            <a:avLst/>
          </a:prstGeom>
          <a:noFill/>
          <a:ln cap="flat" cmpd="sng" w="28575">
            <a:solidFill>
              <a:srgbClr val="EF84C9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50" name="Google Shape;850;p97"/>
          <p:cNvSpPr txBox="1"/>
          <p:nvPr/>
        </p:nvSpPr>
        <p:spPr>
          <a:xfrm>
            <a:off x="1234825" y="1310900"/>
            <a:ext cx="7359300" cy="282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2400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①</a:t>
            </a:r>
            <a:r>
              <a:rPr lang="ja" sz="2400">
                <a:solidFill>
                  <a:srgbClr val="434343"/>
                </a:solidFill>
                <a:highlight>
                  <a:srgbClr val="FFF2CC"/>
                </a:highlight>
                <a:latin typeface="Kosugi Maru"/>
                <a:ea typeface="Kosugi Maru"/>
                <a:cs typeface="Kosugi Maru"/>
                <a:sym typeface="Kosugi Maru"/>
              </a:rPr>
              <a:t>今日のライブで一番印象に残ったことを</a:t>
            </a:r>
            <a:endParaRPr sz="2400">
              <a:solidFill>
                <a:srgbClr val="434343"/>
              </a:solidFill>
              <a:highlight>
                <a:srgbClr val="FFF2CC"/>
              </a:highlight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2400">
                <a:solidFill>
                  <a:srgbClr val="434343"/>
                </a:solidFill>
                <a:highlight>
                  <a:srgbClr val="FFF2CC"/>
                </a:highlight>
                <a:latin typeface="Kosugi Maru"/>
                <a:ea typeface="Kosugi Maru"/>
                <a:cs typeface="Kosugi Maru"/>
                <a:sym typeface="Kosugi Maru"/>
              </a:rPr>
              <a:t>　教えてください</a:t>
            </a:r>
            <a:endParaRPr sz="2400">
              <a:solidFill>
                <a:srgbClr val="434343"/>
              </a:solidFill>
              <a:highlight>
                <a:srgbClr val="FFF2CC"/>
              </a:highlight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2400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②</a:t>
            </a:r>
            <a:r>
              <a:rPr lang="ja" sz="2400">
                <a:solidFill>
                  <a:schemeClr val="dk1"/>
                </a:solidFill>
                <a:highlight>
                  <a:srgbClr val="FFF2CC"/>
                </a:highlight>
                <a:latin typeface="Kosugi Maru"/>
                <a:ea typeface="Kosugi Maru"/>
                <a:cs typeface="Kosugi Maru"/>
                <a:sym typeface="Kosugi Maru"/>
              </a:rPr>
              <a:t>育脳子育てカウンセラーの魅力をお伝え</a:t>
            </a:r>
            <a:endParaRPr sz="2400">
              <a:solidFill>
                <a:schemeClr val="dk1"/>
              </a:solidFill>
              <a:highlight>
                <a:srgbClr val="FFF2CC"/>
              </a:highlight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2400">
                <a:solidFill>
                  <a:schemeClr val="dk1"/>
                </a:solidFill>
                <a:highlight>
                  <a:srgbClr val="FFF2CC"/>
                </a:highlight>
                <a:latin typeface="Kosugi Maru"/>
                <a:ea typeface="Kosugi Maru"/>
                <a:cs typeface="Kosugi Maru"/>
                <a:sym typeface="Kosugi Maru"/>
              </a:rPr>
              <a:t>　しましたがどれが一番魅力的だと感じましたか？</a:t>
            </a:r>
            <a:endParaRPr sz="2400">
              <a:solidFill>
                <a:schemeClr val="dk1"/>
              </a:solidFill>
              <a:highlight>
                <a:srgbClr val="FFF2CC"/>
              </a:highlight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2400">
                <a:solidFill>
                  <a:schemeClr val="dk1"/>
                </a:solidFill>
                <a:highlight>
                  <a:srgbClr val="FFF2CC"/>
                </a:highlight>
                <a:latin typeface="Kosugi Maru"/>
                <a:ea typeface="Kosugi Maru"/>
                <a:cs typeface="Kosugi Maru"/>
                <a:sym typeface="Kosugi Maru"/>
              </a:rPr>
              <a:t>　また、その理由も教えてください</a:t>
            </a:r>
            <a:endParaRPr sz="2400">
              <a:solidFill>
                <a:schemeClr val="dk1"/>
              </a:solidFill>
              <a:highlight>
                <a:srgbClr val="FFF2CC"/>
              </a:highlight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434343"/>
              </a:solidFill>
              <a:highlight>
                <a:srgbClr val="FFF2CC"/>
              </a:highlight>
              <a:latin typeface="Kosugi Maru"/>
              <a:ea typeface="Kosugi Maru"/>
              <a:cs typeface="Kosugi Maru"/>
              <a:sym typeface="Kosugi Maru"/>
            </a:endParaRPr>
          </a:p>
        </p:txBody>
      </p:sp>
      <p:sp>
        <p:nvSpPr>
          <p:cNvPr id="851" name="Google Shape;851;p97"/>
          <p:cNvSpPr txBox="1"/>
          <p:nvPr/>
        </p:nvSpPr>
        <p:spPr>
          <a:xfrm>
            <a:off x="1282125" y="3843325"/>
            <a:ext cx="6874800" cy="11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79125" lIns="79125" spcFirstLastPara="1" rIns="79125" wrap="square" tIns="791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" sz="1900">
                <a:solidFill>
                  <a:srgbClr val="434343"/>
                </a:solidFill>
              </a:rPr>
              <a:t>※課題の提出は</a:t>
            </a:r>
            <a:r>
              <a:rPr lang="ja" sz="1900">
                <a:solidFill>
                  <a:srgbClr val="434343"/>
                </a:solidFill>
              </a:rPr>
              <a:t>フォームで</a:t>
            </a:r>
            <a:r>
              <a:rPr lang="ja" sz="1900">
                <a:solidFill>
                  <a:srgbClr val="434343"/>
                </a:solidFill>
              </a:rPr>
              <a:t>お願いします！</a:t>
            </a:r>
            <a:endParaRPr sz="1900">
              <a:solidFill>
                <a:srgbClr val="434343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" sz="1900">
                <a:solidFill>
                  <a:srgbClr val="434343"/>
                </a:solidFill>
              </a:rPr>
              <a:t>    </a:t>
            </a:r>
            <a:r>
              <a:rPr lang="ja" sz="1900">
                <a:solidFill>
                  <a:srgbClr val="434343"/>
                </a:solidFill>
              </a:rPr>
              <a:t>後ほどオープンチャットに送ります☆</a:t>
            </a:r>
            <a:endParaRPr sz="1900">
              <a:solidFill>
                <a:srgbClr val="434343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" sz="1900">
                <a:solidFill>
                  <a:srgbClr val="434343"/>
                </a:solidFill>
              </a:rPr>
              <a:t>※提出期限：3月11日（水）21:00まで</a:t>
            </a:r>
            <a:endParaRPr sz="1900">
              <a:solidFill>
                <a:srgbClr val="434343"/>
              </a:solidFill>
            </a:endParaRP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6" name="Shape 8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7" name="Google Shape;857;p98"/>
          <p:cNvSpPr txBox="1"/>
          <p:nvPr>
            <p:ph idx="12" type="sldNum"/>
          </p:nvPr>
        </p:nvSpPr>
        <p:spPr>
          <a:xfrm>
            <a:off x="6457951" y="4767264"/>
            <a:ext cx="2057400" cy="273900"/>
          </a:xfrm>
          <a:prstGeom prst="rect">
            <a:avLst/>
          </a:prstGeom>
        </p:spPr>
        <p:txBody>
          <a:bodyPr anchorCtr="0" anchor="ctr" bIns="39550" lIns="79125" spcFirstLastPara="1" rIns="79125" wrap="square" tIns="3955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  <p:sp>
        <p:nvSpPr>
          <p:cNvPr id="858" name="Google Shape;858;p98"/>
          <p:cNvSpPr txBox="1"/>
          <p:nvPr>
            <p:ph idx="11" type="ftr"/>
          </p:nvPr>
        </p:nvSpPr>
        <p:spPr>
          <a:xfrm>
            <a:off x="3028973" y="4817889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>
                <a:latin typeface="M PLUS Rounded 1c Light"/>
                <a:ea typeface="M PLUS Rounded 1c Light"/>
                <a:cs typeface="M PLUS Rounded 1c Light"/>
                <a:sym typeface="M PLUS Rounded 1c Light"/>
              </a:rPr>
              <a:t>©︎2025日本ママアカデミー協会</a:t>
            </a:r>
            <a:endParaRPr>
              <a:latin typeface="M PLUS Rounded 1c Light"/>
              <a:ea typeface="M PLUS Rounded 1c Light"/>
              <a:cs typeface="M PLUS Rounded 1c Light"/>
              <a:sym typeface="M PLUS Rounded 1c Light"/>
            </a:endParaRPr>
          </a:p>
        </p:txBody>
      </p:sp>
      <p:sp>
        <p:nvSpPr>
          <p:cNvPr id="859" name="Google Shape;859;p98"/>
          <p:cNvSpPr txBox="1"/>
          <p:nvPr/>
        </p:nvSpPr>
        <p:spPr>
          <a:xfrm>
            <a:off x="25" y="342613"/>
            <a:ext cx="91440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" sz="2600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ＤＡＹ２のご案内</a:t>
            </a:r>
            <a:endParaRPr sz="2600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  <p:cxnSp>
        <p:nvCxnSpPr>
          <p:cNvPr id="860" name="Google Shape;860;p98"/>
          <p:cNvCxnSpPr/>
          <p:nvPr/>
        </p:nvCxnSpPr>
        <p:spPr>
          <a:xfrm>
            <a:off x="828450" y="976525"/>
            <a:ext cx="7487100" cy="0"/>
          </a:xfrm>
          <a:prstGeom prst="straightConnector1">
            <a:avLst/>
          </a:prstGeom>
          <a:noFill/>
          <a:ln cap="flat" cmpd="sng" w="28575">
            <a:solidFill>
              <a:srgbClr val="EF84C9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61" name="Google Shape;861;p98"/>
          <p:cNvSpPr txBox="1"/>
          <p:nvPr/>
        </p:nvSpPr>
        <p:spPr>
          <a:xfrm>
            <a:off x="1387675" y="1234138"/>
            <a:ext cx="6368700" cy="11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79125" lIns="79125" spcFirstLastPara="1" rIns="79125" wrap="square" tIns="791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" sz="3000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日時：3月11日（水）</a:t>
            </a:r>
            <a:endParaRPr sz="3000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" sz="3000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21:30〜</a:t>
            </a:r>
            <a:endParaRPr sz="3000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  <p:sp>
        <p:nvSpPr>
          <p:cNvPr id="862" name="Google Shape;862;p98"/>
          <p:cNvSpPr txBox="1"/>
          <p:nvPr/>
        </p:nvSpPr>
        <p:spPr>
          <a:xfrm>
            <a:off x="1387675" y="2541813"/>
            <a:ext cx="6368700" cy="15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79125" lIns="79125" spcFirstLastPara="1" rIns="79125" wrap="square" tIns="791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" sz="4400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テーマ</a:t>
            </a:r>
            <a:endParaRPr sz="4400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4050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"育脳"と早期教育の違い</a:t>
            </a:r>
            <a:endParaRPr sz="4250">
              <a:solidFill>
                <a:srgbClr val="EF84C9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  <p:sp>
        <p:nvSpPr>
          <p:cNvPr id="863" name="Google Shape;863;p98"/>
          <p:cNvSpPr txBox="1"/>
          <p:nvPr/>
        </p:nvSpPr>
        <p:spPr>
          <a:xfrm>
            <a:off x="3331775" y="4312975"/>
            <a:ext cx="5539200" cy="3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79125" lIns="79125" spcFirstLastPara="1" rIns="79125" wrap="square" tIns="79125">
            <a:sp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" sz="1500">
                <a:solidFill>
                  <a:srgbClr val="434343"/>
                </a:solidFill>
              </a:rPr>
              <a:t>次回もリアルタイムでお待ちしております</a:t>
            </a:r>
            <a:endParaRPr sz="1500">
              <a:solidFill>
                <a:srgbClr val="434343"/>
              </a:solidFill>
            </a:endParaRP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8" name="Shape 8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9" name="Google Shape;869;p99"/>
          <p:cNvSpPr txBox="1"/>
          <p:nvPr>
            <p:ph idx="12" type="sldNum"/>
          </p:nvPr>
        </p:nvSpPr>
        <p:spPr>
          <a:xfrm>
            <a:off x="6457951" y="4767264"/>
            <a:ext cx="2057400" cy="273900"/>
          </a:xfrm>
          <a:prstGeom prst="rect">
            <a:avLst/>
          </a:prstGeom>
        </p:spPr>
        <p:txBody>
          <a:bodyPr anchorCtr="0" anchor="ctr" bIns="39550" lIns="79125" spcFirstLastPara="1" rIns="79125" wrap="square" tIns="3955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  <p:sp>
        <p:nvSpPr>
          <p:cNvPr id="870" name="Google Shape;870;p99"/>
          <p:cNvSpPr txBox="1"/>
          <p:nvPr>
            <p:ph idx="11" type="ftr"/>
          </p:nvPr>
        </p:nvSpPr>
        <p:spPr>
          <a:xfrm>
            <a:off x="3028973" y="4817889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>
                <a:latin typeface="M PLUS Rounded 1c Light"/>
                <a:ea typeface="M PLUS Rounded 1c Light"/>
                <a:cs typeface="M PLUS Rounded 1c Light"/>
                <a:sym typeface="M PLUS Rounded 1c Light"/>
              </a:rPr>
              <a:t>©︎2025日本ママアカデミー協会</a:t>
            </a:r>
            <a:endParaRPr>
              <a:latin typeface="M PLUS Rounded 1c Light"/>
              <a:ea typeface="M PLUS Rounded 1c Light"/>
              <a:cs typeface="M PLUS Rounded 1c Light"/>
              <a:sym typeface="M PLUS Rounded 1c Light"/>
            </a:endParaRPr>
          </a:p>
        </p:txBody>
      </p:sp>
      <p:sp>
        <p:nvSpPr>
          <p:cNvPr id="871" name="Google Shape;871;p99"/>
          <p:cNvSpPr txBox="1"/>
          <p:nvPr/>
        </p:nvSpPr>
        <p:spPr>
          <a:xfrm>
            <a:off x="25" y="342613"/>
            <a:ext cx="91440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" sz="2600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リアルタイム参加特典</a:t>
            </a:r>
            <a:endParaRPr sz="2600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  <p:cxnSp>
        <p:nvCxnSpPr>
          <p:cNvPr id="872" name="Google Shape;872;p99"/>
          <p:cNvCxnSpPr/>
          <p:nvPr/>
        </p:nvCxnSpPr>
        <p:spPr>
          <a:xfrm>
            <a:off x="828450" y="976525"/>
            <a:ext cx="7487100" cy="0"/>
          </a:xfrm>
          <a:prstGeom prst="straightConnector1">
            <a:avLst/>
          </a:prstGeom>
          <a:noFill/>
          <a:ln cap="flat" cmpd="sng" w="28575">
            <a:solidFill>
              <a:srgbClr val="EF84C9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73" name="Google Shape;873;p99"/>
          <p:cNvSpPr txBox="1"/>
          <p:nvPr/>
        </p:nvSpPr>
        <p:spPr>
          <a:xfrm>
            <a:off x="1387675" y="2039400"/>
            <a:ext cx="6368700" cy="1616100"/>
          </a:xfrm>
          <a:prstGeom prst="rect">
            <a:avLst/>
          </a:prstGeom>
          <a:noFill/>
          <a:ln>
            <a:noFill/>
          </a:ln>
        </p:spPr>
        <p:txBody>
          <a:bodyPr anchorCtr="0" anchor="t" bIns="79125" lIns="79125" spcFirstLastPara="1" rIns="79125" wrap="square" tIns="791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" sz="4400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Zoomのチャットに</a:t>
            </a:r>
            <a:endParaRPr sz="4400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" sz="4400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リンクを貼ります</a:t>
            </a:r>
            <a:endParaRPr sz="4400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8" name="Shape 8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9" name="Google Shape;879;p100"/>
          <p:cNvSpPr txBox="1"/>
          <p:nvPr>
            <p:ph idx="12" type="sldNum"/>
          </p:nvPr>
        </p:nvSpPr>
        <p:spPr>
          <a:xfrm>
            <a:off x="6457951" y="4767264"/>
            <a:ext cx="2057400" cy="273900"/>
          </a:xfrm>
          <a:prstGeom prst="rect">
            <a:avLst/>
          </a:prstGeom>
        </p:spPr>
        <p:txBody>
          <a:bodyPr anchorCtr="0" anchor="ctr" bIns="39550" lIns="79125" spcFirstLastPara="1" rIns="79125" wrap="square" tIns="3955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  <p:sp>
        <p:nvSpPr>
          <p:cNvPr id="880" name="Google Shape;880;p100"/>
          <p:cNvSpPr txBox="1"/>
          <p:nvPr>
            <p:ph idx="11" type="ftr"/>
          </p:nvPr>
        </p:nvSpPr>
        <p:spPr>
          <a:xfrm>
            <a:off x="3028973" y="4817889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>
                <a:latin typeface="M PLUS Rounded 1c Light"/>
                <a:ea typeface="M PLUS Rounded 1c Light"/>
                <a:cs typeface="M PLUS Rounded 1c Light"/>
                <a:sym typeface="M PLUS Rounded 1c Light"/>
              </a:rPr>
              <a:t>©︎2025日本ママアカデミー協会</a:t>
            </a:r>
            <a:endParaRPr>
              <a:latin typeface="M PLUS Rounded 1c Light"/>
              <a:ea typeface="M PLUS Rounded 1c Light"/>
              <a:cs typeface="M PLUS Rounded 1c Light"/>
              <a:sym typeface="M PLUS Rounded 1c Light"/>
            </a:endParaRPr>
          </a:p>
        </p:txBody>
      </p:sp>
      <p:sp>
        <p:nvSpPr>
          <p:cNvPr id="881" name="Google Shape;881;p100"/>
          <p:cNvSpPr txBox="1"/>
          <p:nvPr/>
        </p:nvSpPr>
        <p:spPr>
          <a:xfrm>
            <a:off x="1387650" y="2062300"/>
            <a:ext cx="6368700" cy="837000"/>
          </a:xfrm>
          <a:prstGeom prst="rect">
            <a:avLst/>
          </a:prstGeom>
          <a:noFill/>
          <a:ln>
            <a:noFill/>
          </a:ln>
        </p:spPr>
        <p:txBody>
          <a:bodyPr anchorCtr="0" anchor="t" bIns="79125" lIns="79125" spcFirstLastPara="1" rIns="79125" wrap="square" tIns="791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" sz="4400">
                <a:solidFill>
                  <a:srgbClr val="434343"/>
                </a:solidFill>
                <a:latin typeface="Kosugi Maru"/>
                <a:ea typeface="Kosugi Maru"/>
                <a:cs typeface="Kosugi Maru"/>
                <a:sym typeface="Kosugi Maru"/>
              </a:rPr>
              <a:t>質問タイム</a:t>
            </a:r>
            <a:endParaRPr sz="4400">
              <a:solidFill>
                <a:srgbClr val="434343"/>
              </a:solidFill>
              <a:latin typeface="Kosugi Maru"/>
              <a:ea typeface="Kosugi Maru"/>
              <a:cs typeface="Kosugi Maru"/>
              <a:sym typeface="Kosugi Maru"/>
            </a:endParaRP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885" name="Shape 8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86" name="Google Shape;886;p101"/>
          <p:cNvCxnSpPr/>
          <p:nvPr/>
        </p:nvCxnSpPr>
        <p:spPr>
          <a:xfrm>
            <a:off x="1225550" y="745825"/>
            <a:ext cx="6614400" cy="0"/>
          </a:xfrm>
          <a:prstGeom prst="straightConnector1">
            <a:avLst/>
          </a:prstGeom>
          <a:noFill/>
          <a:ln cap="flat" cmpd="sng" w="28575">
            <a:solidFill>
              <a:srgbClr val="FF99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87" name="Google Shape;887;p101"/>
          <p:cNvSpPr txBox="1"/>
          <p:nvPr/>
        </p:nvSpPr>
        <p:spPr>
          <a:xfrm>
            <a:off x="685800" y="116972"/>
            <a:ext cx="7772400" cy="56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975" lIns="90150" spcFirstLastPara="1" rIns="90150" wrap="square" tIns="469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3600">
                <a:solidFill>
                  <a:srgbClr val="333333"/>
                </a:solidFill>
                <a:latin typeface="HiraMinPro-W3"/>
                <a:ea typeface="HiraMinPro-W3"/>
                <a:cs typeface="HiraMinPro-W3"/>
                <a:sym typeface="HiraMinPro-W3"/>
              </a:rPr>
              <a:t>事務局</a:t>
            </a:r>
            <a:r>
              <a:rPr b="1" lang="ja" sz="3600">
                <a:solidFill>
                  <a:srgbClr val="333333"/>
                </a:solidFill>
                <a:latin typeface="HiraMinPro-W3"/>
                <a:ea typeface="HiraMinPro-W3"/>
                <a:cs typeface="HiraMinPro-W3"/>
                <a:sym typeface="HiraMinPro-W3"/>
              </a:rPr>
              <a:t>プロフィール</a:t>
            </a:r>
            <a:endParaRPr b="1" sz="3600">
              <a:solidFill>
                <a:srgbClr val="FFFFFF"/>
              </a:solidFill>
              <a:latin typeface="HiraMinPro-W3"/>
              <a:ea typeface="HiraMinPro-W3"/>
              <a:cs typeface="HiraMinPro-W3"/>
              <a:sym typeface="HiraMinPro-W3"/>
            </a:endParaRPr>
          </a:p>
        </p:txBody>
      </p:sp>
      <p:sp>
        <p:nvSpPr>
          <p:cNvPr id="888" name="Google Shape;888;p101"/>
          <p:cNvSpPr txBox="1"/>
          <p:nvPr/>
        </p:nvSpPr>
        <p:spPr>
          <a:xfrm>
            <a:off x="613525" y="1434250"/>
            <a:ext cx="6740100" cy="201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2400">
                <a:solidFill>
                  <a:srgbClr val="4A86E8"/>
                </a:solidFill>
              </a:rPr>
              <a:t>まみ先生考案の</a:t>
            </a:r>
            <a:endParaRPr sz="2400">
              <a:solidFill>
                <a:srgbClr val="4A86E8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2400">
                <a:solidFill>
                  <a:srgbClr val="4A86E8"/>
                </a:solidFill>
              </a:rPr>
              <a:t>育脳子育てカウンセラー(第１期卒業生)</a:t>
            </a:r>
            <a:endParaRPr sz="2400">
              <a:solidFill>
                <a:srgbClr val="4A86E8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2400">
                <a:solidFill>
                  <a:srgbClr val="4A86E8"/>
                </a:solidFill>
              </a:rPr>
              <a:t>楽育ベビーマッサージインストラクター</a:t>
            </a:r>
            <a:endParaRPr sz="2400">
              <a:solidFill>
                <a:srgbClr val="4A86E8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rgbClr val="3F3F3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3500">
                <a:solidFill>
                  <a:srgbClr val="3F3F3F"/>
                </a:solidFill>
              </a:rPr>
              <a:t>さとう　ようこ</a:t>
            </a:r>
            <a:endParaRPr b="1" sz="3500">
              <a:solidFill>
                <a:srgbClr val="3F3F3F"/>
              </a:solidFill>
            </a:endParaRPr>
          </a:p>
        </p:txBody>
      </p:sp>
      <p:sp>
        <p:nvSpPr>
          <p:cNvPr id="889" name="Google Shape;889;p101"/>
          <p:cNvSpPr txBox="1"/>
          <p:nvPr/>
        </p:nvSpPr>
        <p:spPr>
          <a:xfrm>
            <a:off x="685800" y="3637900"/>
            <a:ext cx="45537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2000">
                <a:solidFill>
                  <a:srgbClr val="FF0000"/>
                </a:solidFill>
              </a:rPr>
              <a:t>元</a:t>
            </a:r>
            <a:r>
              <a:rPr lang="ja" sz="2000">
                <a:solidFill>
                  <a:srgbClr val="FF0000"/>
                </a:solidFill>
              </a:rPr>
              <a:t>小学校教員(１8年)</a:t>
            </a:r>
            <a:endParaRPr sz="20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2000">
                <a:solidFill>
                  <a:srgbClr val="FF0000"/>
                </a:solidFill>
              </a:rPr>
              <a:t>二児の母</a:t>
            </a:r>
            <a:endParaRPr sz="2000">
              <a:solidFill>
                <a:srgbClr val="FF0000"/>
              </a:solidFill>
            </a:endParaRPr>
          </a:p>
        </p:txBody>
      </p:sp>
      <p:pic>
        <p:nvPicPr>
          <p:cNvPr id="890" name="Google Shape;890;p101" title="hujisann.jpe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993973" y="2767600"/>
            <a:ext cx="2605128" cy="1953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テーマ">
  <a:themeElements>
    <a:clrScheme name="Office テーマ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