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y="5143500" cx="9144000"/>
  <p:notesSz cx="6858000" cy="9144000"/>
  <p:embeddedFontLst>
    <p:embeddedFont>
      <p:font typeface="M PLUS Rounded 1c Light"/>
      <p:regular r:id="rId85"/>
      <p:bold r:id="rId86"/>
    </p:embeddedFont>
    <p:embeddedFont>
      <p:font typeface="Kosugi Maru"/>
      <p:regular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88" roundtripDataSignature="AMtx7mjAoYE2L3HI0Cak1YX8bGnXo356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MPLUSRounded1cLight-bold.fntdata"/><Relationship Id="rId41" Type="http://schemas.openxmlformats.org/officeDocument/2006/relationships/slide" Target="slides/slide35.xml"/><Relationship Id="rId85" Type="http://schemas.openxmlformats.org/officeDocument/2006/relationships/font" Target="fonts/MPLUSRounded1cLight-regular.fntdata"/><Relationship Id="rId44" Type="http://schemas.openxmlformats.org/officeDocument/2006/relationships/slide" Target="slides/slide38.xml"/><Relationship Id="rId88" Type="http://customschemas.google.com/relationships/presentationmetadata" Target="metadata"/><Relationship Id="rId43" Type="http://schemas.openxmlformats.org/officeDocument/2006/relationships/slide" Target="slides/slide37.xml"/><Relationship Id="rId87" Type="http://schemas.openxmlformats.org/officeDocument/2006/relationships/font" Target="fonts/KosugiMaru-regular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qno.mamaaka.com/p/kbt2" TargetMode="Externa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会社員x主婦という普通の家庭でも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子どもがお医者さんになった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”楽育メソッド”を初公開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自宅でできる濃密コミュニケーションで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6歳までに未来を決める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賢い子を楽しく育てる専門家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育脳子育てカウンセラー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５日間チャレンジプログラムにご参加いただきまして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/>
              <a:t>誠にありがとうございます。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このイベントでナビゲーターを務めます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秋山と申します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どうぞよろしくお願い致します。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このお仕事は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賢い子を育てるサポートをしつつ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ママの子育てをどんどんラクにすることで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何年経っても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お客様とハッピーな関係を保って感謝され続ける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今注目＆おすすめの働き方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５日間のチャレンジでお伝えしていきますので、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ぜひ最後までご参加くださいね！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こんなふうに感じていただけたら嬉しいです</a:t>
            </a:r>
            <a:endParaRPr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DAY４のまとめになりますが（スライドを指す）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このサービスがお仕事になる理由を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このイメージの内容でお伝えしました。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さらに、このお仕事をどんな風に進めていくのか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全体の流れをお伝えしました。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決済、連絡手段の確認は本日お伝えしていません。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サポート開始＆サポート内容については・・・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ヒアリングシートで育脳カリキュラムを管理して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改善状態をみつつ、定期的にメンテナンスしたり、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ママの気持ちに寄り添ったり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チャットを使った、コミュニティ全員によるサポート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といった部分をお伝えしました！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本日の内容はここまでになります！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Day1にもお伝えしましたが、人は学んだだけでは変わりません。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このイベント、学びが多かった！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だけで終わって欲しくない、と思っています。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今子育てしている人は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子育て経験を活かした、自宅からママ達をサポートする仕事をすることもできるんです。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そして、保育サービスや子育て支援をしている人は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楽育メソッドを活かして、他では絶対に受けられないお教室展開ができるようになります。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これもDay 3でお伝えしましたが、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</a:t>
            </a: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成功しやすい環境を手にいれる</a:t>
            </a:r>
            <a:r>
              <a:rPr lang="ja" sz="1300">
                <a:solidFill>
                  <a:schemeClr val="dk1"/>
                </a:solidFill>
              </a:rPr>
              <a:t>」と言うことも重要です！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いろんな意見を知ると多角的に物事をみれたり、自分に合った方法を見つけやすかったりします。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また、自分と似た状況の他の誰かがいることで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一緒に頑張っている、と感じると、孤独感がなくなったり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やり続ける力を得られることもありますよね。（ワークなんかまさにそう感じていませんか？）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一人でやるのは難しい、自信がない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これまでそういうの続かなかった、と言う人は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ぜひ成功の環境を手に入れていただきたいと思います。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8" name="Google Shape;238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、、、ですが、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いきなりカウンセラーは難しい！と思います。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課題の４でも、いざビジネスとなったら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集客から継続提案まで、全てが課題です！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という方もいらっしゃいましたよね！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でも、これは仕方がないんです。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今回全くここの部分、学んでいただいていないので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わからなかったり不安だったりするのは当然なんです。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そんな方にも、今日の内容が少しでも、前に進む勇気に変わればと思います。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1" name="Google Shape;25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これらを聞いただけじゃ、育脳子育てカウンセラーになれるかなんて、わからない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そう感じているかもしれませんね。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1" name="Google Shape;261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これについてお話していきたいと思います。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71" name="Google Shape;271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こんなのをイメージすると思いますが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これらを全部、ちゃんと整えてから、ビジネスをスタートしようと思うと、とても大変ですよね。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考えただけで「やめようかな」となりそうなのですが・・・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実は私の場合はそんなに苦労しませんでした。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なぜなら、、、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79" name="Google Shape;279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資金は、パソコンのみです。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89" name="Google Shape;289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仕事環境は、自宅を利用したので「ゼロコスト」です。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あとはインターネット環境を改善して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軽く机の上を整理したくらいでしょうか？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99" name="Google Shape;299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人材の確保は、私一人でOKだったので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誰かを雇う、などは考える必要がありませんでした。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09" name="Google Shape;30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市場競争については、注目の育脳ですが、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個人でのサポートビジネスは、まだまだ”先行者有利”のタイミングでした。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先行者有利とは＝早く始めた人が良い結果をえる、ということです。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※逆に遅く始めると顧客獲得がどんどん難しくなっていきます。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9" name="Google Shape;319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顧客の獲得と維持は、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Day4の内容でお客様との繋がり方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オンライン、リアルの繋がり方をお伝えしましたよね。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継続提案、これもDay4でお伝えしました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29" name="Google Shape;329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サービス内容の構築とアップデート、ここだけは苦労しました^^;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Day1でお伝えした通り、失敗もありましたが、試行錯誤して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お客様に満足いただけるサービスになっています。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39" name="Google Shape;339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49" name="Google Shape;349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ここの、、、サービス内容の構築とアップデートのところ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皆さんはこの部分をショートカットできます。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「なぜか」というと・・・カウンセラーの養成講座があるからです。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講座で学びトレーニングすることで、時間をぎゅっと短縮できます。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もう一度言いますが、資金はパソコンのみ、仕事環境は自宅、人材確保はいらない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市場競争はまだ先行者有利の状況、顧客獲得と維持については、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自分で体験教室をやったり、イベント開催したり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そこに来たお客様がリピートしてくれる、そんなお仕事なんです。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そして、サービス内容については、講座で学べば大丈夫、という感じです。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57" name="Google Shape;357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そのお気持ちもとてもよくわかるので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どんなステップで進めば良いか、についても、お伝えしていきますね。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5" name="Google Shape;365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こう言われたら、どういう行動をとるか、考えてみましょう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3" name="Google Shape;373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本当に美味しいの？と、まず食べてみる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あ、驚きのおいしさ！これヤバい^^　となったとします。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次に思うのは、果たして、これ自分にも作れるんだろうか？　ですよね？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83" name="Google Shape;383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で、自分でプリンを作ってみて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あ、自分でも作れた！お店みたいに美味しいじゃん！			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となると習得したことになりますね。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そうなってくると次に思うのは、、これ、もしかして売れるんじゃないかな？　ですよね？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93" name="Google Shape;393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いきなり大きなお店をやれないので、お試しで、小規模のモニター販売する。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そこでもちゃんと売れて、好評だったら・・・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「え、これお店でちゃんとできちゃうんじゃない？」ということで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	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03" name="Google Shape;403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お客様を集めて、店頭販売したり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顧客継続の施策（しさく）で、ポイントカードなどを展開して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ビジネスを大きく羽ばたかせることになります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13" name="Google Shape;413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ステップを踏むことで徐々に自信がつくし、イメージと現実が一致してくる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逆に初めから自信満々の方はいません。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ちゃんとステップを踏む中で、自信がついたり、少しずつ大きなステージをイメージできてくるんです。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ということで、先ほどのプリンの例に合わせて、育脳子育てカウンセラーのステップを示すと・・・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3" name="Google Shape;423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こんな流れになります。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サービス受けてみて体感して、自分でやって習得して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ビジネスのトレーニングをして、カウンセラーとして自立して羽ばたく、このイメージです。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ではこのステップのそれぞれについて、詳しく解説しますね。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31" name="Google Shape;431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※子育て中のママが対象です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親戚のご家庭にサービスを受けてもらう、もアリだと思います。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育脳子育てカウンセラーのサービスを、利用すると・・・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9" name="Google Shape;439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（端折って伝える）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「このサービス、めっちゃいいわ〜」を感じたり、カウンセラーの接し方、応対の様子を体験すると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「こういう仕事なのね！」というのもわかりますね。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さらには実感した感動を表現できるようにもなります。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（Day2、Day3の内容で十分に伝わっているよ！という方は、このステップは不要です）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9" name="Google Shape;449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次に育脳メソッドを学んで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自分でできるようにする、というステップです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60" name="Google Shape;460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（端折って伝える）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実践して、効果が現れることで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「自分にもできる！」「私にもカウンセラーできるんじゃないかしら！」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そんな気持ちになってきちゃいます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先日Day 3でご紹介した、ママ向けの子育てメソッドを学べる講座は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この部分＝ベビーマッサージ教室の開催もできるようになっています。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0" name="Google Shape;470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最後にサービスを提供して、ビジネスを始めるステップですね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講座の中では、これがカウンセラー養成コースで、学べる内容になっています。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もちろん、育脳のメソッドについても、マルっと学べちゃいます。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2" name="Google Shape;482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ロールプレイによるトレーニングもあります。カウンセラー役、クライアント役</a:t>
            </a:r>
            <a:r>
              <a:rPr lang="ja" sz="1300">
                <a:solidFill>
                  <a:schemeClr val="dk1"/>
                </a:solidFill>
              </a:rPr>
              <a:t>の両方の役をやります。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クライアント側の気持ちも、考えるのでカウンセリング力（りょく）がアップしますし、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カウンセリング力（りょく）を、ブラッシュアップできると不思議と自信がついてきます</a:t>
            </a:r>
            <a:r>
              <a:rPr lang="ja" sz="1300"/>
              <a:t>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カウンセリングのロープレをやるだけでも、チャット返信の引き出しが増えたりします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さて・・・これらを学ぶことで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50">
                <a:solidFill>
                  <a:schemeClr val="dk1"/>
                </a:solidFill>
              </a:rPr>
              <a:t>育脳の知識や楽育のメソッドを磨きつつ、カウンセラーとしてお客様との接し方も学べるので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小規模で体験教室ができちゃいます。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楽育メソッドの体験教室だったり、ベビーマッサージ教室ももちろんできます。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	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19" name="Google Shape;519;p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小規模のイベントや体験教室をやるうちに、ファンが増えて、自信もついてきます。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そうしたステップを経て、本格的に個別のカウンセリングサービスを開始、というステップになります。</a:t>
            </a:r>
            <a:r>
              <a:rPr lang="ja" sz="1400">
                <a:solidFill>
                  <a:schemeClr val="dk1"/>
                </a:solidFill>
              </a:rPr>
              <a:t>	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	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9" name="Google Shape;529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完全に想像・空想でOKです！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できる、できないはひとまず置いておいて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イメージ遊びの感覚で想像しましょう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9" name="Google Shape;539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チャットで教えてください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①あれ、意外と考えられた！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②わからないところもあったけど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　ちょっとはアイデアが出た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③全くイメージが湧かなかった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お気づきですか？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③の人ももちろん全然OKですよ！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①や②の方は、このチャレンジが始まる前には、想像できなかったことが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想像できるようになっていませんか？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学びがしっかりと定着している証拠です👏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素晴らしいです^^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1" name="Google Shape;551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では、本日のDAY５のまとめに入ります。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皆さんがビジネスを始めるのに特に足りてないのは、サービス構築のみ、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ここは講座で学んで最速で身につけることができます。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なので、いきなり育脳子育てカウンセラーを目指すことができるんですね。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9" name="Google Shape;559;p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育脳子育てカウンセラーになるステップ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サービスを受けてみる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自分でメソッドをできるようになる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ビジネスのトレーニングをする　でしたね。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0" name="Google Shape;570;p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そして　、、、でした。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0" name="Google Shape;580;p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最後にもう一度、私の想いを伝えさせてください。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、、、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このような希望的な未来を願ってカウンセラーの養成をしています。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0" name="Google Shape;590;p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どんな学びがあった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明日からこんなことを活かしたい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自分の仕事でこういう部分を取り入れたい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など、なんでも大丈夫です。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チャットに書いてください。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（チャットをご紹介後、、、）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私の方は以上です。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皆さんお疲れ様でした。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1" name="Google Shape;601;p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9" name="Google Shape;609;p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このチャレンジの目的、全て達成できましたか？</a:t>
            </a:r>
            <a:endParaRPr/>
          </a:p>
        </p:txBody>
      </p:sp>
      <p:sp>
        <p:nvSpPr>
          <p:cNvPr id="617" name="Google Shape;617;p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6" name="Google Shape;626;p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42" name="Google Shape;642;p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6" name="Google Shape;666;p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p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8" name="Google Shape;688;p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p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1" name="Google Shape;711;p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講座の具体的な内容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カリキュラム・スケジュール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サポート内容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を説明したあとで、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購入を希望される場合は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講座に申し込んで頂ければと思います。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※無理に講座をすすめたり、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販売することは絶対にしません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ご安心ください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※お話した上でまみ先生や説明会担当の方から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ご購入をご遠慮いただく場合もございます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お申し込みの方のご要望やご期待に添えないな、と思った時は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その旨、ちゃんとお伝えします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4" name="Google Shape;734;p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今のあなたのライフスタイルに合わせて選べるコースもあります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0" name="Google Shape;750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7" name="Google Shape;767;p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ご主人やお子さんに相談される方もいらっしゃいます。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でも大事なのはあなたがどうしたいか、です。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ご自分の人生です。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ただ、これだけの内容と10年以上かけてきた学びと経験も入っているので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正直そんなに安いものではありません。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それなりの金額はします。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なので、</a:t>
            </a:r>
            <a:r>
              <a:rPr lang="ja" sz="1300">
                <a:solidFill>
                  <a:schemeClr val="dk1"/>
                </a:solidFill>
              </a:rPr>
              <a:t>本気</a:t>
            </a:r>
            <a:r>
              <a:rPr lang="ja" sz="1300">
                <a:solidFill>
                  <a:schemeClr val="dk1"/>
                </a:solidFill>
              </a:rPr>
              <a:t>で今の自分を変えたい方、やりがいや社会貢献、親子のサポートをしたいと思われる方に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ぜひ来ていただきたいと思います。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📣講座の説明会お申込みはこちら📣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「育脳子育てカウンセラー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　プレミアム講座👶」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 u="sng">
                <a:solidFill>
                  <a:schemeClr val="hlink"/>
                </a:solidFill>
                <a:hlinkClick r:id="rId2"/>
              </a:rPr>
              <a:t>https://eqno.mamaaka.com/p/kbt2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追加で2名様だけ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特別限定価格でのご案内があります🙌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※ご家庭での子育てに活かしたい方は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「ママのための育脳マスターコース」を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お選びください。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※カウンセラービジネスに興味があると言う方は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「カウンセラー養成講座」を選択して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お申し込みください。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5" name="Google Shape;785;p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95" name="Google Shape;795;p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p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7" name="Google Shape;807;p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7" name="Google Shape;817;p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8" name="Google Shape;828;p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個人でビジネスを始めるには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これだけのものがかかるというお話もしました。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課題提出の中でも集客が苦手、SNSが得意ではないと書いてある方がいました。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わかります！私もそうですw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だからこそ、この講座はリアルでお教室が開けるようになっています。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しかも、集客塾にいうと100万円以上かかるところも多いのに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ここでは講座の中に入っているんです。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そして、1人だとなかなか続かない人が多い、、、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だって初めてだとわからないですよね！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それが仲間と一緒に覚えながら活動することができるのです。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41" name="Google Shape;841;p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6" name="Google Shape;866;p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p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成功しやすい環境を手に入れて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実践されることをお勧めします。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2" name="Google Shape;882;p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2" name="Google Shape;892;p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3" name="Google Shape;903;p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3" name="Google Shape;913;p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3" name="Google Shape;923;p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3" name="Google Shape;933;p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3" name="Google Shape;943;p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p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5" name="Google Shape;955;p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0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" name="Google Shape;13;p80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" name="Google Shape;14;p8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1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" name="Google Shape;17;p81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p81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" name="Google Shape;19;p81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8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2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8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4" name="Google Shape;24;p82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82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8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3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83"/>
          <p:cNvSpPr txBox="1"/>
          <p:nvPr>
            <p:ph idx="1" type="body"/>
          </p:nvPr>
        </p:nvSpPr>
        <p:spPr>
          <a:xfrm>
            <a:off x="623888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3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83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8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4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8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" name="Google Shape;36;p8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7" name="Google Shape;37;p84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84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8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5"/>
          <p:cNvSpPr txBox="1"/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8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43" name="Google Shape;43;p85"/>
          <p:cNvSpPr txBox="1"/>
          <p:nvPr>
            <p:ph idx="2" type="body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" name="Google Shape;44;p8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45" name="Google Shape;45;p85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6" name="Google Shape;46;p85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85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8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6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86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" name="Google Shape;52;p86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8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7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87"/>
          <p:cNvSpPr txBox="1"/>
          <p:nvPr>
            <p:ph idx="1" type="body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365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indent="-3365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57" name="Google Shape;57;p87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7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87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8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8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88"/>
          <p:cNvSpPr/>
          <p:nvPr>
            <p:ph idx="2" type="pic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8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8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88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8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9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89"/>
          <p:cNvSpPr txBox="1"/>
          <p:nvPr>
            <p:ph idx="1" type="body"/>
          </p:nvPr>
        </p:nvSpPr>
        <p:spPr>
          <a:xfrm rot="5400000">
            <a:off x="2940301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1" name="Google Shape;71;p89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89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8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0"/>
          <p:cNvSpPr txBox="1"/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90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7" name="Google Shape;77;p90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90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9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365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3" name="Google Shape;83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9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9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9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" name="Google Shape;113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7" name="Google Shape;117;p1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1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2" name="Google Shape;122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" name="Google Shape;125;p10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9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9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9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4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jpg"/><Relationship Id="rId4" Type="http://schemas.openxmlformats.org/officeDocument/2006/relationships/image" Target="../media/image49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8.jpg"/><Relationship Id="rId4" Type="http://schemas.openxmlformats.org/officeDocument/2006/relationships/image" Target="../media/image41.jpg"/><Relationship Id="rId5" Type="http://schemas.openxmlformats.org/officeDocument/2006/relationships/image" Target="../media/image3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6.png"/><Relationship Id="rId4" Type="http://schemas.openxmlformats.org/officeDocument/2006/relationships/image" Target="../media/image4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4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9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3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7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8.jpg"/><Relationship Id="rId4" Type="http://schemas.openxmlformats.org/officeDocument/2006/relationships/image" Target="../media/image40.jpg"/><Relationship Id="rId5" Type="http://schemas.openxmlformats.org/officeDocument/2006/relationships/image" Target="../media/image44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215425" y="3896950"/>
            <a:ext cx="529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５日間チャレンジ</a:t>
            </a:r>
            <a:endParaRPr b="1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36" name="Google Shape;136;p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5236800" y="3670900"/>
            <a:ext cx="308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ja" sz="5500" u="sng" cap="none" strike="noStrike">
                <a:solidFill>
                  <a:srgbClr val="EF84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ＤＡＹ５</a:t>
            </a:r>
            <a:endParaRPr b="1" i="0" sz="5500" u="sng" cap="none" strike="noStrike">
              <a:solidFill>
                <a:srgbClr val="EF84C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75" y="713675"/>
            <a:ext cx="4484925" cy="24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300" y="732663"/>
            <a:ext cx="4382500" cy="23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6" name="Google Shape;146;p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このチャレンジの目的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目的１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育脳について正しい知識を身につける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目的２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世の中のママ達をサポートすることで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成り立つカウンセラーのお仕事の可能性を学ぶ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目的３</a:t>
            </a:r>
            <a:endParaRPr b="0" i="0" sz="2000" u="none" cap="none" strike="noStrike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子育てママやお教室のお仕事からどのようにステップを進めたら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”育脳子育てカウンセラー”になれるかを学ぶ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5" name="Google Shape;155;p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0" y="442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さらに・・・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1195100" y="1148588"/>
            <a:ext cx="83373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・「確かにそういうサポートは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世の中に必要だよね」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・「育脳ってお子様だけでなく、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ママにとっても大事なのね」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・「これならお仕事として成立するよね」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・「自分にもできるかも！」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・「やってみたい」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158" name="Google Shape;1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690546" y="96800"/>
            <a:ext cx="2158400" cy="26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５日間の全体像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65" name="Google Shape;165;p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"/>
          <p:cNvSpPr txBox="1"/>
          <p:nvPr/>
        </p:nvSpPr>
        <p:spPr>
          <a:xfrm>
            <a:off x="1056825" y="1333925"/>
            <a:ext cx="76671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Day１　全体概要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Day２　"育脳"と早期教育の違い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Day３　育脳に大切な３つの取り組み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Day４　育脳サービスをお仕事にする、とは？</a:t>
            </a:r>
            <a:endParaRPr b="0" i="0" sz="265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0" i="0" lang="ja" sz="265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Day５　"育脳子育てカウンセラー"になるための</a:t>
            </a:r>
            <a:endParaRPr b="0" i="0" sz="26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        ステップ&amp;５日間のまとめ</a:t>
            </a:r>
            <a:endParaRPr b="0" i="0" sz="26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t/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3" name="Google Shape;173;p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06875" y="1962200"/>
            <a:ext cx="79743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Ｄａｙ４の振り返り</a:t>
            </a:r>
            <a:endParaRPr b="0" i="0" sz="4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1" name="Google Shape;181;p6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Day４のまとめ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4" name="Google Shape;1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400" y="741200"/>
            <a:ext cx="7715250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1" name="Google Shape;191;p7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Day４のまとめ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93" name="Google Shape;193;p7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750" y="714926"/>
            <a:ext cx="7285023" cy="405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1" name="Google Shape;201;p8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Day４のまとめ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150" y="782600"/>
            <a:ext cx="4545551" cy="19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193" y="3053250"/>
            <a:ext cx="3617099" cy="17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2958" y="2904695"/>
            <a:ext cx="3470162" cy="19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828425" y="873750"/>
            <a:ext cx="1830300" cy="75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カウンセリング</a:t>
            </a:r>
            <a:endParaRPr b="0" i="0" sz="18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シート</a:t>
            </a:r>
            <a:endParaRPr b="0" i="0" sz="18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287875" y="2904675"/>
            <a:ext cx="1628400" cy="43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ママのケア</a:t>
            </a:r>
            <a:endParaRPr b="0" i="0" sz="18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4891875" y="3111800"/>
            <a:ext cx="2192100" cy="43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チャットサポート</a:t>
            </a:r>
            <a:endParaRPr b="0" i="0" sz="18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16" name="Google Shape;216;p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1387650" y="1439150"/>
            <a:ext cx="63687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それでは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まみ先生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よろしくお願い致します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24" name="Google Shape;224;p1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1461725" y="2030788"/>
            <a:ext cx="63687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ja" sz="5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学んだだけでは</a:t>
            </a:r>
            <a:endParaRPr b="0" i="0" sz="57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ja" sz="57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変わらない</a:t>
            </a:r>
            <a:endParaRPr b="0" i="0" sz="57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2" name="Google Shape;232;p1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1447675" y="499013"/>
            <a:ext cx="63687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お伝えしたいのは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447675" y="1919238"/>
            <a:ext cx="6368700" cy="15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あなたの人生の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ja" sz="5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新しい可能性</a:t>
            </a:r>
            <a:endParaRPr b="1" i="0" sz="5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1" name="Google Shape;241;p1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828438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グループチャット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成功しやすい環境を手にいれる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44" name="Google Shape;244;p1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348" y="1977460"/>
            <a:ext cx="2712900" cy="257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425" y="2044962"/>
            <a:ext cx="2444250" cy="24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 txBox="1"/>
          <p:nvPr/>
        </p:nvSpPr>
        <p:spPr>
          <a:xfrm>
            <a:off x="4998500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ライブイベント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54" name="Google Shape;254;p1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本日のテーマ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56" name="Google Shape;256;p1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3"/>
          <p:cNvSpPr txBox="1"/>
          <p:nvPr/>
        </p:nvSpPr>
        <p:spPr>
          <a:xfrm>
            <a:off x="757050" y="1362975"/>
            <a:ext cx="7758300" cy="3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"育脳子育てカウンセラー"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になるためのステップ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&amp;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５日間のまとめ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4" name="Google Shape;264;p1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818575" y="1025425"/>
            <a:ext cx="7506900" cy="3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Day1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育脳子育てカウンセラーの魅力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Day2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育脳の正しい知識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Day3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楽育メソッド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Day4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育脳子育てカウンセラーのお仕事の全容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この４日間でこんなことをお伝えしました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67" name="Google Shape;267;p1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74" name="Google Shape;274;p1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874800" y="941850"/>
            <a:ext cx="7506900" cy="3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では改めて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いきなり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sng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b="0" i="0" sz="4600" u="sng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ja" sz="45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になれるのか？</a:t>
            </a:r>
            <a:endParaRPr b="0" i="0" sz="45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82" name="Google Shape;282;p1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0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一般的にお仕事を始めようとすると・・・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84" name="Google Shape;284;p16"/>
          <p:cNvCxnSpPr/>
          <p:nvPr/>
        </p:nvCxnSpPr>
        <p:spPr>
          <a:xfrm>
            <a:off x="828425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875" y="737550"/>
            <a:ext cx="7217878" cy="40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92" name="Google Shape;292;p1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資金は・・・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94" name="Google Shape;294;p1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5" name="Google Shape;2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8250" y="1150316"/>
            <a:ext cx="4094065" cy="36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02" name="Google Shape;302;p1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仕事環境は・・・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04" name="Google Shape;304;p1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5" name="Google Shape;3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875" y="1025435"/>
            <a:ext cx="4590696" cy="37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12" name="Google Shape;312;p1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人材の確保は・・・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14" name="Google Shape;314;p1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5" name="Google Shape;3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3900" y="1108135"/>
            <a:ext cx="3331928" cy="37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22" name="Google Shape;322;p2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市場競争については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24" name="Google Shape;324;p2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5" name="Google Shape;3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3350" y="1048360"/>
            <a:ext cx="3456875" cy="37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32" name="Google Shape;332;p2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顧客の獲得と維持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34" name="Google Shape;334;p2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5" name="Google Shape;3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800" y="1091288"/>
            <a:ext cx="3086100" cy="372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42" name="Google Shape;342;p2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サービス内容の構築とアップデート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44" name="Google Shape;344;p2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5" name="Google Shape;3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588" y="1042332"/>
            <a:ext cx="4164886" cy="36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52" name="Google Shape;352;p2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902900" y="1060350"/>
            <a:ext cx="75069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もし、あなたが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「育脳子育てカウンセラーを始めよう！」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となった場合に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私とあなたで</a:t>
            </a:r>
            <a:r>
              <a:rPr b="0" i="0" lang="ja" sz="4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違い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があるとしたら・・・</a:t>
            </a:r>
            <a:endParaRPr b="0" i="0" sz="45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0" name="Google Shape;360;p2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61" name="Google Shape;3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00" y="68100"/>
            <a:ext cx="8483835" cy="46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8" name="Google Shape;368;p2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860750" y="1538150"/>
            <a:ext cx="78639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そうは言っても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いきなりなんて難しい(&gt; &lt;)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76" name="Google Shape;376;p2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例え話ですが・・・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78" name="Google Shape;378;p2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26"/>
          <p:cNvSpPr txBox="1"/>
          <p:nvPr/>
        </p:nvSpPr>
        <p:spPr>
          <a:xfrm>
            <a:off x="828450" y="2023013"/>
            <a:ext cx="78639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「美味しいプリン屋を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やりませんか？」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86" name="Google Shape;386;p2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まず食べてみる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88" name="Google Shape;388;p2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9" name="Google Shape;3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0875" y="1035309"/>
            <a:ext cx="2553951" cy="37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96" name="Google Shape;396;p2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作ってみる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98" name="Google Shape;398;p2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9" name="Google Shape;3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3550" y="1025426"/>
            <a:ext cx="2515102" cy="37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06" name="Google Shape;406;p2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07" name="Google Shape;407;p2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小さく始める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08" name="Google Shape;408;p2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9" name="Google Shape;4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88" y="1044450"/>
            <a:ext cx="1996825" cy="3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16" name="Google Shape;416;p3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大きく展開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18" name="Google Shape;418;p3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9" name="Google Shape;4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8975" y="1026289"/>
            <a:ext cx="2925259" cy="37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26" name="Google Shape;426;p3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860750" y="1538150"/>
            <a:ext cx="78639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基本はこれと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同じ流れです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34" name="Google Shape;434;p3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435" name="Google Shape;4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038" y="157275"/>
            <a:ext cx="8213976" cy="4609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42" name="Google Shape;442;p3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サービスを受けてみる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44" name="Google Shape;444;p3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5" name="Google Shape;4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825" y="1129775"/>
            <a:ext cx="6298327" cy="353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52" name="Google Shape;452;p3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サービスを受けてみる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54" name="Google Shape;454;p3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5" name="Google Shape;45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75" y="129063"/>
            <a:ext cx="2569282" cy="14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4"/>
          <p:cNvSpPr txBox="1"/>
          <p:nvPr/>
        </p:nvSpPr>
        <p:spPr>
          <a:xfrm>
            <a:off x="1161575" y="1670538"/>
            <a:ext cx="7614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・ママとしてラクになる感覚を体験できる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・子どもが笑顔になる瞬間を楽める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・コミュニケーションアップを実感できる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・相談して気持ちが楽になる体験をする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・いつでも相談できる安心感を体験する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・困ったときの次の行動がすぐに明確になる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→悩み時間、調査時間の軽減を体験する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63" name="Google Shape;463;p3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自分でやれるようにする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65" name="Google Shape;465;p3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6" name="Google Shape;4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863" y="1080013"/>
            <a:ext cx="6298327" cy="353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73" name="Google Shape;473;p3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74" name="Google Shape;474;p3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自分でやれるようにする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75" name="Google Shape;475;p3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6" name="Google Shape;47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75" y="129063"/>
            <a:ext cx="2569282" cy="14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6"/>
          <p:cNvSpPr txBox="1"/>
          <p:nvPr/>
        </p:nvSpPr>
        <p:spPr>
          <a:xfrm>
            <a:off x="1195600" y="2138836"/>
            <a:ext cx="7614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・こどもの反応を見ながら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メソッドを活用して自分で育脳ができる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・自分にもできる、という体験を積む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・カウンセリングを受けるよりクイックにできる</a:t>
            </a:r>
            <a:endParaRPr b="0" i="0" sz="2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78" name="Google Shape;47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075" y="129075"/>
            <a:ext cx="2569270" cy="14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85" name="Google Shape;485;p3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86" name="Google Shape;486;p3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ビジネストレーニングをする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87" name="Google Shape;487;p3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8" name="Google Shape;4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725" y="1129775"/>
            <a:ext cx="6258547" cy="353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95" name="Google Shape;495;p3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96" name="Google Shape;496;p3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育脳パート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97" name="Google Shape;497;p3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38"/>
          <p:cNvSpPr/>
          <p:nvPr/>
        </p:nvSpPr>
        <p:spPr>
          <a:xfrm>
            <a:off x="1035800" y="1221725"/>
            <a:ext cx="2956200" cy="157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育脳のもっと詳しい座学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・非認知能力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・子どもの脳の特徴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99" name="Google Shape;499;p38"/>
          <p:cNvSpPr/>
          <p:nvPr/>
        </p:nvSpPr>
        <p:spPr>
          <a:xfrm>
            <a:off x="1035800" y="3046375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楽育メソッド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・育脳マインド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・育脳ルーティン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・ベビーマッサージ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4249850" y="1221725"/>
            <a:ext cx="2956200" cy="585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ママのセルフマインドUP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01" name="Google Shape;5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250" y="1843074"/>
            <a:ext cx="3998300" cy="1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8"/>
          <p:cNvSpPr/>
          <p:nvPr/>
        </p:nvSpPr>
        <p:spPr>
          <a:xfrm>
            <a:off x="4249850" y="3989300"/>
            <a:ext cx="4265400" cy="828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会員サイト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ベビーマッサージ動画など（60本）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09" name="Google Shape;509;p3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10" name="Google Shape;510;p3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ビジネスパート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11" name="Google Shape;511;p3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39"/>
          <p:cNvSpPr/>
          <p:nvPr/>
        </p:nvSpPr>
        <p:spPr>
          <a:xfrm>
            <a:off x="1035800" y="1221725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体験教室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・楽育メソッドx３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・非認知能力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・ベビーマッサージ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4834475" y="1221713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カウンセリングロープレ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・ヒアリング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・シート活用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・ロープレトレーニング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997400" y="3353475"/>
            <a:ext cx="3033000" cy="1202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チャットサポート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・ツール基礎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・応対トレーニング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4834475" y="3353475"/>
            <a:ext cx="2956200" cy="1202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ビジネス基礎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・決済関連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・マインドセット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2" name="Google Shape;522;p4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23" name="Google Shape;523;p4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小さく始めてみる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24" name="Google Shape;524;p4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5" name="Google Shape;5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750" y="1080013"/>
            <a:ext cx="6258547" cy="353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32" name="Google Shape;532;p4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33" name="Google Shape;533;p4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本格的に始める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34" name="Google Shape;534;p4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5" name="Google Shape;53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750" y="1104463"/>
            <a:ext cx="6258547" cy="353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42" name="Google Shape;542;p4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43" name="Google Shape;543;p42"/>
          <p:cNvSpPr txBox="1"/>
          <p:nvPr/>
        </p:nvSpPr>
        <p:spPr>
          <a:xfrm>
            <a:off x="25" y="378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44" name="Google Shape;544;p42"/>
          <p:cNvCxnSpPr/>
          <p:nvPr/>
        </p:nvCxnSpPr>
        <p:spPr>
          <a:xfrm>
            <a:off x="828450" y="6717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5" name="Google Shape;54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67320"/>
            <a:ext cx="3916476" cy="221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2"/>
          <p:cNvSpPr txBox="1"/>
          <p:nvPr/>
        </p:nvSpPr>
        <p:spPr>
          <a:xfrm>
            <a:off x="25" y="3370200"/>
            <a:ext cx="406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「お試しで体験教室を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やりたい！」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どんな企画にしますか？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47" name="Google Shape;547;p42"/>
          <p:cNvSpPr txBox="1"/>
          <p:nvPr/>
        </p:nvSpPr>
        <p:spPr>
          <a:xfrm>
            <a:off x="4572000" y="867325"/>
            <a:ext cx="4452300" cy="4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お客様は・・・何人くらい？どうやって集める？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　　　お子様参加型？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やる会場は・・・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オンライン：インスタライブ？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リアル会場：児童館、公民館の会議室、カフェ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やる内容は・・・①1秒育脳の話やワーク？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       　②非認知能力の座学の話？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                ③ベビーマッサージ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参加費は・・・無料？有料？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お友達を2人連れてきたら無料？</a:t>
            </a:r>
            <a:endParaRPr b="0" i="0" sz="1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54" name="Google Shape;554;p4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55" name="Google Shape;555;p43"/>
          <p:cNvSpPr txBox="1"/>
          <p:nvPr/>
        </p:nvSpPr>
        <p:spPr>
          <a:xfrm>
            <a:off x="860750" y="1538150"/>
            <a:ext cx="78639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ワーク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いかがでしたか？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62" name="Google Shape;562;p44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63" name="Google Shape;563;p44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Day５のまとめ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64" name="Google Shape;564;p44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5" name="Google Shape;56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990" y="2331225"/>
            <a:ext cx="4667975" cy="25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4"/>
          <p:cNvSpPr txBox="1"/>
          <p:nvPr/>
        </p:nvSpPr>
        <p:spPr>
          <a:xfrm>
            <a:off x="446275" y="717650"/>
            <a:ext cx="8229600" cy="13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いきなり</a:t>
            </a: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になれる？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→</a:t>
            </a:r>
            <a:r>
              <a:rPr b="1" i="0" lang="ja" sz="4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なれます</a:t>
            </a:r>
            <a:endParaRPr b="1" i="0" sz="4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3" name="Google Shape;573;p45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74" name="Google Shape;574;p45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Day５のまとめ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75" name="Google Shape;575;p45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6" name="Google Shape;57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323" y="773812"/>
            <a:ext cx="6847950" cy="38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83" name="Google Shape;583;p46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84" name="Google Shape;584;p46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85" name="Google Shape;585;p46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46"/>
          <p:cNvSpPr txBox="1"/>
          <p:nvPr/>
        </p:nvSpPr>
        <p:spPr>
          <a:xfrm>
            <a:off x="828425" y="793800"/>
            <a:ext cx="74871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▪️育脳子育てカウンセラーの魅力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▪️育脳の正しい知識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親子のコミュニケーションが鍵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▪️楽育メソッド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ママが楽になることを重視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▪️育脳子育てカウンセラーのお仕事の全容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ママの心に寄り添いつつサポート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▪️育脳子育てカウンセラーになるためのステップ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	確実に歩みを進めるためのロードマップ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私の想い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93" name="Google Shape;593;p4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47"/>
          <p:cNvSpPr txBox="1"/>
          <p:nvPr/>
        </p:nvSpPr>
        <p:spPr>
          <a:xfrm>
            <a:off x="682525" y="1250775"/>
            <a:ext cx="753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2800" u="none" cap="none" strike="noStrike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女性の未来の可能性を広げたい</a:t>
            </a:r>
            <a:endParaRPr b="0" i="0" sz="2800" u="none" cap="none" strike="noStrike">
              <a:solidFill>
                <a:schemeClr val="lt1"/>
              </a:solidFill>
              <a:highlight>
                <a:srgbClr val="EF84C9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5" name="Google Shape;595;p47"/>
          <p:cNvSpPr txBox="1"/>
          <p:nvPr/>
        </p:nvSpPr>
        <p:spPr>
          <a:xfrm>
            <a:off x="1855775" y="2044850"/>
            <a:ext cx="6303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2800" u="none" cap="none" strike="noStrike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いつまでも仲の良い親子関係が続く</a:t>
            </a:r>
            <a:endParaRPr sz="2800">
              <a:solidFill>
                <a:schemeClr val="lt1"/>
              </a:solidFill>
              <a:highlight>
                <a:srgbClr val="EF84C9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2800" u="none" cap="none" strike="noStrike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ご家庭を増やしたい</a:t>
            </a:r>
            <a:endParaRPr b="0" i="0" sz="2800" u="none" cap="none" strike="noStrike">
              <a:solidFill>
                <a:schemeClr val="lt1"/>
              </a:solidFill>
              <a:highlight>
                <a:srgbClr val="EF84C9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6" name="Google Shape;596;p47"/>
          <p:cNvSpPr txBox="1"/>
          <p:nvPr/>
        </p:nvSpPr>
        <p:spPr>
          <a:xfrm>
            <a:off x="828450" y="4251700"/>
            <a:ext cx="6866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7" name="Google Shape;597;p47"/>
          <p:cNvSpPr txBox="1"/>
          <p:nvPr/>
        </p:nvSpPr>
        <p:spPr>
          <a:xfrm>
            <a:off x="1913050" y="3402275"/>
            <a:ext cx="68160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カウンセラーが</a:t>
            </a:r>
            <a:r>
              <a:rPr lang="ja" sz="2800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悩んでいるママに伴走し</a:t>
            </a:r>
            <a:endParaRPr sz="2800">
              <a:solidFill>
                <a:schemeClr val="lt1"/>
              </a:solidFill>
              <a:highlight>
                <a:srgbClr val="EF84C9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笑顔になる親子をたくさん増やしたい</a:t>
            </a:r>
            <a:endParaRPr sz="2800">
              <a:solidFill>
                <a:schemeClr val="lt1"/>
              </a:solidFill>
              <a:highlight>
                <a:srgbClr val="EF84C9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04" name="Google Shape;604;p4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05" name="Google Shape;605;p48"/>
          <p:cNvSpPr txBox="1"/>
          <p:nvPr/>
        </p:nvSpPr>
        <p:spPr>
          <a:xfrm>
            <a:off x="860750" y="1538150"/>
            <a:ext cx="78639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５日間で感じたことを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アウトプットしましょう</a:t>
            </a:r>
            <a:endParaRPr b="0" i="0" sz="4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12" name="Google Shape;612;p4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13" name="Google Shape;613;p49"/>
          <p:cNvSpPr txBox="1"/>
          <p:nvPr/>
        </p:nvSpPr>
        <p:spPr>
          <a:xfrm>
            <a:off x="1387675" y="18249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ＤＡＹ５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お疲れ様でした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0" name="Google Shape;620;p5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このチャレンジの目的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22" name="Google Shape;622;p50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目的１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育脳について正しい知識を身につける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目的２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世の中のママ達をサポートすることで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成り立つカウンセラーのお仕事の可能性を学ぶ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目的３</a:t>
            </a:r>
            <a:endParaRPr b="0" i="0" sz="2000" u="none" cap="none" strike="noStrike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子育てママやお教室のお仕事からどのようにステップを進めたら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”育脳子育てカウンセラー”になれるかを学ぶ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9" name="Google Shape;629;p5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30" name="Google Shape;630;p51"/>
          <p:cNvSpPr txBox="1"/>
          <p:nvPr/>
        </p:nvSpPr>
        <p:spPr>
          <a:xfrm>
            <a:off x="1387650" y="1942800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このチャレンジに参加される前、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どんな気持ちでしたか？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7" name="Google Shape;637;p5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38" name="Google Shape;638;p52"/>
          <p:cNvSpPr txBox="1"/>
          <p:nvPr/>
        </p:nvSpPr>
        <p:spPr>
          <a:xfrm>
            <a:off x="1387650" y="1942800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５日間のチャレンジを終えた今、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どう感じていますか？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45" name="Google Shape;645;p5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46" name="Google Shape;646;p53"/>
          <p:cNvSpPr txBox="1"/>
          <p:nvPr/>
        </p:nvSpPr>
        <p:spPr>
          <a:xfrm>
            <a:off x="828438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グループチャット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47" name="Google Shape;647;p53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成功しやすい環境を手にいれる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48" name="Google Shape;648;p5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9" name="Google Shape;64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348" y="1977460"/>
            <a:ext cx="2712900" cy="257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425" y="2044962"/>
            <a:ext cx="2444250" cy="24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53"/>
          <p:cNvSpPr txBox="1"/>
          <p:nvPr/>
        </p:nvSpPr>
        <p:spPr>
          <a:xfrm>
            <a:off x="4998500" y="14788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ライブイベント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75" y="376225"/>
            <a:ext cx="7464905" cy="476727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59" name="Google Shape;659;p5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60" name="Google Shape;660;p54"/>
          <p:cNvSpPr txBox="1"/>
          <p:nvPr/>
        </p:nvSpPr>
        <p:spPr>
          <a:xfrm>
            <a:off x="0" y="176775"/>
            <a:ext cx="9144000" cy="13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ja" sz="4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b="1" i="0" sz="4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ja" sz="4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養成講座</a:t>
            </a:r>
            <a:endParaRPr b="1" i="0" sz="4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61" name="Google Shape;66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375" y="176775"/>
            <a:ext cx="1339425" cy="13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76475" y="93650"/>
            <a:ext cx="1339425" cy="1354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69" name="Google Shape;669;p5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670" name="Google Shape;67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550" y="133950"/>
            <a:ext cx="7900909" cy="446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77" name="Google Shape;677;p5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78" name="Google Shape;678;p5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育脳パート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79" name="Google Shape;679;p5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0" name="Google Shape;680;p56"/>
          <p:cNvSpPr/>
          <p:nvPr/>
        </p:nvSpPr>
        <p:spPr>
          <a:xfrm>
            <a:off x="1035800" y="1221725"/>
            <a:ext cx="2956200" cy="157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育脳のもっと詳しい座学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・非認知能力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・子どもの脳の特徴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1035800" y="3046375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楽育メソッド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・育脳マインド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・育脳ルーティン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１秒育脳®️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・ベビーマッサージ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82" name="Google Shape;682;p56"/>
          <p:cNvSpPr/>
          <p:nvPr/>
        </p:nvSpPr>
        <p:spPr>
          <a:xfrm>
            <a:off x="4249850" y="1221725"/>
            <a:ext cx="2956200" cy="585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ママのセルフマインドUP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83" name="Google Shape;68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250" y="1843074"/>
            <a:ext cx="3998300" cy="1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56"/>
          <p:cNvSpPr/>
          <p:nvPr/>
        </p:nvSpPr>
        <p:spPr>
          <a:xfrm>
            <a:off x="4249850" y="3989300"/>
            <a:ext cx="4265400" cy="828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会員サイト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ベビーマッサージ動画など（60本）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91" name="Google Shape;691;p5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92" name="Google Shape;692;p5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ビジネスパート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93" name="Google Shape;693;p5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57"/>
          <p:cNvSpPr/>
          <p:nvPr/>
        </p:nvSpPr>
        <p:spPr>
          <a:xfrm>
            <a:off x="1035800" y="1221725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体験教室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・楽育メソッドx３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・非認知能力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・ベビーマッサージ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95" name="Google Shape;695;p57"/>
          <p:cNvSpPr/>
          <p:nvPr/>
        </p:nvSpPr>
        <p:spPr>
          <a:xfrm>
            <a:off x="4834475" y="1221713"/>
            <a:ext cx="2956200" cy="1771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カウンセリングロープレ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・ヒアリング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・シート活用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・ロープレトレーニング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96" name="Google Shape;696;p57"/>
          <p:cNvSpPr/>
          <p:nvPr/>
        </p:nvSpPr>
        <p:spPr>
          <a:xfrm>
            <a:off x="997400" y="3353475"/>
            <a:ext cx="3033000" cy="1202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チャットサポート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・ツール基礎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・応対トレーニング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97" name="Google Shape;697;p57"/>
          <p:cNvSpPr/>
          <p:nvPr/>
        </p:nvSpPr>
        <p:spPr>
          <a:xfrm>
            <a:off x="4834475" y="3353475"/>
            <a:ext cx="2956200" cy="1202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ビジネス基礎</a:t>
            </a:r>
            <a:endParaRPr b="0" i="0" sz="18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・決済関連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・マインドセット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04" name="Google Shape;704;p5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05" name="Google Shape;705;p5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９大特典付き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06" name="Google Shape;706;p5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58"/>
          <p:cNvSpPr txBox="1"/>
          <p:nvPr/>
        </p:nvSpPr>
        <p:spPr>
          <a:xfrm>
            <a:off x="1387675" y="1361050"/>
            <a:ext cx="63687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少しだけお伝えすると・・・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・ビジネスツール勉強会（無料）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・カウンセラー情報掲載権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・カウンセリング実習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14" name="Google Shape;714;p5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15" name="Google Shape;715;p5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ちなみに・・・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16" name="Google Shape;716;p5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17" name="Google Shape;71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1825996"/>
            <a:ext cx="4253450" cy="23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826000"/>
            <a:ext cx="4226616" cy="23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9"/>
          <p:cNvSpPr txBox="1"/>
          <p:nvPr/>
        </p:nvSpPr>
        <p:spPr>
          <a:xfrm>
            <a:off x="295525" y="1241000"/>
            <a:ext cx="325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ママ向けコース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20" name="Google Shape;720;p59"/>
          <p:cNvSpPr txBox="1"/>
          <p:nvPr/>
        </p:nvSpPr>
        <p:spPr>
          <a:xfrm>
            <a:off x="5143525" y="1241000"/>
            <a:ext cx="325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お仕事コース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27" name="Google Shape;727;p6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28" name="Google Shape;728;p6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流れとしては・・・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29" name="Google Shape;729;p6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30" name="Google Shape;73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25" y="1572750"/>
            <a:ext cx="8839202" cy="273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37" name="Google Shape;737;p6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38" name="Google Shape;738;p61"/>
          <p:cNvSpPr txBox="1"/>
          <p:nvPr/>
        </p:nvSpPr>
        <p:spPr>
          <a:xfrm>
            <a:off x="417976" y="1227700"/>
            <a:ext cx="3325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自分で頑張ってみます！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39" name="Google Shape;739;p6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40" name="Google Shape;740;p6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1" name="Google Shape;74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500" y="1726300"/>
            <a:ext cx="7292499" cy="21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1"/>
          <p:cNvSpPr txBox="1"/>
          <p:nvPr/>
        </p:nvSpPr>
        <p:spPr>
          <a:xfrm>
            <a:off x="481150" y="3852450"/>
            <a:ext cx="2616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「なんだ自分で　　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できるじゃん」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3" name="Google Shape;743;p61"/>
          <p:cNvSpPr txBox="1"/>
          <p:nvPr/>
        </p:nvSpPr>
        <p:spPr>
          <a:xfrm>
            <a:off x="2943975" y="3852450"/>
            <a:ext cx="2885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「あれ、なんかうまく行かない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どうしたらいいんだっけ？」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4" name="Google Shape;744;p61"/>
          <p:cNvSpPr txBox="1"/>
          <p:nvPr/>
        </p:nvSpPr>
        <p:spPr>
          <a:xfrm>
            <a:off x="5959700" y="3852450"/>
            <a:ext cx="2885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「結局何も変わらなかったな。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できると思ったのに・・」</a:t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3098050" y="29633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5535775" y="29633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600" y="1012850"/>
            <a:ext cx="7987225" cy="3119868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54" name="Google Shape;754;p6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55" name="Google Shape;755;p62"/>
          <p:cNvSpPr txBox="1"/>
          <p:nvPr/>
        </p:nvSpPr>
        <p:spPr>
          <a:xfrm>
            <a:off x="409600" y="1143925"/>
            <a:ext cx="2537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お金がない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6" name="Google Shape;756;p6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57" name="Google Shape;757;p6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8" name="Google Shape;758;p62"/>
          <p:cNvSpPr txBox="1"/>
          <p:nvPr/>
        </p:nvSpPr>
        <p:spPr>
          <a:xfrm>
            <a:off x="409600" y="3987475"/>
            <a:ext cx="1798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「貯金とか含めて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冷静に考えてみよ」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9" name="Google Shape;759;p62"/>
          <p:cNvSpPr txBox="1"/>
          <p:nvPr/>
        </p:nvSpPr>
        <p:spPr>
          <a:xfrm>
            <a:off x="2715288" y="3987475"/>
            <a:ext cx="302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「講座とか受けるお金があったら、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旅行とかショッピングとか、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たくさんいけるじゃん」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60" name="Google Shape;760;p62"/>
          <p:cNvSpPr txBox="1"/>
          <p:nvPr/>
        </p:nvSpPr>
        <p:spPr>
          <a:xfrm>
            <a:off x="6246800" y="4023800"/>
            <a:ext cx="2612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「しまった使い込んじゃった。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このお金あったら講座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受けれたのに・・・」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61" name="Google Shape;761;p62"/>
          <p:cNvSpPr/>
          <p:nvPr/>
        </p:nvSpPr>
        <p:spPr>
          <a:xfrm>
            <a:off x="2536700" y="30508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2"/>
          <p:cNvSpPr/>
          <p:nvPr/>
        </p:nvSpPr>
        <p:spPr>
          <a:xfrm>
            <a:off x="5535675" y="30508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2"/>
          <p:cNvSpPr txBox="1"/>
          <p:nvPr/>
        </p:nvSpPr>
        <p:spPr>
          <a:xfrm>
            <a:off x="501750" y="1642525"/>
            <a:ext cx="283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学ぶ時間がない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Google Shape;76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25" y="735974"/>
            <a:ext cx="6867249" cy="37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71" name="Google Shape;771;p6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72" name="Google Shape;772;p63"/>
          <p:cNvSpPr txBox="1"/>
          <p:nvPr/>
        </p:nvSpPr>
        <p:spPr>
          <a:xfrm>
            <a:off x="417976" y="1227700"/>
            <a:ext cx="3325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主人に相談します！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3" name="Google Shape;773;p63"/>
          <p:cNvSpPr txBox="1"/>
          <p:nvPr/>
        </p:nvSpPr>
        <p:spPr>
          <a:xfrm>
            <a:off x="25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74" name="Google Shape;774;p63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p63"/>
          <p:cNvSpPr txBox="1"/>
          <p:nvPr/>
        </p:nvSpPr>
        <p:spPr>
          <a:xfrm>
            <a:off x="313625" y="3259450"/>
            <a:ext cx="2616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「自分じゃ判断できないし、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パパにも聞いてみよ！」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6" name="Google Shape;776;p63"/>
          <p:cNvSpPr txBox="1"/>
          <p:nvPr/>
        </p:nvSpPr>
        <p:spPr>
          <a:xfrm>
            <a:off x="2788100" y="3225925"/>
            <a:ext cx="315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あなた「面白そうだから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やってみたいんだけど」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ご主人「本当にそこじゃなきゃだめ？」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「今の家事とか十分にできてないじゃん」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「お金出して、本当に稼げるの？」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7" name="Google Shape;777;p63"/>
          <p:cNvSpPr txBox="1"/>
          <p:nvPr/>
        </p:nvSpPr>
        <p:spPr>
          <a:xfrm>
            <a:off x="5824050" y="2128525"/>
            <a:ext cx="332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あなた「結局やりたいことできないじゃん」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ご主人「もっと時間をかけて考えたらって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言ってるだけだよ」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8" name="Google Shape;778;p63"/>
          <p:cNvSpPr txBox="1"/>
          <p:nvPr/>
        </p:nvSpPr>
        <p:spPr>
          <a:xfrm>
            <a:off x="5938100" y="4417250"/>
            <a:ext cx="33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「なんでわかってくれないのかなぁ…」</a:t>
            </a:r>
            <a:endParaRPr b="0" i="0" sz="1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9" name="Google Shape;779;p63"/>
          <p:cNvSpPr/>
          <p:nvPr/>
        </p:nvSpPr>
        <p:spPr>
          <a:xfrm>
            <a:off x="5418450" y="3516200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3"/>
          <p:cNvSpPr/>
          <p:nvPr/>
        </p:nvSpPr>
        <p:spPr>
          <a:xfrm>
            <a:off x="5209025" y="1913650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3"/>
          <p:cNvSpPr/>
          <p:nvPr/>
        </p:nvSpPr>
        <p:spPr>
          <a:xfrm>
            <a:off x="2570225" y="2648725"/>
            <a:ext cx="3603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88" name="Google Shape;788;p6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89" name="Google Shape;789;p64"/>
          <p:cNvSpPr txBox="1"/>
          <p:nvPr/>
        </p:nvSpPr>
        <p:spPr>
          <a:xfrm>
            <a:off x="25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ありがちな状況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90" name="Google Shape;790;p64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64"/>
          <p:cNvSpPr txBox="1"/>
          <p:nvPr/>
        </p:nvSpPr>
        <p:spPr>
          <a:xfrm>
            <a:off x="697050" y="901650"/>
            <a:ext cx="7418100" cy="3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ご主人やお子さんに相談される方も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いらっしゃいます。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ですが、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大事なのは</a:t>
            </a:r>
            <a:r>
              <a:rPr b="1" i="0" lang="ja" sz="2600" u="none" cap="none" strike="noStrike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「あなたがどうしたいか」</a:t>
            </a: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です。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本気の方はぜひ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説明会でご相談ください！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98" name="Google Shape;798;p65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99" name="Google Shape;799;p65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業界情報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00" name="Google Shape;800;p65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01" name="Google Shape;80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750" y="714926"/>
            <a:ext cx="7285023" cy="40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5"/>
          <p:cNvSpPr/>
          <p:nvPr/>
        </p:nvSpPr>
        <p:spPr>
          <a:xfrm>
            <a:off x="626825" y="827175"/>
            <a:ext cx="1541400" cy="1105800"/>
          </a:xfrm>
          <a:prstGeom prst="roundRect">
            <a:avLst>
              <a:gd fmla="val 16667" name="adj"/>
            </a:avLst>
          </a:prstGeom>
          <a:solidFill>
            <a:srgbClr val="EF84C9">
              <a:alpha val="7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集客塾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30万〜300万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03" name="Google Shape;803;p65"/>
          <p:cNvSpPr/>
          <p:nvPr/>
        </p:nvSpPr>
        <p:spPr>
          <a:xfrm>
            <a:off x="3592300" y="2762275"/>
            <a:ext cx="1809300" cy="1633500"/>
          </a:xfrm>
          <a:prstGeom prst="roundRect">
            <a:avLst>
              <a:gd fmla="val 16667" name="adj"/>
            </a:avLst>
          </a:prstGeom>
          <a:solidFill>
            <a:srgbClr val="EF84C9">
              <a:alpha val="7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起業塾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60万〜200万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10" name="Google Shape;810;p6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11" name="Google Shape;811;p66"/>
          <p:cNvSpPr txBox="1"/>
          <p:nvPr/>
        </p:nvSpPr>
        <p:spPr>
          <a:xfrm>
            <a:off x="0" y="1723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どんな状況を変えたいですか？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12" name="Google Shape;812;p66"/>
          <p:cNvCxnSpPr/>
          <p:nvPr/>
        </p:nvCxnSpPr>
        <p:spPr>
          <a:xfrm>
            <a:off x="828425" y="806263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66"/>
          <p:cNvSpPr txBox="1"/>
          <p:nvPr/>
        </p:nvSpPr>
        <p:spPr>
          <a:xfrm>
            <a:off x="1242625" y="964388"/>
            <a:ext cx="66588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・今の仕事は体力的にきつい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・上司や会社の言うことを聞いて給料が安いのが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どうにも納得できない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・少しで良いから心が休まる時間が欲しい。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でも物価上がって、将来の備えのために休めない。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・今まで学んだことや経験したことを何かの形で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世の中に役立てたい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20" name="Google Shape;820;p6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21" name="Google Shape;821;p67"/>
          <p:cNvSpPr txBox="1"/>
          <p:nvPr/>
        </p:nvSpPr>
        <p:spPr>
          <a:xfrm>
            <a:off x="0" y="1723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悲しい現実にも目を向けると・・・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22" name="Google Shape;822;p67"/>
          <p:cNvCxnSpPr/>
          <p:nvPr/>
        </p:nvCxnSpPr>
        <p:spPr>
          <a:xfrm>
            <a:off x="828425" y="806263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23" name="Google Shape;82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150" y="1138038"/>
            <a:ext cx="6937901" cy="33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7"/>
          <p:cNvSpPr txBox="1"/>
          <p:nvPr/>
        </p:nvSpPr>
        <p:spPr>
          <a:xfrm>
            <a:off x="2847600" y="1054800"/>
            <a:ext cx="35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物価上昇率と給与上昇率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31" name="Google Shape;831;p6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32" name="Google Shape;832;p6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比較してみましょう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33" name="Google Shape;833;p6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4" name="Google Shape;834;p68"/>
          <p:cNvSpPr txBox="1"/>
          <p:nvPr/>
        </p:nvSpPr>
        <p:spPr>
          <a:xfrm>
            <a:off x="543900" y="2117250"/>
            <a:ext cx="39447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・時給の制限がない</a:t>
            </a:r>
            <a:endParaRPr b="0" i="0" sz="2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・拘束時間がない</a:t>
            </a:r>
            <a:endParaRPr b="0" i="0" sz="2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・収入が安定しない</a:t>
            </a:r>
            <a:endParaRPr b="0" i="0" sz="2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・移動時間がない</a:t>
            </a:r>
            <a:endParaRPr b="0" i="0" sz="2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・自分の好き基準で行動できる</a:t>
            </a:r>
            <a:endParaRPr b="0" i="0" sz="2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35" name="Google Shape;835;p68"/>
          <p:cNvSpPr txBox="1"/>
          <p:nvPr/>
        </p:nvSpPr>
        <p:spPr>
          <a:xfrm>
            <a:off x="4824575" y="2117250"/>
            <a:ext cx="41040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・時給は決められている</a:t>
            </a:r>
            <a:endParaRPr b="0" i="0" sz="2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・拘束時間がある</a:t>
            </a:r>
            <a:endParaRPr b="0" i="0" sz="2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・収入が安定している</a:t>
            </a:r>
            <a:endParaRPr b="0" i="0" sz="2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・大抵移動時間（通勤）がある</a:t>
            </a:r>
            <a:endParaRPr b="0" i="0" sz="2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・自分の意見はまず通らない</a:t>
            </a:r>
            <a:endParaRPr b="0" i="0" sz="2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36" name="Google Shape;836;p68"/>
          <p:cNvSpPr txBox="1"/>
          <p:nvPr/>
        </p:nvSpPr>
        <p:spPr>
          <a:xfrm>
            <a:off x="543900" y="1415000"/>
            <a:ext cx="250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個人ビジネス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37" name="Google Shape;837;p68"/>
          <p:cNvSpPr txBox="1"/>
          <p:nvPr/>
        </p:nvSpPr>
        <p:spPr>
          <a:xfrm>
            <a:off x="4774325" y="1415000"/>
            <a:ext cx="250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雇われビジネス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44" name="Google Shape;844;p69"/>
          <p:cNvSpPr txBox="1"/>
          <p:nvPr>
            <p:ph idx="11" type="ftr"/>
          </p:nvPr>
        </p:nvSpPr>
        <p:spPr>
          <a:xfrm>
            <a:off x="3673925" y="4817225"/>
            <a:ext cx="230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45" name="Google Shape;845;p69"/>
          <p:cNvSpPr txBox="1"/>
          <p:nvPr/>
        </p:nvSpPr>
        <p:spPr>
          <a:xfrm>
            <a:off x="0" y="-11287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個人でビジネスを始めるには・・・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46" name="Google Shape;846;p69"/>
          <p:cNvCxnSpPr/>
          <p:nvPr/>
        </p:nvCxnSpPr>
        <p:spPr>
          <a:xfrm>
            <a:off x="828425" y="5464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7" name="Google Shape;847;p69"/>
          <p:cNvSpPr txBox="1"/>
          <p:nvPr/>
        </p:nvSpPr>
        <p:spPr>
          <a:xfrm>
            <a:off x="4860325" y="2002175"/>
            <a:ext cx="133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販売する</a:t>
            </a:r>
            <a:endParaRPr b="0" i="0" sz="1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48" name="Google Shape;848;p69"/>
          <p:cNvSpPr txBox="1"/>
          <p:nvPr/>
        </p:nvSpPr>
        <p:spPr>
          <a:xfrm>
            <a:off x="273800" y="2076775"/>
            <a:ext cx="250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コンテンツを作る</a:t>
            </a:r>
            <a:endParaRPr b="0" i="0" sz="1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49" name="Google Shape;849;p69"/>
          <p:cNvSpPr txBox="1"/>
          <p:nvPr/>
        </p:nvSpPr>
        <p:spPr>
          <a:xfrm>
            <a:off x="6444150" y="2002175"/>
            <a:ext cx="250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サービス提供方法を作る</a:t>
            </a:r>
            <a:endParaRPr b="0" i="0" sz="1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サービスを提供する</a:t>
            </a:r>
            <a:endParaRPr b="0" i="0" sz="1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0" name="Google Shape;850;p69"/>
          <p:cNvSpPr txBox="1"/>
          <p:nvPr/>
        </p:nvSpPr>
        <p:spPr>
          <a:xfrm>
            <a:off x="2489600" y="2035700"/>
            <a:ext cx="2122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集客方法を学ぶ</a:t>
            </a:r>
            <a:endParaRPr b="0" i="0" sz="1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" sz="1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集客を実践する</a:t>
            </a:r>
            <a:endParaRPr b="0" i="0" sz="1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1" name="Google Shape;851;p69"/>
          <p:cNvSpPr/>
          <p:nvPr/>
        </p:nvSpPr>
        <p:spPr>
          <a:xfrm>
            <a:off x="425763" y="852300"/>
            <a:ext cx="1541400" cy="11058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何を売るか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2" name="Google Shape;852;p69"/>
          <p:cNvSpPr/>
          <p:nvPr/>
        </p:nvSpPr>
        <p:spPr>
          <a:xfrm>
            <a:off x="2545138" y="852300"/>
            <a:ext cx="1541400" cy="11058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どう集めるか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3" name="Google Shape;853;p69"/>
          <p:cNvSpPr/>
          <p:nvPr/>
        </p:nvSpPr>
        <p:spPr>
          <a:xfrm>
            <a:off x="4664513" y="852300"/>
            <a:ext cx="1541400" cy="11058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どう売るか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4" name="Google Shape;854;p69"/>
          <p:cNvSpPr/>
          <p:nvPr/>
        </p:nvSpPr>
        <p:spPr>
          <a:xfrm>
            <a:off x="6691888" y="852300"/>
            <a:ext cx="1725600" cy="11058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どう提供するか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5" name="Google Shape;855;p69"/>
          <p:cNvSpPr txBox="1"/>
          <p:nvPr/>
        </p:nvSpPr>
        <p:spPr>
          <a:xfrm>
            <a:off x="374325" y="2776038"/>
            <a:ext cx="1476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・独自性は？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・実績は？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・権威性は？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・評判は？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6" name="Google Shape;856;p69"/>
          <p:cNvSpPr txBox="1"/>
          <p:nvPr/>
        </p:nvSpPr>
        <p:spPr>
          <a:xfrm>
            <a:off x="2357108" y="2776038"/>
            <a:ext cx="2184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・簡単にできる？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・費用対効果は？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・毎日やるの？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・原因と対策どうやる？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7" name="Google Shape;857;p69"/>
          <p:cNvSpPr txBox="1"/>
          <p:nvPr/>
        </p:nvSpPr>
        <p:spPr>
          <a:xfrm>
            <a:off x="4586382" y="2781763"/>
            <a:ext cx="20019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・どう販売する？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・何で集金する？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・何を伝える？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・何を話せば良い？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>
            <a:off x="6633250" y="2776038"/>
            <a:ext cx="2398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・講座にする？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　マンツーマンにする？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・資料どうする？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" sz="14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・オンライン？リアル？</a:t>
            </a:r>
            <a:endParaRPr b="0" i="0" sz="14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9" name="Google Shape;859;p69"/>
          <p:cNvSpPr/>
          <p:nvPr/>
        </p:nvSpPr>
        <p:spPr>
          <a:xfrm>
            <a:off x="2545150" y="4271550"/>
            <a:ext cx="1541400" cy="431100"/>
          </a:xfrm>
          <a:prstGeom prst="roundRect">
            <a:avLst>
              <a:gd fmla="val 16667" name="adj"/>
            </a:avLst>
          </a:prstGeom>
          <a:solidFill>
            <a:srgbClr val="EF84C9">
              <a:alpha val="7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集客塾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30万〜300万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60" name="Google Shape;860;p69"/>
          <p:cNvSpPr/>
          <p:nvPr/>
        </p:nvSpPr>
        <p:spPr>
          <a:xfrm>
            <a:off x="425775" y="4271550"/>
            <a:ext cx="1541400" cy="431100"/>
          </a:xfrm>
          <a:prstGeom prst="roundRect">
            <a:avLst>
              <a:gd fmla="val 16667" name="adj"/>
            </a:avLst>
          </a:prstGeom>
          <a:solidFill>
            <a:srgbClr val="EF84C9">
              <a:alpha val="7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起業塾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60万〜200万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61" name="Google Shape;861;p69"/>
          <p:cNvSpPr/>
          <p:nvPr/>
        </p:nvSpPr>
        <p:spPr>
          <a:xfrm>
            <a:off x="4664525" y="4273875"/>
            <a:ext cx="1541400" cy="431100"/>
          </a:xfrm>
          <a:prstGeom prst="roundRect">
            <a:avLst>
              <a:gd fmla="val 16667" name="adj"/>
            </a:avLst>
          </a:prstGeom>
          <a:solidFill>
            <a:srgbClr val="EF84C9">
              <a:alpha val="7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セールス塾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20万〜100万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62" name="Google Shape;862;p69"/>
          <p:cNvSpPr/>
          <p:nvPr/>
        </p:nvSpPr>
        <p:spPr>
          <a:xfrm>
            <a:off x="6783900" y="4273875"/>
            <a:ext cx="1541400" cy="431100"/>
          </a:xfrm>
          <a:prstGeom prst="roundRect">
            <a:avLst>
              <a:gd fmla="val 16667" name="adj"/>
            </a:avLst>
          </a:prstGeom>
          <a:solidFill>
            <a:srgbClr val="EF84C9">
              <a:alpha val="7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講座資料作成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chemeClr val="lt1"/>
                </a:solidFill>
                <a:highlight>
                  <a:srgbClr val="888888"/>
                </a:highlight>
                <a:latin typeface="Kosugi Maru"/>
                <a:ea typeface="Kosugi Maru"/>
                <a:cs typeface="Kosugi Maru"/>
                <a:sym typeface="Kosugi Maru"/>
              </a:rPr>
              <a:t>50〜100万</a:t>
            </a:r>
            <a:endParaRPr b="1" i="0" sz="1400" u="none" cap="none" strike="noStrike">
              <a:solidFill>
                <a:schemeClr val="lt1"/>
              </a:solidFill>
              <a:highlight>
                <a:srgbClr val="888888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69" name="Google Shape;869;p7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25" y="-12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シンプルに例えると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71" name="Google Shape;871;p70"/>
          <p:cNvCxnSpPr/>
          <p:nvPr/>
        </p:nvCxnSpPr>
        <p:spPr>
          <a:xfrm>
            <a:off x="828450" y="6339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2" name="Google Shape;872;p70"/>
          <p:cNvSpPr txBox="1"/>
          <p:nvPr/>
        </p:nvSpPr>
        <p:spPr>
          <a:xfrm>
            <a:off x="1150475" y="1101650"/>
            <a:ext cx="616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" sz="2400" u="sng" cap="none" strike="noStrike">
                <a:solidFill>
                  <a:srgbClr val="FF9900"/>
                </a:solidFill>
                <a:latin typeface="Kosugi Maru"/>
                <a:ea typeface="Kosugi Maru"/>
                <a:cs typeface="Kosugi Maru"/>
                <a:sym typeface="Kosugi Maru"/>
              </a:rPr>
              <a:t>ハワイにいきたい！</a:t>
            </a:r>
            <a:endParaRPr b="1" i="0" sz="4900" u="sng" cap="none" strike="noStrike">
              <a:solidFill>
                <a:srgbClr val="FF99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873" name="Google Shape;87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1726" y="757360"/>
            <a:ext cx="1385650" cy="1196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4650" y="2240613"/>
            <a:ext cx="2347297" cy="1492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0"/>
          <p:cNvSpPr txBox="1"/>
          <p:nvPr/>
        </p:nvSpPr>
        <p:spPr>
          <a:xfrm>
            <a:off x="669300" y="3797025"/>
            <a:ext cx="26931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お金をかけずに自力で</a:t>
            </a:r>
            <a:endParaRPr b="0" i="0" sz="17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何年かかけて</a:t>
            </a:r>
            <a:endParaRPr b="0" i="0" sz="17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手探りで行く</a:t>
            </a:r>
            <a:endParaRPr b="0" i="0" sz="17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876" name="Google Shape;876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926" y="2123512"/>
            <a:ext cx="2693100" cy="15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0"/>
          <p:cNvSpPr txBox="1"/>
          <p:nvPr/>
        </p:nvSpPr>
        <p:spPr>
          <a:xfrm>
            <a:off x="6261050" y="3733188"/>
            <a:ext cx="2693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電車や飛行機で</a:t>
            </a:r>
            <a:endParaRPr b="0" i="0" sz="17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F20DA2"/>
                </a:solidFill>
                <a:latin typeface="Kosugi Maru"/>
                <a:ea typeface="Kosugi Maru"/>
                <a:cs typeface="Kosugi Maru"/>
                <a:sym typeface="Kosugi Maru"/>
              </a:rPr>
              <a:t>最速＆確実に行く</a:t>
            </a:r>
            <a:endParaRPr b="0" i="0" sz="1700" u="none" cap="none" strike="noStrike">
              <a:solidFill>
                <a:srgbClr val="F20DA2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78" name="Google Shape;878;p70"/>
          <p:cNvSpPr txBox="1"/>
          <p:nvPr/>
        </p:nvSpPr>
        <p:spPr>
          <a:xfrm>
            <a:off x="3225450" y="3012213"/>
            <a:ext cx="2693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666666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あなたは</a:t>
            </a:r>
            <a:endParaRPr b="0" i="0" sz="1700" u="none" cap="none" strike="noStrike">
              <a:solidFill>
                <a:srgbClr val="666666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" sz="1700" u="none" cap="none" strike="noStrike">
                <a:solidFill>
                  <a:srgbClr val="666666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どっち？</a:t>
            </a:r>
            <a:endParaRPr b="0" i="0" sz="1700" u="none" cap="none" strike="noStrike">
              <a:solidFill>
                <a:srgbClr val="666666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85" name="Google Shape;885;p7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86" name="Google Shape;886;p7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最良を求める人の最大の敵は？？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87" name="Google Shape;887;p7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8" name="Google Shape;888;p71"/>
          <p:cNvSpPr txBox="1"/>
          <p:nvPr/>
        </p:nvSpPr>
        <p:spPr>
          <a:xfrm>
            <a:off x="1230800" y="1623000"/>
            <a:ext cx="665880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変わりたい、成し遂げたい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その想いや行動の最大の敵は・・・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「良」の選択肢＆状態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95" name="Google Shape;895;p7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96" name="Google Shape;896;p7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改めて考えて欲しいこと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97" name="Google Shape;897;p7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8" name="Google Shape;898;p72"/>
          <p:cNvSpPr txBox="1"/>
          <p:nvPr/>
        </p:nvSpPr>
        <p:spPr>
          <a:xfrm>
            <a:off x="1008175" y="1647063"/>
            <a:ext cx="71277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"本当にやりたいこと"は</a:t>
            </a:r>
            <a:endParaRPr b="0" i="0" sz="3600" u="none" cap="none" strike="noStrike">
              <a:solidFill>
                <a:srgbClr val="EF84C9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何ですか？</a:t>
            </a:r>
            <a:endParaRPr b="0" i="0" sz="2300" u="none" cap="none" strike="noStrike">
              <a:solidFill>
                <a:srgbClr val="434343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99" name="Google Shape;899;p72"/>
          <p:cNvSpPr txBox="1"/>
          <p:nvPr/>
        </p:nvSpPr>
        <p:spPr>
          <a:xfrm>
            <a:off x="2658225" y="3319100"/>
            <a:ext cx="42264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・やりがい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・自分の人生を楽しむ時間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06" name="Google Shape;906;p7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07" name="Google Shape;907;p73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運営として願うこと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08" name="Google Shape;908;p7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9" name="Google Shape;909;p73"/>
          <p:cNvSpPr txBox="1"/>
          <p:nvPr/>
        </p:nvSpPr>
        <p:spPr>
          <a:xfrm>
            <a:off x="1008175" y="1446013"/>
            <a:ext cx="7127700" cy="2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子育て経験や</a:t>
            </a:r>
            <a:endParaRPr b="0" i="0" sz="3600" u="none" cap="none" strike="noStrike">
              <a:solidFill>
                <a:srgbClr val="EF84C9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お子様に関わるお仕事経験が</a:t>
            </a:r>
            <a:endParaRPr b="0" i="0" sz="3600" u="none" cap="none" strike="noStrike">
              <a:solidFill>
                <a:srgbClr val="EF84C9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しっかりと報われる未来を</a:t>
            </a:r>
            <a:endParaRPr b="0" i="0" sz="3600" u="none" cap="none" strike="noStrike">
              <a:solidFill>
                <a:srgbClr val="EF84C9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highlight>
                  <a:srgbClr val="FFFF00"/>
                </a:highlight>
                <a:latin typeface="Kosugi Maru"/>
                <a:ea typeface="Kosugi Maru"/>
                <a:cs typeface="Kosugi Maru"/>
                <a:sym typeface="Kosugi Maru"/>
              </a:rPr>
              <a:t>手に入れてください</a:t>
            </a:r>
            <a:endParaRPr b="0" i="0" sz="3600" u="none" cap="none" strike="noStrike">
              <a:solidFill>
                <a:srgbClr val="EF84C9"/>
              </a:solidFill>
              <a:highlight>
                <a:srgbClr val="FFFF00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16" name="Google Shape;916;p7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17" name="Google Shape;917;p74"/>
          <p:cNvSpPr txBox="1"/>
          <p:nvPr/>
        </p:nvSpPr>
        <p:spPr>
          <a:xfrm>
            <a:off x="25" y="109338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課題５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18" name="Google Shape;918;p74"/>
          <p:cNvCxnSpPr/>
          <p:nvPr/>
        </p:nvCxnSpPr>
        <p:spPr>
          <a:xfrm>
            <a:off x="828450" y="7432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9" name="Google Shape;919;p74"/>
          <p:cNvSpPr txBox="1"/>
          <p:nvPr/>
        </p:nvSpPr>
        <p:spPr>
          <a:xfrm>
            <a:off x="956250" y="849800"/>
            <a:ext cx="7359300" cy="4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</a:t>
            </a: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５日間のライブで一番印象に残ったことを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　教えてください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2400" u="none" cap="none" strike="noStrike">
                <a:solidFill>
                  <a:schemeClr val="dk1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最初に設定した目的は達成できましたか？</a:t>
            </a:r>
            <a:endParaRPr b="0" i="0" sz="2400" u="none" cap="none" strike="noStrike">
              <a:solidFill>
                <a:schemeClr val="dk1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番号でお答えください（複数選択OK）</a:t>
            </a:r>
            <a:endParaRPr b="0" i="0" sz="2400" u="none" cap="none" strike="noStrike">
              <a:solidFill>
                <a:schemeClr val="dk1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目的１　育脳について正しい知識を身につける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目的２　世の中のママ達をサポートすることで成り立つ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カウンセラーのお仕事の可能性を学ぶ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目的３	子育てママやお教室のお仕事からどのように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ステップを進めたら”育脳子育てカウンセラー”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になれるかを学ぶ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26" name="Google Shape;926;p7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27" name="Google Shape;927;p75"/>
          <p:cNvSpPr txBox="1"/>
          <p:nvPr/>
        </p:nvSpPr>
        <p:spPr>
          <a:xfrm>
            <a:off x="25" y="109338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課題５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28" name="Google Shape;928;p75"/>
          <p:cNvCxnSpPr/>
          <p:nvPr/>
        </p:nvCxnSpPr>
        <p:spPr>
          <a:xfrm>
            <a:off x="828450" y="7432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75"/>
          <p:cNvSpPr txBox="1"/>
          <p:nvPr/>
        </p:nvSpPr>
        <p:spPr>
          <a:xfrm>
            <a:off x="956250" y="849800"/>
            <a:ext cx="73593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③チャレンジを通して、何を感じましたか？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番号でお答えください（複数選択OK）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　「確かにそういうサポートは世の中に必要だよね」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２　「育脳ってお子様だけでなく、ママにとっても大事なのね」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３　「これならお仕事として成立するよね」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４　「自分にもできるかも！」「やってみたい」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　あなたの人生に"育脳子育てカウンセラー"が加わることで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想像していた未来とは全く違う人生があるかもしれない！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36" name="Google Shape;936;p7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37" name="Google Shape;937;p76"/>
          <p:cNvSpPr txBox="1"/>
          <p:nvPr/>
        </p:nvSpPr>
        <p:spPr>
          <a:xfrm>
            <a:off x="25" y="109338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課題５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38" name="Google Shape;938;p76"/>
          <p:cNvCxnSpPr/>
          <p:nvPr/>
        </p:nvCxnSpPr>
        <p:spPr>
          <a:xfrm>
            <a:off x="828450" y="7432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p76"/>
          <p:cNvSpPr txBox="1"/>
          <p:nvPr/>
        </p:nvSpPr>
        <p:spPr>
          <a:xfrm>
            <a:off x="956250" y="849800"/>
            <a:ext cx="7359300" cy="3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※課題の提出はフォームにお願いします！</a:t>
            </a:r>
            <a:endParaRPr b="0" i="0" sz="2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※提出期限：</a:t>
            </a:r>
            <a:r>
              <a:rPr lang="ja" sz="2900">
                <a:solidFill>
                  <a:srgbClr val="434343"/>
                </a:solidFill>
              </a:rPr>
              <a:t>3</a:t>
            </a:r>
            <a:r>
              <a:rPr b="0" i="0" lang="ja" sz="2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ja" sz="2900">
                <a:solidFill>
                  <a:srgbClr val="434343"/>
                </a:solidFill>
              </a:rPr>
              <a:t>22</a:t>
            </a:r>
            <a:r>
              <a:rPr b="0" i="0" lang="ja" sz="2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日（日）23:59まで</a:t>
            </a:r>
            <a:endParaRPr b="0" i="0" sz="2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課題０～５まで、すべてを提出された方に</a:t>
            </a:r>
            <a:endParaRPr b="0" i="0" sz="2900" u="none" cap="none" strike="noStrike">
              <a:solidFill>
                <a:srgbClr val="43434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完走特典をお渡しします！！</a:t>
            </a:r>
            <a:endParaRPr b="0" i="0" sz="2900" u="none" cap="none" strike="noStrike">
              <a:solidFill>
                <a:srgbClr val="43434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46" name="Google Shape;946;p7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47" name="Google Shape;947;p7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完走特典のお知らせ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948" name="Google Shape;948;p7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p77"/>
          <p:cNvSpPr txBox="1"/>
          <p:nvPr/>
        </p:nvSpPr>
        <p:spPr>
          <a:xfrm>
            <a:off x="1387650" y="1473263"/>
            <a:ext cx="63687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ja" sz="23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対象：課題０〜課題５まで</a:t>
            </a:r>
            <a:endParaRPr b="0" i="0" sz="23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3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　　全て提出いただいて完走された方</a:t>
            </a:r>
            <a:endParaRPr b="0" i="0" sz="23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50" name="Google Shape;950;p77"/>
          <p:cNvSpPr txBox="1"/>
          <p:nvPr/>
        </p:nvSpPr>
        <p:spPr>
          <a:xfrm>
            <a:off x="1008150" y="2943513"/>
            <a:ext cx="71277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3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特典：</a:t>
            </a:r>
            <a:r>
              <a:rPr b="0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育児スタイル発見診断</a:t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951" name="Google Shape;951;p77"/>
          <p:cNvSpPr txBox="1"/>
          <p:nvPr/>
        </p:nvSpPr>
        <p:spPr>
          <a:xfrm>
            <a:off x="1802400" y="4376675"/>
            <a:ext cx="6091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" sz="1500">
                <a:solidFill>
                  <a:srgbClr val="434343"/>
                </a:solidFill>
              </a:rPr>
              <a:t>３</a:t>
            </a:r>
            <a:r>
              <a:rPr b="0" i="0" lang="ja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ja" sz="1500">
                <a:solidFill>
                  <a:srgbClr val="434343"/>
                </a:solidFill>
              </a:rPr>
              <a:t>22</a:t>
            </a:r>
            <a:r>
              <a:rPr b="0" i="0" lang="ja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日（日）23:59までに提出を完了された方に限ります。</a:t>
            </a:r>
            <a:endParaRPr b="0" i="0" sz="15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58" name="Google Shape;958;p7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59" name="Google Shape;959;p78"/>
          <p:cNvSpPr txBox="1"/>
          <p:nvPr/>
        </p:nvSpPr>
        <p:spPr>
          <a:xfrm>
            <a:off x="1387650" y="2062300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質問タイム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