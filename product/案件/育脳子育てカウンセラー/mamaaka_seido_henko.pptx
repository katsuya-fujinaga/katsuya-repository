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36576" cy="3200400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C8880"/>
                </a:solidFill>
              </a:rPr>
              <a:t>日本ママアカデミー協会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514600"/>
            <a:ext cx="576072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D2020"/>
                </a:solidFill>
              </a:rPr>
              <a:t>制度変更についてのご説明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749039"/>
            <a:ext cx="576072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9C8880"/>
                </a:solidFill>
              </a:rPr>
              <a:t>これからの活動を、もっと安心して広げていくために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はじめに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020"/>
                </a:solidFill>
              </a:rPr>
              <a:t>本日お話しする内容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96312"/>
            <a:ext cx="347472" cy="347472"/>
          </a:xfrm>
          <a:prstGeom prst="rect">
            <a:avLst/>
          </a:prstGeom>
          <a:noFill/>
          <a:ln w="19050">
            <a:solidFill>
              <a:srgbClr val="B88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05456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847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5054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制度変更の背景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90672"/>
            <a:ext cx="347472" cy="347472"/>
          </a:xfrm>
          <a:prstGeom prst="rect">
            <a:avLst/>
          </a:prstGeom>
          <a:noFill/>
          <a:ln w="19050">
            <a:solidFill>
              <a:srgbClr val="B88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99816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847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9981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今後の方針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685032"/>
            <a:ext cx="347472" cy="347472"/>
          </a:xfrm>
          <a:prstGeom prst="rect">
            <a:avLst/>
          </a:prstGeom>
          <a:noFill/>
          <a:ln w="19050">
            <a:solidFill>
              <a:srgbClr val="B88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847A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69417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会員制度について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solidFill>
            <a:srgbClr val="FAF2EE"/>
          </a:solidFill>
          <a:ln w="19050">
            <a:solidFill>
              <a:srgbClr val="E5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26694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020"/>
                </a:solidFill>
              </a:rPr>
              <a:t>詳細は後日ご案内します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020"/>
                </a:solidFill>
              </a:rPr>
              <a:t>なぜ制度変更するのか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8880"/>
                </a:solidFill>
              </a:rPr>
              <a:t>これまで活動が広がる中で、以下の課題が出てきました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3639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活動レベルのばらつき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表現のばらつき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4223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7764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ブランドの伝わり方の違い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目的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020"/>
                </a:solidFill>
              </a:rPr>
              <a:t>制度変更の目的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8880"/>
                </a:solidFill>
              </a:rPr>
              <a:t>今回の目的はシンプルです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3639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品質を一定にすること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ブランド価値を守ること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4223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7764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活動しやすい環境を作ること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変わらないもの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020"/>
                </a:solidFill>
              </a:rPr>
              <a:t>大切にしていることは変わりません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8880"/>
                </a:solidFill>
              </a:rPr>
              <a:t>制度は変わりますが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26080"/>
            <a:ext cx="4846320" cy="1463040"/>
          </a:xfrm>
          <a:prstGeom prst="rect">
            <a:avLst/>
          </a:prstGeom>
          <a:solidFill>
            <a:srgbClr val="FAF2EE"/>
          </a:solidFill>
          <a:ln w="19050">
            <a:solidFill>
              <a:srgbClr val="E5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926080"/>
            <a:ext cx="4846320" cy="54864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2020"/>
                </a:solidFill>
              </a:rPr>
              <a:t>子どもの未来を育てる想い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926080"/>
            <a:ext cx="4846320" cy="1463040"/>
          </a:xfrm>
          <a:prstGeom prst="rect">
            <a:avLst/>
          </a:prstGeom>
          <a:solidFill>
            <a:srgbClr val="FAF2EE"/>
          </a:solidFill>
          <a:ln w="19050">
            <a:solidFill>
              <a:srgbClr val="E5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926080"/>
            <a:ext cx="4846320" cy="54864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3375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2020"/>
                </a:solidFill>
              </a:rPr>
              <a:t>ママに寄り添う姿勢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今後の方針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020"/>
                </a:solidFill>
              </a:rPr>
              <a:t>これからの考え方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60320"/>
            <a:ext cx="4114800" cy="1554480"/>
          </a:xfrm>
          <a:prstGeom prst="rect">
            <a:avLst/>
          </a:prstGeom>
          <a:solidFill>
            <a:srgbClr val="FAF2EE"/>
          </a:solidFill>
          <a:ln w="19050">
            <a:solidFill>
              <a:srgbClr val="E5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C8880"/>
                </a:solidFill>
              </a:rPr>
              <a:t>これまで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2020"/>
                </a:solidFill>
              </a:rPr>
              <a:t>誰でも活動できる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9260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C9A96E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560320"/>
            <a:ext cx="5029200" cy="1554480"/>
          </a:xfrm>
          <a:prstGeom prst="rect">
            <a:avLst/>
          </a:prstGeom>
          <a:solidFill>
            <a:srgbClr val="F9EDE9"/>
          </a:solidFill>
          <a:ln w="25400">
            <a:solidFill>
              <a:srgbClr val="B88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560320"/>
            <a:ext cx="5029200" cy="54864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715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8847A"/>
                </a:solidFill>
              </a:rPr>
              <a:t>これから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63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2020"/>
                </a:solidFill>
              </a:rPr>
              <a:t>基準を満たした人が活動できる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会員制度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020"/>
                </a:solidFill>
              </a:rPr>
              <a:t>今後の会員区分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10515600" cy="685800"/>
          </a:xfrm>
          <a:prstGeom prst="rect">
            <a:avLst/>
          </a:prstGeom>
          <a:solidFill>
            <a:srgbClr val="FAF2EE"/>
          </a:solidFill>
          <a:ln w="12700">
            <a:solidFill>
              <a:srgbClr val="E5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786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8847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68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受講生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889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8880"/>
                </a:solidFill>
              </a:rPr>
              <a:t>講座を受講中の方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10515600" cy="685800"/>
          </a:xfrm>
          <a:prstGeom prst="rect">
            <a:avLst/>
          </a:prstGeom>
          <a:solidFill>
            <a:srgbClr val="FAF2EE"/>
          </a:solidFill>
          <a:ln w="12700">
            <a:solidFill>
              <a:srgbClr val="E5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015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8847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91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卒業生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6118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8880"/>
                </a:solidFill>
              </a:rPr>
              <a:t>講座を修了した方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069080"/>
            <a:ext cx="10515600" cy="685800"/>
          </a:xfrm>
          <a:prstGeom prst="rect">
            <a:avLst/>
          </a:prstGeom>
          <a:solidFill>
            <a:srgbClr val="F9EDE9"/>
          </a:solidFill>
          <a:ln w="25400">
            <a:solidFill>
              <a:srgbClr val="B88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069080"/>
            <a:ext cx="54864" cy="685800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2245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E6A62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114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D2020"/>
                </a:solidFill>
              </a:rPr>
              <a:t>会員（認定会員）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434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8880"/>
                </a:solidFill>
              </a:rPr>
              <a:t>基準を満たし登録した方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活動資格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020"/>
                </a:solidFill>
              </a:rPr>
              <a:t>活動できる人の定義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solidFill>
            <a:srgbClr val="F9EDE9"/>
          </a:solidFill>
          <a:ln w="19050">
            <a:solidFill>
              <a:srgbClr val="B88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9572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E6A62"/>
                </a:solidFill>
              </a:rPr>
              <a:t>活動できるのは会員のみ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157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020"/>
                </a:solidFill>
              </a:rPr>
              <a:t>今後、以下の活動は会員登録が必要となります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4787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8328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資格名称の使用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5079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8620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講座・教室開催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5371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8912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カウンセリング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名乗り・資格表記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020"/>
                </a:solidFill>
              </a:rPr>
              <a:t>活動時の表記ルール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957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2020"/>
                </a:solidFill>
              </a:rPr>
              <a:t>会員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43200"/>
            <a:ext cx="10515600" cy="22860"/>
          </a:xfrm>
          <a:prstGeom prst="rect">
            <a:avLst/>
          </a:prstGeom>
          <a:solidFill>
            <a:srgbClr val="E5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34640"/>
            <a:ext cx="3291840" cy="365760"/>
          </a:xfrm>
          <a:prstGeom prst="rect">
            <a:avLst/>
          </a:prstGeom>
          <a:solidFill>
            <a:srgbClr val="FAF2EE"/>
          </a:solidFill>
          <a:ln w="12700">
            <a:solidFill>
              <a:srgbClr val="E5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8880"/>
                </a:solidFill>
              </a:rPr>
              <a:t>通常表記（SNSなど）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8803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020"/>
                </a:solidFill>
              </a:rPr>
              <a:t>ママアカ認定　各資格名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10128"/>
            <a:ext cx="3291840" cy="365760"/>
          </a:xfrm>
          <a:prstGeom prst="rect">
            <a:avLst/>
          </a:prstGeom>
          <a:solidFill>
            <a:srgbClr val="FAF2EE"/>
          </a:solidFill>
          <a:ln w="12700">
            <a:solidFill>
              <a:srgbClr val="E5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55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8880"/>
                </a:solidFill>
              </a:rPr>
              <a:t>正式表記（HP・資料・契約書など）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3558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020"/>
                </a:solidFill>
              </a:rPr>
              <a:t>日本ママアカデミー協会認定　各資格名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7763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2020"/>
                </a:solidFill>
              </a:rPr>
              <a:t>卒業生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15968"/>
            <a:ext cx="10515600" cy="22860"/>
          </a:xfrm>
          <a:prstGeom prst="rect">
            <a:avLst/>
          </a:prstGeom>
          <a:solidFill>
            <a:srgbClr val="E5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572000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0740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講座修了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074920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91032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日本ママアカデミー協会 修了生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2ADA7"/>
                </a:solidFill>
              </a:rPr>
              <a:t>※ルールに沿った表記をお願いします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ライセンス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020"/>
                </a:solidFill>
              </a:rPr>
              <a:t>ライセンスについて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8880"/>
                </a:solidFill>
              </a:rPr>
              <a:t>活動にはライセンス登録が必要です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4640"/>
            <a:ext cx="10515600" cy="420624"/>
          </a:xfrm>
          <a:prstGeom prst="rect">
            <a:avLst/>
          </a:prstGeom>
          <a:solidFill>
            <a:srgbClr val="FA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077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8880"/>
                </a:solidFill>
              </a:rPr>
              <a:t>更新期限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90779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020"/>
                </a:solidFill>
              </a:rPr>
              <a:t>毎年9月末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73552"/>
            <a:ext cx="10515600" cy="420624"/>
          </a:xfrm>
          <a:prstGeom prst="rect">
            <a:avLst/>
          </a:prstGeom>
          <a:solidFill>
            <a:srgbClr val="FD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8880"/>
                </a:solidFill>
              </a:rPr>
              <a:t>年会費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346704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020"/>
                </a:solidFill>
              </a:rPr>
              <a:t>6,000円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12464"/>
            <a:ext cx="10515600" cy="420624"/>
          </a:xfrm>
          <a:prstGeom prst="rect">
            <a:avLst/>
          </a:prstGeom>
          <a:solidFill>
            <a:srgbClr val="FA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8561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8880"/>
                </a:solidFill>
              </a:rPr>
              <a:t>未払い猶予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785616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020"/>
                </a:solidFill>
              </a:rPr>
              <a:t>30日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151376"/>
            <a:ext cx="10515600" cy="420624"/>
          </a:xfrm>
          <a:prstGeom prst="rect">
            <a:avLst/>
          </a:prstGeom>
          <a:solidFill>
            <a:srgbClr val="FD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8880"/>
                </a:solidFill>
              </a:rPr>
              <a:t>猶予後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22452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020"/>
                </a:solidFill>
              </a:rPr>
              <a:t>自動停止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590288"/>
            <a:ext cx="10515600" cy="420624"/>
          </a:xfrm>
          <a:prstGeom prst="rect">
            <a:avLst/>
          </a:prstGeom>
          <a:solidFill>
            <a:srgbClr val="FA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8880"/>
                </a:solidFill>
              </a:rPr>
              <a:t>再開手続き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66344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020"/>
                </a:solidFill>
              </a:rPr>
              <a:t>支払い＋事務手数料（11,000円）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solidFill>
            <a:srgbClr val="FBF5E6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6694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020"/>
                </a:solidFill>
              </a:rPr>
              <a:t>ライセンス停止中は活動・名称使用はできません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会員制度の理由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020"/>
                </a:solidFill>
              </a:rPr>
              <a:t>なぜ会員制度にするのか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8880"/>
                </a:solidFill>
              </a:rPr>
              <a:t>理由は2つです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999232"/>
            <a:ext cx="347472" cy="347472"/>
          </a:xfrm>
          <a:prstGeom prst="rect">
            <a:avLst/>
          </a:prstGeom>
          <a:noFill/>
          <a:ln w="19050">
            <a:solidFill>
              <a:srgbClr val="B88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08376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847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00837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品質を守るため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593592"/>
            <a:ext cx="347472" cy="347472"/>
          </a:xfrm>
          <a:prstGeom prst="rect">
            <a:avLst/>
          </a:prstGeom>
          <a:noFill/>
          <a:ln w="19050">
            <a:solidFill>
              <a:srgbClr val="B88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02736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847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60273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安心して活動できる環境を作るため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会員メリット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020"/>
                </a:solidFill>
              </a:rPr>
              <a:t>会員向けサポートを強化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8880"/>
                </a:solidFill>
              </a:rPr>
              <a:t>今後、会員向けに以下を充実させていきます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3639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実践的な勉強会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集客・売上サポート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4223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7764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活動事例共有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4515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新講座・教材の優先提供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今後の展開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020"/>
                </a:solidFill>
              </a:rPr>
              <a:t>活動機会の拡大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8880"/>
                </a:solidFill>
              </a:rPr>
              <a:t>さらに今後は以下を広げていきます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3639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イベント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プロジェクト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4223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7764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活動機会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今後の予定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2560320" cy="457200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91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D2020"/>
                </a:solidFill>
              </a:rPr>
              <a:t>イベント開催講座（予定）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77063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イベントができるようになる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7355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10896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集客導線までサポート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2ADA7"/>
                </a:solidFill>
              </a:rPr>
              <a:t>※詳細は後日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今後の予定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2560320" cy="457200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91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D2020"/>
                </a:solidFill>
              </a:rPr>
              <a:t>1秒育脳プロジェクト（予定）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77063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実際に活動できる機会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7355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10896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チームでの取り組み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2ADA7"/>
                </a:solidFill>
              </a:rPr>
              <a:t>※詳細は後日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今後の予定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2560320" cy="457200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6月17日（水）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91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D2020"/>
                </a:solidFill>
              </a:rPr>
              <a:t>千葉イベント出店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23160"/>
            <a:ext cx="10515600" cy="502920"/>
          </a:xfrm>
          <a:prstGeom prst="rect">
            <a:avLst/>
          </a:prstGeom>
          <a:solidFill>
            <a:srgbClr val="FAF2EE"/>
          </a:solidFill>
          <a:ln w="12700">
            <a:solidFill>
              <a:srgbClr val="E5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423160"/>
            <a:ext cx="45720" cy="50292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2020"/>
                </a:solidFill>
              </a:rPr>
              <a:t>1秒育脳 × 子育て相談会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1927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5468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実際に活動できる機会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822192"/>
            <a:ext cx="82296" cy="8229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5760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020"/>
                </a:solidFill>
              </a:rPr>
              <a:t>夜：懇親会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2ADA7"/>
                </a:solidFill>
              </a:rPr>
              <a:t>※詳細は後日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今後の予定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3017520" cy="457200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6月18日（木）午前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916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D2020"/>
                </a:solidFill>
              </a:rPr>
              <a:t>楽育ベビーマッサージ体験教室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solidFill>
            <a:srgbClr val="FAF2EE"/>
          </a:solidFill>
          <a:ln w="12700">
            <a:solidFill>
              <a:srgbClr val="E5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468880"/>
            <a:ext cx="45720" cy="10058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8880"/>
                </a:solidFill>
              </a:rPr>
              <a:t>開催場所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60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020"/>
                </a:solidFill>
              </a:rPr>
              <a:t>千葉市内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926080"/>
            <a:ext cx="10515600" cy="22860"/>
          </a:xfrm>
          <a:prstGeom prst="rect">
            <a:avLst/>
          </a:prstGeom>
          <a:solidFill>
            <a:srgbClr val="E5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8880"/>
                </a:solidFill>
              </a:rPr>
              <a:t>募集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017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020"/>
                </a:solidFill>
              </a:rPr>
              <a:t>見学者募集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2ADA7"/>
                </a:solidFill>
              </a:rPr>
              <a:t>※詳細は後日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最後に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8880"/>
                </a:solidFill>
              </a:rPr>
              <a:t>今回の制度変更は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10515600" cy="1737360"/>
          </a:xfrm>
          <a:prstGeom prst="rect">
            <a:avLst/>
          </a:prstGeom>
          <a:solidFill>
            <a:srgbClr val="F9EDE9"/>
          </a:solidFill>
          <a:ln w="25400">
            <a:solidFill>
              <a:srgbClr val="B88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743200"/>
            <a:ext cx="10515600" cy="3657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443984"/>
            <a:ext cx="10515600" cy="36576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D2020"/>
                </a:solidFill>
              </a:rPr>
              <a:t>「制限するため」ではなく
「長く安心して活動できる環境を作るため」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8880"/>
                </a:solidFill>
              </a:rPr>
              <a:t>です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96E"/>
                </a:solidFill>
              </a:rPr>
              <a:t>クロージング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4864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020"/>
                </a:solidFill>
              </a:rPr>
              <a:t>詳細は後日ご案内いたします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423160"/>
            <a:ext cx="576072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9C8880"/>
                </a:solidFill>
              </a:rPr>
              <a:t>本日はまず
方向性をご理解いただければ十分です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794760"/>
            <a:ext cx="576072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